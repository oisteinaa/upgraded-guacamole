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Prepared for executive management. This is a new, less technical presentation, not an update to the previous deck. It uses the supplied purple logo unchanged and a brighter ube palette. Company name remains Ubeconn AS in text; the supplied artwork is not respelled. Current evidence supports a local investigation platform, a completed discovery pilot and supervised training software. It does not establish a field-validated classifier. Weather migration 005 is deployed on the server and local installation and supersedes the older two-location/no-humidity snapshot.</a:t>
            </a:r>
          </a:p>
          <a:p/>
          <a:p>
            <a:r>
              <a:t>Sources: PROJECT UPDATE / 16 SEPTEMBER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docs/map-app.md; docs/masts.md; docs/weather.md; docs/event-ml.md. User clarification: existing event entries were randomly generated demonstration data, not a historical incident archive or candidate training set. They are intended for future deletion; this presentation task does not delete database records. The local application supports investigation and review. The asset import contains 579 masts across four routes and 575 inferred links. Weather collection is deployed. Training code exists; a field-validated classifier still requires confirmed examples and testing.</a:t>
            </a:r>
          </a:p>
          <a:p/>
          <a:p>
            <a:r>
              <a:t>Sources: EVIDENCE / project documentation; detailed sources and status in speaker notes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docs/map-app.md. The application supports asset search, signal inspection, archive replay and classification reviews with evidence notes and history. The prior screenshot was removed because it displayed randomly generated demonstration events. No demonstration event counts are presented as operational evidence. Classifying real recordings requires explicit verified time and location references. This workflow diagram describes capabilities, not a claim of production rollout.</a:t>
            </a:r>
          </a:p>
          <a:p/>
          <a:p>
            <a:r>
              <a:t>Sources: WORKFLOW / based on the implemented local investigation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docs/map-app.md and assets/application-overview.png. Screenshot is an unchanged capture of the local application. Event entries and counts visible in the screen are randomly generated demonstration data, as clarified by the user; they are not real incidents, a training set or performance evidence. The slide illustrates interface capabilities only. The map displays assets and signal layers; the recording browser supports waveform, heatmap, spectrum and playback. The review panel supports a category, reviewer, evidence note and review history when an event is selected. No event is selected in this overview screenshot. The displayed recording is an independent archive example. Screenshot retains the original app branding and colours, and basemap attribution: OpenFreeMap / OpenMapTiles / OpenStreetMap. The supplied Ubeconn logo and pale ube slide palette remain unchanged.</a:t>
            </a:r>
          </a:p>
          <a:p/>
          <a:p>
            <a:r>
              <a:t>Sources: SCREENSHOT / local application; demonstration entries shown for interface illustration only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Migration 005_distributed_weather.sql and the collector were deployed on 16 September 2026. Two original locations remain; fifteen new points use mast coordinates across R06, R12, R13 and R14 at approximately five kilometre spacing. There are now 17 locations × four weather variables. Both installations recorded successful initial captures of 68 rows. Server capture runs hourly at minute 13; local capture is on demand. These are MET/YR modeled forecasts, not direct measurements. Source validity, issue and retrieval timestamps are stored on new rows. Integration with ML requires verified recording times, appropriate location selection and weather available at the time of the event.</a:t>
            </a:r>
          </a:p>
          <a:p/>
          <a:p>
            <a:r>
              <a:t>Sources: EVIDENCE / docs/weather.md · migration 005 applied on server and local installation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src/Capture/event_ml.py and docs/event-ml.md. The supervised baseline is a Random Forest with 300 decision trees and balanced class weights. Training uses signal summaries covering vibration strength, peaks, rhythmic behaviour, variability across channels and changes over the window, plus optional temperature, wind speed/direction and humidity. Missing weather is explicit. The model learns rules from reviewed examples; a new window receives a predicted class, four uncalibrated scores and a low-score review flag. No supervised trained model or measured field accuracy is supplied. The scores must not be presented as a validated confidence percentage. Weather must be aligned before being used. The baseline outputs a single category for each window, not an incident duration or severity.</a:t>
            </a:r>
          </a:p>
          <a:p/>
          <a:p>
            <a:r>
              <a:t>Sources: MODEL STATUS / supervised training software implemented; field accuracy not yet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offline discovery workflow uses clustering (KMeans) and anomaly ranking (Isolation Forest), without verified class labels. The recorded pilot covered roughly 15 minutes across 90 archive files, producing 240 window/block feature rows and six exploratory clusters. These clusters are not the four event classes. No weather join was used in that pilot. Human reviewers must use independent evidence, including inspections, cameras or confirmed incident records, to assign labels. A separate supervised Random Forest can then train on those examples. Related windows from one session/incident must stay in the same evaluation group, with additional unseen sites/seasons/incidents reserved for final assessment. Neither the pilot nor its six clusters demonstrates event-classification accuracy.</a:t>
            </a:r>
          </a:p>
          <a:p/>
          <a:p>
            <a:r>
              <a:t>Sources: EVIDENCE / docs/event-discovery.md · recorded discovery pilot · docs/event-ml.md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docs/event-ml.md; project objectives in AGENTS.md. Exact database class names are Normal Operations, Ice Loading, Wind Galloping and External Interference. Vegetation contact or strikes are examples for the External Interference category, not an independently validated vegetation classifier. Normal examples must include quiet and windy operation. Ice detection may need additional evidence, sensors or features; existing vibration features alone may not distinguish it reliably. The current model chooses one class per window and cannot express simultaneous ice and galloping. Class names do not establish severity, ice mass or loading force.</a:t>
            </a:r>
          </a:p>
          <a:p/>
          <a:p>
            <a:r>
              <a:t>Sources: TARGET CATEGORIES / classification design; detection performance still to be validated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user clarification; docs/event-ml.md; docs/map-app.md. Existing event records are randomly generated demonstration data and are excluded from the classification dataset. The user intends to delete them later; no database deletion is performed in this task. Collect verified real recordings for all four target classes, including varied normal operation. Retain recording/time/location references and independent evidence for every label. Keep related windows from the same incident grouped when evaluating the model. No amount of synthetic demonstration events establishes field performance.</a:t>
            </a:r>
          </a:p>
          <a:p/>
          <a:p>
            <a:r>
              <a:t>Sources: NEXT PHASE / real recordings, expert labels and independent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sequence grounded in docs/event-ml.md, docs/map-app.md and docs/weather.md. 1: select a manageable pilot scope and verify recording time, channel/location mapping, preprocessing and weather availability. 2: field experts label representative examples for all four classes, keeping independent incidents grouped and retaining evidence. 3: train the Random Forest and assess on independent events, measuring per-class precision/recall, false alerts, missed events and practical reviewer workload; confidence scores and thresholds need validation. 4: run class suggestions in a controlled pilot with human review before automating operational escalation. Model output is not yet integrated as a proven production classifier. No budget, schedule, numerical performance or customer commitment is implied. Initial management action: name a field-review owner and agree the pilot scope.</a:t>
            </a:r>
          </a:p>
          <a:p/>
          <a:p>
            <a:r>
              <a:t>Sources: PROPOSED NEXT STEPS / scope, owners and acceptance targets to be agreed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EFFA"/>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UBECONN AS / MANAGEMENT UPDATE</a:t>
            </a:r>
          </a:p>
        </p:txBody>
      </p:sp>
      <p:pic>
        <p:nvPicPr>
          <p:cNvPr id="3" name="Picture 2" descr="ubeconn-supplied-logo.png"/>
          <p:cNvPicPr>
            <a:picLocks noChangeAspect="1"/>
          </p:cNvPicPr>
          <p:nvPr/>
        </p:nvPicPr>
        <p:blipFill>
          <a:blip r:embed="rId2"/>
          <a:stretch>
            <a:fillRect/>
          </a:stretch>
        </p:blipFill>
        <p:spPr>
          <a:xfrm>
            <a:off x="9701784" y="0"/>
            <a:ext cx="2148840" cy="859319"/>
          </a:xfrm>
          <a:prstGeom prst="rect">
            <a:avLst/>
          </a:prstGeom>
        </p:spPr>
      </p:pic>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2E1E43"/>
                </a:solidFill>
                <a:latin typeface="IBM Plex Sans Condensed"/>
              </a:defRPr>
            </a:pPr>
            <a:r>
              <a:t>Moving forward with event classification</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6B5B7D"/>
                </a:solidFill>
                <a:latin typeface="IBM Plex Sans"/>
              </a:defRPr>
            </a:pPr>
            <a:r>
              <a:t>Using machine learning to classify real cable events, with verified examples and expert review.</a:t>
            </a:r>
          </a:p>
        </p:txBody>
      </p:sp>
      <p:cxnSp>
        <p:nvCxnSpPr>
          <p:cNvPr id="6" name="Connector 5"/>
          <p:cNvCxnSpPr/>
          <p:nvPr/>
        </p:nvCxnSpPr>
        <p:spPr>
          <a:xfrm>
            <a:off x="502920" y="1810512"/>
            <a:ext cx="11183112" cy="0"/>
          </a:xfrm>
          <a:prstGeom prst="line">
            <a:avLst/>
          </a:prstGeom>
          <a:ln w="13970">
            <a:solidFill>
              <a:srgbClr val="6D3CA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D7C9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6B5B7D"/>
                </a:solidFill>
                <a:latin typeface="IBM Plex Mono"/>
              </a:defRPr>
            </a:pPr>
            <a:r>
              <a:t>PROJECT UPDATE / 16 SEPTEMBER 2026</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6D3CAE"/>
                </a:solidFill>
                <a:latin typeface="IBM Plex Mono"/>
              </a:defRPr>
            </a:pPr>
            <a:r>
              <a:t>UBE / 01</a:t>
            </a:r>
          </a:p>
        </p:txBody>
      </p:sp>
      <p:pic>
        <p:nvPicPr>
          <p:cNvPr id="10" name="Picture 9" descr="ubeconn-supplied-logo.png"/>
          <p:cNvPicPr>
            <a:picLocks noChangeAspect="1"/>
          </p:cNvPicPr>
          <p:nvPr/>
        </p:nvPicPr>
        <p:blipFill>
          <a:blip r:embed="rId2"/>
          <a:stretch>
            <a:fillRect/>
          </a:stretch>
        </p:blipFill>
        <p:spPr>
          <a:xfrm>
            <a:off x="393192" y="1828800"/>
            <a:ext cx="6693408" cy="2676688"/>
          </a:xfrm>
          <a:prstGeom prst="rect">
            <a:avLst/>
          </a:prstGeom>
        </p:spPr>
      </p:pic>
      <p:sp>
        <p:nvSpPr>
          <p:cNvPr id="11" name="TextBox 10"/>
          <p:cNvSpPr txBox="1"/>
          <p:nvPr/>
        </p:nvSpPr>
        <p:spPr>
          <a:xfrm>
            <a:off x="777240" y="4498848"/>
            <a:ext cx="5998464" cy="497839"/>
          </a:xfrm>
          <a:prstGeom prst="rect">
            <a:avLst/>
          </a:prstGeom>
          <a:noFill/>
        </p:spPr>
        <p:txBody>
          <a:bodyPr wrap="none" lIns="0" rIns="0" tIns="0" bIns="0">
            <a:spAutoFit/>
          </a:bodyPr>
          <a:lstStyle/>
          <a:p>
            <a:pPr>
              <a:lnSpc>
                <a:spcPts val="3415"/>
              </a:lnSpc>
              <a:spcBef>
                <a:spcPts val="0"/>
              </a:spcBef>
              <a:spcAft>
                <a:spcPts val="0"/>
              </a:spcAft>
              <a:defRPr sz="2800" b="1">
                <a:solidFill>
                  <a:srgbClr val="2E1E43"/>
                </a:solidFill>
                <a:latin typeface="IBM Plex Sans Condensed"/>
              </a:defRPr>
            </a:pPr>
            <a:r>
              <a:t>A clearer view of cable behaviour.</a:t>
            </a:r>
          </a:p>
        </p:txBody>
      </p:sp>
      <p:sp>
        <p:nvSpPr>
          <p:cNvPr id="12" name="TextBox 11"/>
          <p:cNvSpPr txBox="1"/>
          <p:nvPr/>
        </p:nvSpPr>
        <p:spPr>
          <a:xfrm>
            <a:off x="795528" y="5074920"/>
            <a:ext cx="5943600" cy="683767"/>
          </a:xfrm>
          <a:prstGeom prst="rect">
            <a:avLst/>
          </a:prstGeom>
          <a:noFill/>
        </p:spPr>
        <p:txBody>
          <a:bodyPr wrap="none" lIns="0" rIns="0" tIns="0" bIns="0">
            <a:spAutoFit/>
          </a:bodyPr>
          <a:lstStyle/>
          <a:p>
            <a:pPr>
              <a:lnSpc>
                <a:spcPts val="2440"/>
              </a:lnSpc>
              <a:spcBef>
                <a:spcPts val="0"/>
              </a:spcBef>
              <a:spcAft>
                <a:spcPts val="0"/>
              </a:spcAft>
              <a:defRPr sz="2000" b="0">
                <a:solidFill>
                  <a:srgbClr val="6B5B7D"/>
                </a:solidFill>
                <a:latin typeface="IBM Plex Sans"/>
              </a:defRPr>
            </a:pPr>
            <a:r>
              <a:t>Better context. Structured review.</a:t>
            </a:r>
          </a:p>
          <a:p>
            <a:pPr>
              <a:lnSpc>
                <a:spcPts val="2440"/>
              </a:lnSpc>
              <a:spcBef>
                <a:spcPts val="0"/>
              </a:spcBef>
              <a:spcAft>
                <a:spcPts val="0"/>
              </a:spcAft>
              <a:defRPr sz="2000" b="0">
                <a:solidFill>
                  <a:srgbClr val="6B5B7D"/>
                </a:solidFill>
                <a:latin typeface="IBM Plex Sans"/>
              </a:defRPr>
            </a:pPr>
            <a:r>
              <a:t>A foundation for learning.</a:t>
            </a:r>
          </a:p>
        </p:txBody>
      </p:sp>
      <p:sp>
        <p:nvSpPr>
          <p:cNvPr id="13" name="Rectangle 12"/>
          <p:cNvSpPr/>
          <p:nvPr/>
        </p:nvSpPr>
        <p:spPr>
          <a:xfrm>
            <a:off x="7351775" y="2103120"/>
            <a:ext cx="4334256" cy="3392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51775" y="2103120"/>
            <a:ext cx="4334256" cy="32004"/>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34655" y="2286000"/>
            <a:ext cx="3968496"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OUR FOCUS</a:t>
            </a:r>
          </a:p>
        </p:txBody>
      </p:sp>
      <p:sp>
        <p:nvSpPr>
          <p:cNvPr id="16" name="TextBox 15"/>
          <p:cNvSpPr txBox="1"/>
          <p:nvPr/>
        </p:nvSpPr>
        <p:spPr>
          <a:xfrm>
            <a:off x="7534655" y="2624327"/>
            <a:ext cx="3968496" cy="962660"/>
          </a:xfrm>
          <a:prstGeom prst="rect">
            <a:avLst/>
          </a:prstGeom>
          <a:noFill/>
        </p:spPr>
        <p:txBody>
          <a:bodyPr wrap="none" lIns="0" rIns="0" tIns="0" bIns="0">
            <a:spAutoFit/>
          </a:bodyPr>
          <a:lstStyle/>
          <a:p>
            <a:pPr>
              <a:lnSpc>
                <a:spcPts val="3538"/>
              </a:lnSpc>
              <a:spcBef>
                <a:spcPts val="0"/>
              </a:spcBef>
              <a:spcAft>
                <a:spcPts val="0"/>
              </a:spcAft>
              <a:defRPr sz="2900" b="1">
                <a:solidFill>
                  <a:srgbClr val="2E1E43"/>
                </a:solidFill>
                <a:latin typeface="IBM Plex Sans Condensed"/>
              </a:defRPr>
            </a:pPr>
            <a:r>
              <a:t>Classify real</a:t>
            </a:r>
          </a:p>
          <a:p>
            <a:pPr>
              <a:lnSpc>
                <a:spcPts val="3538"/>
              </a:lnSpc>
              <a:spcBef>
                <a:spcPts val="0"/>
              </a:spcBef>
              <a:spcAft>
                <a:spcPts val="0"/>
              </a:spcAft>
              <a:defRPr sz="2900" b="1">
                <a:solidFill>
                  <a:srgbClr val="2E1E43"/>
                </a:solidFill>
                <a:latin typeface="IBM Plex Sans Condensed"/>
              </a:defRPr>
            </a:pPr>
            <a:r>
              <a:t>cable events</a:t>
            </a:r>
          </a:p>
        </p:txBody>
      </p:sp>
      <p:sp>
        <p:nvSpPr>
          <p:cNvPr id="17" name="TextBox 16"/>
          <p:cNvSpPr txBox="1"/>
          <p:nvPr/>
        </p:nvSpPr>
        <p:spPr>
          <a:xfrm>
            <a:off x="7534655" y="3687572"/>
            <a:ext cx="3968496" cy="1380998"/>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Bring recordings, weather and expert</a:t>
            </a:r>
          </a:p>
          <a:p>
            <a:pPr>
              <a:lnSpc>
                <a:spcPts val="2074"/>
              </a:lnSpc>
              <a:spcBef>
                <a:spcPts val="0"/>
              </a:spcBef>
              <a:spcAft>
                <a:spcPts val="0"/>
              </a:spcAft>
              <a:defRPr sz="1700" b="0">
                <a:solidFill>
                  <a:srgbClr val="6B5B7D"/>
                </a:solidFill>
                <a:latin typeface="IBM Plex Sans"/>
              </a:defRPr>
            </a:pPr>
            <a:r>
              <a:t>knowledge together.</a:t>
            </a:r>
          </a:p>
          <a:p>
            <a:pPr>
              <a:lnSpc>
                <a:spcPts val="2074"/>
              </a:lnSpc>
              <a:spcBef>
                <a:spcPts val="0"/>
              </a:spcBef>
              <a:spcAft>
                <a:spcPts val="0"/>
              </a:spcAft>
              <a:defRPr sz="1700" b="0">
                <a:solidFill>
                  <a:srgbClr val="6B5B7D"/>
                </a:solidFill>
                <a:latin typeface="IBM Plex Sans"/>
              </a:defRPr>
            </a:pPr>
          </a:p>
          <a:p>
            <a:pPr>
              <a:lnSpc>
                <a:spcPts val="2074"/>
              </a:lnSpc>
              <a:spcBef>
                <a:spcPts val="0"/>
              </a:spcBef>
              <a:spcAft>
                <a:spcPts val="0"/>
              </a:spcAft>
              <a:defRPr sz="1700" b="0">
                <a:solidFill>
                  <a:srgbClr val="6B5B7D"/>
                </a:solidFill>
                <a:latin typeface="IBM Plex Sans"/>
              </a:defRPr>
            </a:pPr>
            <a:r>
              <a:t>Use confirmed examples to teach the</a:t>
            </a:r>
          </a:p>
          <a:p>
            <a:pPr>
              <a:lnSpc>
                <a:spcPts val="2074"/>
              </a:lnSpc>
              <a:spcBef>
                <a:spcPts val="0"/>
              </a:spcBef>
              <a:spcAft>
                <a:spcPts val="0"/>
              </a:spcAft>
              <a:defRPr sz="1700" b="0">
                <a:solidFill>
                  <a:srgbClr val="6B5B7D"/>
                </a:solidFill>
                <a:latin typeface="IBM Plex Sans"/>
              </a:defRPr>
            </a:pPr>
            <a:r>
              <a:t>model and test its suggestions.</a:t>
            </a:r>
          </a:p>
        </p:txBody>
      </p:sp>
      <p:sp>
        <p:nvSpPr>
          <p:cNvPr id="18" name="Rectangle 17"/>
          <p:cNvSpPr/>
          <p:nvPr/>
        </p:nvSpPr>
        <p:spPr>
          <a:xfrm>
            <a:off x="502920" y="5907024"/>
            <a:ext cx="11183112" cy="3566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5907024"/>
            <a:ext cx="32004" cy="356616"/>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6D3CAE"/>
                </a:solidFill>
                <a:latin typeface="IBM Plex Sans"/>
              </a:defRPr>
            </a:pPr>
            <a:r>
              <a:t>The platform is ready for structured investigation. Verified examples are the next priority.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FFA"/>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01 / PLATFORM FOUNDATION</a:t>
            </a:r>
          </a:p>
        </p:txBody>
      </p:sp>
      <p:pic>
        <p:nvPicPr>
          <p:cNvPr id="3" name="Picture 2" descr="ubeconn-supplied-logo.png"/>
          <p:cNvPicPr>
            <a:picLocks noChangeAspect="1"/>
          </p:cNvPicPr>
          <p:nvPr/>
        </p:nvPicPr>
        <p:blipFill>
          <a:blip r:embed="rId2"/>
          <a:stretch>
            <a:fillRect/>
          </a:stretch>
        </p:blipFill>
        <p:spPr>
          <a:xfrm>
            <a:off x="9701784" y="0"/>
            <a:ext cx="2148840" cy="859319"/>
          </a:xfrm>
          <a:prstGeom prst="rect">
            <a:avLst/>
          </a:prstGeom>
        </p:spPr>
      </p:pic>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2E1E43"/>
                </a:solidFill>
                <a:latin typeface="IBM Plex Sans Condensed"/>
              </a:defRPr>
            </a:pPr>
            <a:r>
              <a:t>The building blocks for event classification are in place</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6B5B7D"/>
                </a:solidFill>
                <a:latin typeface="IBM Plex Sans"/>
              </a:defRPr>
            </a:pPr>
            <a:r>
              <a:t>The next phase brings these capabilities together around real recordings and confirmed examples.</a:t>
            </a:r>
          </a:p>
        </p:txBody>
      </p:sp>
      <p:cxnSp>
        <p:nvCxnSpPr>
          <p:cNvPr id="6" name="Connector 5"/>
          <p:cNvCxnSpPr/>
          <p:nvPr/>
        </p:nvCxnSpPr>
        <p:spPr>
          <a:xfrm>
            <a:off x="502920" y="1810512"/>
            <a:ext cx="11183112" cy="0"/>
          </a:xfrm>
          <a:prstGeom prst="line">
            <a:avLst/>
          </a:prstGeom>
          <a:ln w="13970">
            <a:solidFill>
              <a:srgbClr val="6D3CA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D7C9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6B5B7D"/>
                </a:solidFill>
                <a:latin typeface="IBM Plex Mono"/>
              </a:defRPr>
            </a:pPr>
            <a:r>
              <a:t>EVIDENCE / project documentation; detailed sources and status in speaker notes</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6D3CAE"/>
                </a:solidFill>
                <a:latin typeface="IBM Plex Mono"/>
              </a:defRPr>
            </a:pPr>
            <a:r>
              <a:t>UBE / 02</a:t>
            </a:r>
          </a:p>
        </p:txBody>
      </p:sp>
      <p:sp>
        <p:nvSpPr>
          <p:cNvPr id="10" name="TextBox 9"/>
          <p:cNvSpPr txBox="1"/>
          <p:nvPr/>
        </p:nvSpPr>
        <p:spPr>
          <a:xfrm>
            <a:off x="704088" y="2075688"/>
            <a:ext cx="3657600" cy="234442"/>
          </a:xfrm>
          <a:prstGeom prst="rect">
            <a:avLst/>
          </a:prstGeom>
          <a:noFill/>
        </p:spPr>
        <p:txBody>
          <a:bodyPr wrap="none" lIns="0" rIns="0" tIns="0" bIns="0">
            <a:spAutoFit/>
          </a:bodyPr>
          <a:lstStyle/>
          <a:p>
            <a:pPr>
              <a:lnSpc>
                <a:spcPts val="1342"/>
              </a:lnSpc>
              <a:spcBef>
                <a:spcPts val="0"/>
              </a:spcBef>
              <a:spcAft>
                <a:spcPts val="0"/>
              </a:spcAft>
              <a:defRPr sz="1100" b="0">
                <a:solidFill>
                  <a:srgbClr val="6D3CAE"/>
                </a:solidFill>
                <a:latin typeface="IBM Plex Mono"/>
              </a:defRPr>
            </a:pPr>
            <a:r>
              <a:t>CAPABILITY</a:t>
            </a:r>
          </a:p>
        </p:txBody>
      </p:sp>
      <p:sp>
        <p:nvSpPr>
          <p:cNvPr id="11" name="TextBox 10"/>
          <p:cNvSpPr txBox="1"/>
          <p:nvPr/>
        </p:nvSpPr>
        <p:spPr>
          <a:xfrm>
            <a:off x="4855464" y="2075688"/>
            <a:ext cx="6492240" cy="234442"/>
          </a:xfrm>
          <a:prstGeom prst="rect">
            <a:avLst/>
          </a:prstGeom>
          <a:noFill/>
        </p:spPr>
        <p:txBody>
          <a:bodyPr wrap="none" lIns="0" rIns="0" tIns="0" bIns="0">
            <a:spAutoFit/>
          </a:bodyPr>
          <a:lstStyle/>
          <a:p>
            <a:pPr>
              <a:lnSpc>
                <a:spcPts val="1342"/>
              </a:lnSpc>
              <a:spcBef>
                <a:spcPts val="0"/>
              </a:spcBef>
              <a:spcAft>
                <a:spcPts val="0"/>
              </a:spcAft>
              <a:defRPr sz="1100" b="0">
                <a:solidFill>
                  <a:srgbClr val="6D3CAE"/>
                </a:solidFill>
                <a:latin typeface="IBM Plex Mono"/>
              </a:defRPr>
            </a:pPr>
            <a:r>
              <a:t>WHAT IT ENABLES</a:t>
            </a:r>
          </a:p>
        </p:txBody>
      </p:sp>
      <p:sp>
        <p:nvSpPr>
          <p:cNvPr id="12" name="Rectangle 11"/>
          <p:cNvSpPr/>
          <p:nvPr/>
        </p:nvSpPr>
        <p:spPr>
          <a:xfrm>
            <a:off x="502920" y="2496312"/>
            <a:ext cx="11183112"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2596896"/>
            <a:ext cx="3822191" cy="389382"/>
          </a:xfrm>
          <a:prstGeom prst="rect">
            <a:avLst/>
          </a:prstGeom>
          <a:noFill/>
        </p:spPr>
        <p:txBody>
          <a:bodyPr wrap="none" lIns="0" rIns="0" tIns="0" bIns="0">
            <a:spAutoFit/>
          </a:bodyPr>
          <a:lstStyle/>
          <a:p>
            <a:pPr>
              <a:lnSpc>
                <a:spcPts val="2562"/>
              </a:lnSpc>
              <a:spcBef>
                <a:spcPts val="0"/>
              </a:spcBef>
              <a:spcAft>
                <a:spcPts val="0"/>
              </a:spcAft>
              <a:defRPr sz="2100" b="1">
                <a:solidFill>
                  <a:srgbClr val="2E1E43"/>
                </a:solidFill>
                <a:latin typeface="IBM Plex Sans Condensed"/>
              </a:defRPr>
            </a:pPr>
            <a:r>
              <a:t>Unified workspace</a:t>
            </a:r>
          </a:p>
        </p:txBody>
      </p:sp>
      <p:sp>
        <p:nvSpPr>
          <p:cNvPr id="14" name="TextBox 13"/>
          <p:cNvSpPr txBox="1"/>
          <p:nvPr/>
        </p:nvSpPr>
        <p:spPr>
          <a:xfrm>
            <a:off x="4855464" y="2615184"/>
            <a:ext cx="6537960" cy="342900"/>
          </a:xfrm>
          <a:prstGeom prst="rect">
            <a:avLst/>
          </a:prstGeom>
          <a:noFill/>
        </p:spPr>
        <p:txBody>
          <a:bodyPr wrap="none" lIns="0" rIns="0" tIns="0" bIns="0">
            <a:spAutoFit/>
          </a:bodyPr>
          <a:lstStyle/>
          <a:p>
            <a:pPr>
              <a:lnSpc>
                <a:spcPts val="2196"/>
              </a:lnSpc>
              <a:spcBef>
                <a:spcPts val="0"/>
              </a:spcBef>
              <a:spcAft>
                <a:spcPts val="0"/>
              </a:spcAft>
              <a:defRPr sz="1800" b="0">
                <a:solidFill>
                  <a:srgbClr val="6B5B7D"/>
                </a:solidFill>
                <a:latin typeface="IBM Plex Sans"/>
              </a:defRPr>
            </a:pPr>
            <a:r>
              <a:t>Explore recordings and retain expert conclusions</a:t>
            </a:r>
          </a:p>
        </p:txBody>
      </p:sp>
      <p:sp>
        <p:nvSpPr>
          <p:cNvPr id="15" name="TextBox 14"/>
          <p:cNvSpPr txBox="1"/>
          <p:nvPr/>
        </p:nvSpPr>
        <p:spPr>
          <a:xfrm>
            <a:off x="704088" y="3182112"/>
            <a:ext cx="3822191" cy="389382"/>
          </a:xfrm>
          <a:prstGeom prst="rect">
            <a:avLst/>
          </a:prstGeom>
          <a:noFill/>
        </p:spPr>
        <p:txBody>
          <a:bodyPr wrap="none" lIns="0" rIns="0" tIns="0" bIns="0">
            <a:spAutoFit/>
          </a:bodyPr>
          <a:lstStyle/>
          <a:p>
            <a:pPr>
              <a:lnSpc>
                <a:spcPts val="2562"/>
              </a:lnSpc>
              <a:spcBef>
                <a:spcPts val="0"/>
              </a:spcBef>
              <a:spcAft>
                <a:spcPts val="0"/>
              </a:spcAft>
              <a:defRPr sz="2100" b="1">
                <a:solidFill>
                  <a:srgbClr val="2E1E43"/>
                </a:solidFill>
                <a:latin typeface="IBM Plex Sans Condensed"/>
              </a:defRPr>
            </a:pPr>
            <a:r>
              <a:t>Mapped assets</a:t>
            </a:r>
          </a:p>
        </p:txBody>
      </p:sp>
      <p:sp>
        <p:nvSpPr>
          <p:cNvPr id="16" name="TextBox 15"/>
          <p:cNvSpPr txBox="1"/>
          <p:nvPr/>
        </p:nvSpPr>
        <p:spPr>
          <a:xfrm>
            <a:off x="4855464" y="3200400"/>
            <a:ext cx="6537960" cy="342900"/>
          </a:xfrm>
          <a:prstGeom prst="rect">
            <a:avLst/>
          </a:prstGeom>
          <a:noFill/>
        </p:spPr>
        <p:txBody>
          <a:bodyPr wrap="none" lIns="0" rIns="0" tIns="0" bIns="0">
            <a:spAutoFit/>
          </a:bodyPr>
          <a:lstStyle/>
          <a:p>
            <a:pPr>
              <a:lnSpc>
                <a:spcPts val="2196"/>
              </a:lnSpc>
              <a:spcBef>
                <a:spcPts val="0"/>
              </a:spcBef>
              <a:spcAft>
                <a:spcPts val="0"/>
              </a:spcAft>
              <a:defRPr sz="1800" b="0">
                <a:solidFill>
                  <a:srgbClr val="6B5B7D"/>
                </a:solidFill>
                <a:latin typeface="IBM Plex Sans"/>
              </a:defRPr>
            </a:pPr>
            <a:r>
              <a:t>Investigate cable behaviour across four routes</a:t>
            </a:r>
          </a:p>
        </p:txBody>
      </p:sp>
      <p:sp>
        <p:nvSpPr>
          <p:cNvPr id="17" name="Rectangle 16"/>
          <p:cNvSpPr/>
          <p:nvPr/>
        </p:nvSpPr>
        <p:spPr>
          <a:xfrm>
            <a:off x="502920" y="3666744"/>
            <a:ext cx="11183112"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3767328"/>
            <a:ext cx="3822191" cy="389382"/>
          </a:xfrm>
          <a:prstGeom prst="rect">
            <a:avLst/>
          </a:prstGeom>
          <a:noFill/>
        </p:spPr>
        <p:txBody>
          <a:bodyPr wrap="none" lIns="0" rIns="0" tIns="0" bIns="0">
            <a:spAutoFit/>
          </a:bodyPr>
          <a:lstStyle/>
          <a:p>
            <a:pPr>
              <a:lnSpc>
                <a:spcPts val="2562"/>
              </a:lnSpc>
              <a:spcBef>
                <a:spcPts val="0"/>
              </a:spcBef>
              <a:spcAft>
                <a:spcPts val="0"/>
              </a:spcAft>
              <a:defRPr sz="2100" b="1">
                <a:solidFill>
                  <a:srgbClr val="2E1E43"/>
                </a:solidFill>
                <a:latin typeface="IBM Plex Sans Condensed"/>
              </a:defRPr>
            </a:pPr>
            <a:r>
              <a:t>17 weather locations</a:t>
            </a:r>
          </a:p>
        </p:txBody>
      </p:sp>
      <p:sp>
        <p:nvSpPr>
          <p:cNvPr id="19" name="TextBox 18"/>
          <p:cNvSpPr txBox="1"/>
          <p:nvPr/>
        </p:nvSpPr>
        <p:spPr>
          <a:xfrm>
            <a:off x="4855464" y="3785615"/>
            <a:ext cx="6537960" cy="342900"/>
          </a:xfrm>
          <a:prstGeom prst="rect">
            <a:avLst/>
          </a:prstGeom>
          <a:noFill/>
        </p:spPr>
        <p:txBody>
          <a:bodyPr wrap="none" lIns="0" rIns="0" tIns="0" bIns="0">
            <a:spAutoFit/>
          </a:bodyPr>
          <a:lstStyle/>
          <a:p>
            <a:pPr>
              <a:lnSpc>
                <a:spcPts val="2196"/>
              </a:lnSpc>
              <a:spcBef>
                <a:spcPts val="0"/>
              </a:spcBef>
              <a:spcAft>
                <a:spcPts val="0"/>
              </a:spcAft>
              <a:defRPr sz="1800" b="0">
                <a:solidFill>
                  <a:srgbClr val="6B5B7D"/>
                </a:solidFill>
                <a:latin typeface="IBM Plex Sans"/>
              </a:defRPr>
            </a:pPr>
            <a:r>
              <a:t>Add temperature, wind and humidity context</a:t>
            </a:r>
          </a:p>
        </p:txBody>
      </p:sp>
      <p:sp>
        <p:nvSpPr>
          <p:cNvPr id="20" name="TextBox 19"/>
          <p:cNvSpPr txBox="1"/>
          <p:nvPr/>
        </p:nvSpPr>
        <p:spPr>
          <a:xfrm>
            <a:off x="704088" y="4352544"/>
            <a:ext cx="3822191" cy="389382"/>
          </a:xfrm>
          <a:prstGeom prst="rect">
            <a:avLst/>
          </a:prstGeom>
          <a:noFill/>
        </p:spPr>
        <p:txBody>
          <a:bodyPr wrap="none" lIns="0" rIns="0" tIns="0" bIns="0">
            <a:spAutoFit/>
          </a:bodyPr>
          <a:lstStyle/>
          <a:p>
            <a:pPr>
              <a:lnSpc>
                <a:spcPts val="2562"/>
              </a:lnSpc>
              <a:spcBef>
                <a:spcPts val="0"/>
              </a:spcBef>
              <a:spcAft>
                <a:spcPts val="0"/>
              </a:spcAft>
              <a:defRPr sz="2100" b="1">
                <a:solidFill>
                  <a:srgbClr val="2E1E43"/>
                </a:solidFill>
                <a:latin typeface="IBM Plex Sans Condensed"/>
              </a:defRPr>
            </a:pPr>
            <a:r>
              <a:t>Discovery workflow</a:t>
            </a:r>
          </a:p>
        </p:txBody>
      </p:sp>
      <p:sp>
        <p:nvSpPr>
          <p:cNvPr id="21" name="TextBox 20"/>
          <p:cNvSpPr txBox="1"/>
          <p:nvPr/>
        </p:nvSpPr>
        <p:spPr>
          <a:xfrm>
            <a:off x="4855464" y="4370831"/>
            <a:ext cx="6537960" cy="342900"/>
          </a:xfrm>
          <a:prstGeom prst="rect">
            <a:avLst/>
          </a:prstGeom>
          <a:noFill/>
        </p:spPr>
        <p:txBody>
          <a:bodyPr wrap="none" lIns="0" rIns="0" tIns="0" bIns="0">
            <a:spAutoFit/>
          </a:bodyPr>
          <a:lstStyle/>
          <a:p>
            <a:pPr>
              <a:lnSpc>
                <a:spcPts val="2196"/>
              </a:lnSpc>
              <a:spcBef>
                <a:spcPts val="0"/>
              </a:spcBef>
              <a:spcAft>
                <a:spcPts val="0"/>
              </a:spcAft>
              <a:defRPr sz="1800" b="0">
                <a:solidFill>
                  <a:srgbClr val="6B5B7D"/>
                </a:solidFill>
                <a:latin typeface="IBM Plex Sans"/>
              </a:defRPr>
            </a:pPr>
            <a:r>
              <a:t>Find useful examples for expert review</a:t>
            </a:r>
          </a:p>
        </p:txBody>
      </p:sp>
      <p:sp>
        <p:nvSpPr>
          <p:cNvPr id="22" name="Rectangle 21"/>
          <p:cNvSpPr/>
          <p:nvPr/>
        </p:nvSpPr>
        <p:spPr>
          <a:xfrm>
            <a:off x="502920" y="4837176"/>
            <a:ext cx="11183112"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4937760"/>
            <a:ext cx="3822191" cy="389382"/>
          </a:xfrm>
          <a:prstGeom prst="rect">
            <a:avLst/>
          </a:prstGeom>
          <a:noFill/>
        </p:spPr>
        <p:txBody>
          <a:bodyPr wrap="none" lIns="0" rIns="0" tIns="0" bIns="0">
            <a:spAutoFit/>
          </a:bodyPr>
          <a:lstStyle/>
          <a:p>
            <a:pPr>
              <a:lnSpc>
                <a:spcPts val="2562"/>
              </a:lnSpc>
              <a:spcBef>
                <a:spcPts val="0"/>
              </a:spcBef>
              <a:spcAft>
                <a:spcPts val="0"/>
              </a:spcAft>
              <a:defRPr sz="2100" b="1">
                <a:solidFill>
                  <a:srgbClr val="2E1E43"/>
                </a:solidFill>
                <a:latin typeface="IBM Plex Sans Condensed"/>
              </a:defRPr>
            </a:pPr>
            <a:r>
              <a:t>Machine learning</a:t>
            </a:r>
          </a:p>
        </p:txBody>
      </p:sp>
      <p:sp>
        <p:nvSpPr>
          <p:cNvPr id="24" name="TextBox 23"/>
          <p:cNvSpPr txBox="1"/>
          <p:nvPr/>
        </p:nvSpPr>
        <p:spPr>
          <a:xfrm>
            <a:off x="4855464" y="4956048"/>
            <a:ext cx="6537960" cy="342900"/>
          </a:xfrm>
          <a:prstGeom prst="rect">
            <a:avLst/>
          </a:prstGeom>
          <a:noFill/>
        </p:spPr>
        <p:txBody>
          <a:bodyPr wrap="none" lIns="0" rIns="0" tIns="0" bIns="0">
            <a:spAutoFit/>
          </a:bodyPr>
          <a:lstStyle/>
          <a:p>
            <a:pPr>
              <a:lnSpc>
                <a:spcPts val="2196"/>
              </a:lnSpc>
              <a:spcBef>
                <a:spcPts val="0"/>
              </a:spcBef>
              <a:spcAft>
                <a:spcPts val="0"/>
              </a:spcAft>
              <a:defRPr sz="1800" b="0">
                <a:solidFill>
                  <a:srgbClr val="6B5B7D"/>
                </a:solidFill>
                <a:latin typeface="IBM Plex Sans"/>
              </a:defRPr>
            </a:pPr>
            <a:r>
              <a:t>Random Forest classification trained on verified examples</a:t>
            </a:r>
          </a:p>
        </p:txBody>
      </p:sp>
      <p:sp>
        <p:nvSpPr>
          <p:cNvPr id="25" name="Rectangle 24"/>
          <p:cNvSpPr/>
          <p:nvPr/>
        </p:nvSpPr>
        <p:spPr>
          <a:xfrm>
            <a:off x="502920" y="5907024"/>
            <a:ext cx="11183112" cy="3566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5907024"/>
            <a:ext cx="32004" cy="356616"/>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6D3CAE"/>
                </a:solidFill>
                <a:latin typeface="IBM Plex Sans"/>
              </a:defRPr>
            </a:pPr>
            <a:r>
              <a:t>Our focus is to turn real recordings and expert knowledge into dependable event classifications.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FFA"/>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02 / THE OPERATOR EXPERIENCE</a:t>
            </a:r>
          </a:p>
        </p:txBody>
      </p:sp>
      <p:pic>
        <p:nvPicPr>
          <p:cNvPr id="3" name="Picture 2" descr="ubeconn-supplied-logo.png"/>
          <p:cNvPicPr>
            <a:picLocks noChangeAspect="1"/>
          </p:cNvPicPr>
          <p:nvPr/>
        </p:nvPicPr>
        <p:blipFill>
          <a:blip r:embed="rId2"/>
          <a:stretch>
            <a:fillRect/>
          </a:stretch>
        </p:blipFill>
        <p:spPr>
          <a:xfrm>
            <a:off x="9701784" y="0"/>
            <a:ext cx="2148840" cy="859319"/>
          </a:xfrm>
          <a:prstGeom prst="rect">
            <a:avLst/>
          </a:prstGeom>
        </p:spPr>
      </p:pic>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2E1E43"/>
                </a:solidFill>
                <a:latin typeface="IBM Plex Sans Condensed"/>
              </a:defRPr>
            </a:pPr>
            <a:r>
              <a:t>A clear workflow for reviewing real recordings</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6B5B7D"/>
                </a:solidFill>
                <a:latin typeface="IBM Plex Sans"/>
              </a:defRPr>
            </a:pPr>
            <a:r>
              <a:t>The local workspace supports investigation, expert review and a lasting record of the evidence.</a:t>
            </a:r>
          </a:p>
        </p:txBody>
      </p:sp>
      <p:cxnSp>
        <p:nvCxnSpPr>
          <p:cNvPr id="6" name="Connector 5"/>
          <p:cNvCxnSpPr/>
          <p:nvPr/>
        </p:nvCxnSpPr>
        <p:spPr>
          <a:xfrm>
            <a:off x="502920" y="1810512"/>
            <a:ext cx="11183112" cy="0"/>
          </a:xfrm>
          <a:prstGeom prst="line">
            <a:avLst/>
          </a:prstGeom>
          <a:ln w="13970">
            <a:solidFill>
              <a:srgbClr val="6D3CA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D7C9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6B5B7D"/>
                </a:solidFill>
                <a:latin typeface="IBM Plex Mono"/>
              </a:defRPr>
            </a:pPr>
            <a:r>
              <a:t>WORKFLOW / based on the implemented local investigation application</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6D3CAE"/>
                </a:solidFill>
                <a:latin typeface="IBM Plex Mono"/>
              </a:defRPr>
            </a:pPr>
            <a:r>
              <a:t>UBE / 03</a:t>
            </a:r>
          </a:p>
        </p:txBody>
      </p:sp>
      <p:sp>
        <p:nvSpPr>
          <p:cNvPr id="10" name="Rectangle 9"/>
          <p:cNvSpPr/>
          <p:nvPr/>
        </p:nvSpPr>
        <p:spPr>
          <a:xfrm>
            <a:off x="502920" y="2103120"/>
            <a:ext cx="3602736" cy="2944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103120"/>
            <a:ext cx="3602736" cy="32004"/>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86000"/>
            <a:ext cx="3236976"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01 / EXPLORE</a:t>
            </a:r>
          </a:p>
        </p:txBody>
      </p:sp>
      <p:sp>
        <p:nvSpPr>
          <p:cNvPr id="13" name="TextBox 12"/>
          <p:cNvSpPr txBox="1"/>
          <p:nvPr/>
        </p:nvSpPr>
        <p:spPr>
          <a:xfrm>
            <a:off x="685800" y="2624327"/>
            <a:ext cx="3236976" cy="900683"/>
          </a:xfrm>
          <a:prstGeom prst="rect">
            <a:avLst/>
          </a:prstGeom>
          <a:noFill/>
        </p:spPr>
        <p:txBody>
          <a:bodyPr wrap="none" lIns="0" rIns="0" tIns="0" bIns="0">
            <a:spAutoFit/>
          </a:bodyPr>
          <a:lstStyle/>
          <a:p>
            <a:pPr>
              <a:lnSpc>
                <a:spcPts val="3294"/>
              </a:lnSpc>
              <a:spcBef>
                <a:spcPts val="0"/>
              </a:spcBef>
              <a:spcAft>
                <a:spcPts val="0"/>
              </a:spcAft>
              <a:defRPr sz="2700" b="1">
                <a:solidFill>
                  <a:srgbClr val="2E1E43"/>
                </a:solidFill>
                <a:latin typeface="IBM Plex Sans Condensed"/>
              </a:defRPr>
            </a:pPr>
            <a:r>
              <a:t>Choose a real</a:t>
            </a:r>
          </a:p>
          <a:p>
            <a:pPr>
              <a:lnSpc>
                <a:spcPts val="3294"/>
              </a:lnSpc>
              <a:spcBef>
                <a:spcPts val="0"/>
              </a:spcBef>
              <a:spcAft>
                <a:spcPts val="0"/>
              </a:spcAft>
              <a:defRPr sz="2700" b="1">
                <a:solidFill>
                  <a:srgbClr val="2E1E43"/>
                </a:solidFill>
                <a:latin typeface="IBM Plex Sans Condensed"/>
              </a:defRPr>
            </a:pPr>
            <a:r>
              <a:t>recording</a:t>
            </a:r>
          </a:p>
        </p:txBody>
      </p:sp>
      <p:sp>
        <p:nvSpPr>
          <p:cNvPr id="14" name="TextBox 13"/>
          <p:cNvSpPr txBox="1"/>
          <p:nvPr/>
        </p:nvSpPr>
        <p:spPr>
          <a:xfrm>
            <a:off x="685800" y="3625596"/>
            <a:ext cx="3236976"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Find the relevant asset and</a:t>
            </a:r>
          </a:p>
          <a:p>
            <a:pPr>
              <a:lnSpc>
                <a:spcPts val="2074"/>
              </a:lnSpc>
              <a:spcBef>
                <a:spcPts val="0"/>
              </a:spcBef>
              <a:spcAft>
                <a:spcPts val="0"/>
              </a:spcAft>
              <a:defRPr sz="1700" b="0">
                <a:solidFill>
                  <a:srgbClr val="6B5B7D"/>
                </a:solidFill>
                <a:latin typeface="IBM Plex Sans"/>
              </a:defRPr>
            </a:pPr>
            <a:r>
              <a:t>inspect the recorded cable</a:t>
            </a:r>
          </a:p>
          <a:p>
            <a:pPr>
              <a:lnSpc>
                <a:spcPts val="2074"/>
              </a:lnSpc>
              <a:spcBef>
                <a:spcPts val="0"/>
              </a:spcBef>
              <a:spcAft>
                <a:spcPts val="0"/>
              </a:spcAft>
              <a:defRPr sz="1700" b="0">
                <a:solidFill>
                  <a:srgbClr val="6B5B7D"/>
                </a:solidFill>
                <a:latin typeface="IBM Plex Sans"/>
              </a:defRPr>
            </a:pPr>
            <a:r>
              <a:t>behaviour.</a:t>
            </a:r>
          </a:p>
        </p:txBody>
      </p:sp>
      <p:sp>
        <p:nvSpPr>
          <p:cNvPr id="15" name="Rectangle 14"/>
          <p:cNvSpPr/>
          <p:nvPr/>
        </p:nvSpPr>
        <p:spPr>
          <a:xfrm>
            <a:off x="4288536" y="2103120"/>
            <a:ext cx="3602736" cy="2944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88536" y="2103120"/>
            <a:ext cx="3602736" cy="32004"/>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1416" y="2286000"/>
            <a:ext cx="3236976"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02 / UNDERSTAND</a:t>
            </a:r>
          </a:p>
        </p:txBody>
      </p:sp>
      <p:sp>
        <p:nvSpPr>
          <p:cNvPr id="18" name="TextBox 17"/>
          <p:cNvSpPr txBox="1"/>
          <p:nvPr/>
        </p:nvSpPr>
        <p:spPr>
          <a:xfrm>
            <a:off x="4471416" y="2624327"/>
            <a:ext cx="3236976" cy="900683"/>
          </a:xfrm>
          <a:prstGeom prst="rect">
            <a:avLst/>
          </a:prstGeom>
          <a:noFill/>
        </p:spPr>
        <p:txBody>
          <a:bodyPr wrap="none" lIns="0" rIns="0" tIns="0" bIns="0">
            <a:spAutoFit/>
          </a:bodyPr>
          <a:lstStyle/>
          <a:p>
            <a:pPr>
              <a:lnSpc>
                <a:spcPts val="3294"/>
              </a:lnSpc>
              <a:spcBef>
                <a:spcPts val="0"/>
              </a:spcBef>
              <a:spcAft>
                <a:spcPts val="0"/>
              </a:spcAft>
              <a:defRPr sz="2700" b="1">
                <a:solidFill>
                  <a:srgbClr val="2E1E43"/>
                </a:solidFill>
                <a:latin typeface="IBM Plex Sans Condensed"/>
              </a:defRPr>
            </a:pPr>
            <a:r>
              <a:t>Bring the evidence</a:t>
            </a:r>
          </a:p>
          <a:p>
            <a:pPr>
              <a:lnSpc>
                <a:spcPts val="3294"/>
              </a:lnSpc>
              <a:spcBef>
                <a:spcPts val="0"/>
              </a:spcBef>
              <a:spcAft>
                <a:spcPts val="0"/>
              </a:spcAft>
              <a:defRPr sz="2700" b="1">
                <a:solidFill>
                  <a:srgbClr val="2E1E43"/>
                </a:solidFill>
                <a:latin typeface="IBM Plex Sans Condensed"/>
              </a:defRPr>
            </a:pPr>
            <a:r>
              <a:t>together</a:t>
            </a:r>
          </a:p>
        </p:txBody>
      </p:sp>
      <p:sp>
        <p:nvSpPr>
          <p:cNvPr id="19" name="TextBox 18"/>
          <p:cNvSpPr txBox="1"/>
          <p:nvPr/>
        </p:nvSpPr>
        <p:spPr>
          <a:xfrm>
            <a:off x="4471416" y="3625596"/>
            <a:ext cx="3236976"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Compare signal patterns with</a:t>
            </a:r>
          </a:p>
          <a:p>
            <a:pPr>
              <a:lnSpc>
                <a:spcPts val="2074"/>
              </a:lnSpc>
              <a:spcBef>
                <a:spcPts val="0"/>
              </a:spcBef>
              <a:spcAft>
                <a:spcPts val="0"/>
              </a:spcAft>
              <a:defRPr sz="1700" b="0">
                <a:solidFill>
                  <a:srgbClr val="6B5B7D"/>
                </a:solidFill>
                <a:latin typeface="IBM Plex Sans"/>
              </a:defRPr>
            </a:pPr>
            <a:r>
              <a:t>weather, inspections and</a:t>
            </a:r>
          </a:p>
          <a:p>
            <a:pPr>
              <a:lnSpc>
                <a:spcPts val="2074"/>
              </a:lnSpc>
              <a:spcBef>
                <a:spcPts val="0"/>
              </a:spcBef>
              <a:spcAft>
                <a:spcPts val="0"/>
              </a:spcAft>
              <a:defRPr sz="1700" b="0">
                <a:solidFill>
                  <a:srgbClr val="6B5B7D"/>
                </a:solidFill>
                <a:latin typeface="IBM Plex Sans"/>
              </a:defRPr>
            </a:pPr>
            <a:r>
              <a:t>confirmed observations.</a:t>
            </a:r>
          </a:p>
        </p:txBody>
      </p:sp>
      <p:sp>
        <p:nvSpPr>
          <p:cNvPr id="20" name="Rectangle 19"/>
          <p:cNvSpPr/>
          <p:nvPr/>
        </p:nvSpPr>
        <p:spPr>
          <a:xfrm>
            <a:off x="8074152" y="2103120"/>
            <a:ext cx="3611880" cy="2944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74152" y="2103120"/>
            <a:ext cx="3611880" cy="32004"/>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2286000"/>
            <a:ext cx="324612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03 / RECORD</a:t>
            </a:r>
          </a:p>
        </p:txBody>
      </p:sp>
      <p:sp>
        <p:nvSpPr>
          <p:cNvPr id="23" name="TextBox 22"/>
          <p:cNvSpPr txBox="1"/>
          <p:nvPr/>
        </p:nvSpPr>
        <p:spPr>
          <a:xfrm>
            <a:off x="8257031" y="2624327"/>
            <a:ext cx="3246120" cy="900683"/>
          </a:xfrm>
          <a:prstGeom prst="rect">
            <a:avLst/>
          </a:prstGeom>
          <a:noFill/>
        </p:spPr>
        <p:txBody>
          <a:bodyPr wrap="none" lIns="0" rIns="0" tIns="0" bIns="0">
            <a:spAutoFit/>
          </a:bodyPr>
          <a:lstStyle/>
          <a:p>
            <a:pPr>
              <a:lnSpc>
                <a:spcPts val="3294"/>
              </a:lnSpc>
              <a:spcBef>
                <a:spcPts val="0"/>
              </a:spcBef>
              <a:spcAft>
                <a:spcPts val="0"/>
              </a:spcAft>
              <a:defRPr sz="2700" b="1">
                <a:solidFill>
                  <a:srgbClr val="2E1E43"/>
                </a:solidFill>
                <a:latin typeface="IBM Plex Sans Condensed"/>
              </a:defRPr>
            </a:pPr>
            <a:r>
              <a:t>Save the reviewed</a:t>
            </a:r>
          </a:p>
          <a:p>
            <a:pPr>
              <a:lnSpc>
                <a:spcPts val="3294"/>
              </a:lnSpc>
              <a:spcBef>
                <a:spcPts val="0"/>
              </a:spcBef>
              <a:spcAft>
                <a:spcPts val="0"/>
              </a:spcAft>
              <a:defRPr sz="2700" b="1">
                <a:solidFill>
                  <a:srgbClr val="2E1E43"/>
                </a:solidFill>
                <a:latin typeface="IBM Plex Sans Condensed"/>
              </a:defRPr>
            </a:pPr>
            <a:r>
              <a:t>category</a:t>
            </a:r>
          </a:p>
        </p:txBody>
      </p:sp>
      <p:sp>
        <p:nvSpPr>
          <p:cNvPr id="24" name="TextBox 23"/>
          <p:cNvSpPr txBox="1"/>
          <p:nvPr/>
        </p:nvSpPr>
        <p:spPr>
          <a:xfrm>
            <a:off x="8257031" y="3625596"/>
            <a:ext cx="3246120"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Keep the conclusion, reviewer</a:t>
            </a:r>
          </a:p>
          <a:p>
            <a:pPr>
              <a:lnSpc>
                <a:spcPts val="2074"/>
              </a:lnSpc>
              <a:spcBef>
                <a:spcPts val="0"/>
              </a:spcBef>
              <a:spcAft>
                <a:spcPts val="0"/>
              </a:spcAft>
              <a:defRPr sz="1700" b="0">
                <a:solidFill>
                  <a:srgbClr val="6B5B7D"/>
                </a:solidFill>
                <a:latin typeface="IBM Plex Sans"/>
              </a:defRPr>
            </a:pPr>
            <a:r>
              <a:t>and supporting evidence for</a:t>
            </a:r>
          </a:p>
          <a:p>
            <a:pPr>
              <a:lnSpc>
                <a:spcPts val="2074"/>
              </a:lnSpc>
              <a:spcBef>
                <a:spcPts val="0"/>
              </a:spcBef>
              <a:spcAft>
                <a:spcPts val="0"/>
              </a:spcAft>
              <a:defRPr sz="1700" b="0">
                <a:solidFill>
                  <a:srgbClr val="6B5B7D"/>
                </a:solidFill>
                <a:latin typeface="IBM Plex Sans"/>
              </a:defRPr>
            </a:pPr>
            <a:r>
              <a:t>learning and follow-up.</a:t>
            </a:r>
          </a:p>
        </p:txBody>
      </p:sp>
      <p:sp>
        <p:nvSpPr>
          <p:cNvPr id="25" name="TextBox 24"/>
          <p:cNvSpPr txBox="1"/>
          <p:nvPr/>
        </p:nvSpPr>
        <p:spPr>
          <a:xfrm>
            <a:off x="713232" y="5422392"/>
            <a:ext cx="10789920" cy="311912"/>
          </a:xfrm>
          <a:prstGeom prst="rect">
            <a:avLst/>
          </a:prstGeom>
          <a:noFill/>
        </p:spPr>
        <p:txBody>
          <a:bodyPr wrap="none" lIns="0" rIns="0" tIns="0" bIns="0">
            <a:spAutoFit/>
          </a:bodyPr>
          <a:lstStyle/>
          <a:p>
            <a:pPr>
              <a:lnSpc>
                <a:spcPts val="1952"/>
              </a:lnSpc>
              <a:spcBef>
                <a:spcPts val="0"/>
              </a:spcBef>
              <a:spcAft>
                <a:spcPts val="0"/>
              </a:spcAft>
              <a:defRPr sz="1600" b="0">
                <a:solidFill>
                  <a:srgbClr val="6D3CAE"/>
                </a:solidFill>
                <a:latin typeface="IBM Plex Mono"/>
              </a:defRPr>
            </a:pPr>
            <a:r>
              <a:t>RECORDING + CONTEXT + EXPERT REVIEW</a:t>
            </a:r>
          </a:p>
        </p:txBody>
      </p:sp>
      <p:sp>
        <p:nvSpPr>
          <p:cNvPr id="26" name="Rectangle 25"/>
          <p:cNvSpPr/>
          <p:nvPr/>
        </p:nvSpPr>
        <p:spPr>
          <a:xfrm>
            <a:off x="502920" y="5907024"/>
            <a:ext cx="11183112" cy="3566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5907024"/>
            <a:ext cx="32004" cy="356616"/>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6D3CAE"/>
                </a:solidFill>
                <a:latin typeface="IBM Plex Sans"/>
              </a:defRPr>
            </a:pPr>
            <a:r>
              <a:t>Every training example should connect a real recording to an evidence-backed label.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EFFA"/>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03 / THE NEW USER INTERFACE</a:t>
            </a:r>
          </a:p>
        </p:txBody>
      </p:sp>
      <p:pic>
        <p:nvPicPr>
          <p:cNvPr id="3" name="Picture 2" descr="ubeconn-supplied-logo.png"/>
          <p:cNvPicPr>
            <a:picLocks noChangeAspect="1"/>
          </p:cNvPicPr>
          <p:nvPr/>
        </p:nvPicPr>
        <p:blipFill>
          <a:blip r:embed="rId2"/>
          <a:stretch>
            <a:fillRect/>
          </a:stretch>
        </p:blipFill>
        <p:spPr>
          <a:xfrm>
            <a:off x="9701784" y="0"/>
            <a:ext cx="2148840" cy="859319"/>
          </a:xfrm>
          <a:prstGeom prst="rect">
            <a:avLst/>
          </a:prstGeom>
        </p:spPr>
      </p:pic>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2E1E43"/>
                </a:solidFill>
                <a:latin typeface="IBM Plex Sans Condensed"/>
              </a:defRPr>
            </a:pPr>
            <a:r>
              <a:t>The new UI brings map, signals and review together</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6B5B7D"/>
                </a:solidFill>
                <a:latin typeface="IBM Plex Sans"/>
              </a:defRPr>
            </a:pPr>
            <a:r>
              <a:t>A single workspace helps reviewers move from cable behaviour to a documented conclusion.</a:t>
            </a:r>
          </a:p>
        </p:txBody>
      </p:sp>
      <p:cxnSp>
        <p:nvCxnSpPr>
          <p:cNvPr id="6" name="Connector 5"/>
          <p:cNvCxnSpPr/>
          <p:nvPr/>
        </p:nvCxnSpPr>
        <p:spPr>
          <a:xfrm>
            <a:off x="502920" y="1810512"/>
            <a:ext cx="11183112" cy="0"/>
          </a:xfrm>
          <a:prstGeom prst="line">
            <a:avLst/>
          </a:prstGeom>
          <a:ln w="13970">
            <a:solidFill>
              <a:srgbClr val="6D3CA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D7C9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6B5B7D"/>
                </a:solidFill>
                <a:latin typeface="IBM Plex Mono"/>
              </a:defRPr>
            </a:pPr>
            <a:r>
              <a:t>SCREENSHOT / local application; demonstration entries shown for interface illustration only</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6D3CAE"/>
                </a:solidFill>
                <a:latin typeface="IBM Plex Mono"/>
              </a:defRPr>
            </a:pPr>
            <a:r>
              <a:t>UBE / 04</a:t>
            </a:r>
          </a:p>
        </p:txBody>
      </p:sp>
      <p:pic>
        <p:nvPicPr>
          <p:cNvPr id="10" name="Picture 9" descr="application-overview.png"/>
          <p:cNvPicPr>
            <a:picLocks noChangeAspect="1"/>
          </p:cNvPicPr>
          <p:nvPr/>
        </p:nvPicPr>
        <p:blipFill>
          <a:blip r:embed="rId3"/>
          <a:stretch>
            <a:fillRect/>
          </a:stretch>
        </p:blipFill>
        <p:spPr>
          <a:xfrm>
            <a:off x="530352" y="1965960"/>
            <a:ext cx="4570016" cy="4114800"/>
          </a:xfrm>
          <a:prstGeom prst="rect">
            <a:avLst/>
          </a:prstGeom>
        </p:spPr>
      </p:pic>
      <p:sp>
        <p:nvSpPr>
          <p:cNvPr id="11" name="Rectangle 10"/>
          <p:cNvSpPr/>
          <p:nvPr/>
        </p:nvSpPr>
        <p:spPr>
          <a:xfrm>
            <a:off x="5385816" y="2057400"/>
            <a:ext cx="6300216" cy="10607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86984" y="2176272"/>
            <a:ext cx="5897880" cy="435864"/>
          </a:xfrm>
          <a:prstGeom prst="rect">
            <a:avLst/>
          </a:prstGeom>
          <a:noFill/>
        </p:spPr>
        <p:txBody>
          <a:bodyPr wrap="none" lIns="0" rIns="0" tIns="0" bIns="0">
            <a:spAutoFit/>
          </a:bodyPr>
          <a:lstStyle/>
          <a:p>
            <a:pPr>
              <a:lnSpc>
                <a:spcPts val="2928"/>
              </a:lnSpc>
              <a:spcBef>
                <a:spcPts val="0"/>
              </a:spcBef>
              <a:spcAft>
                <a:spcPts val="0"/>
              </a:spcAft>
              <a:defRPr sz="2400" b="1">
                <a:solidFill>
                  <a:srgbClr val="2E1E43"/>
                </a:solidFill>
                <a:latin typeface="IBM Plex Sans Condensed"/>
              </a:defRPr>
            </a:pPr>
            <a:r>
              <a:t>1. Explore the network</a:t>
            </a:r>
          </a:p>
        </p:txBody>
      </p:sp>
      <p:sp>
        <p:nvSpPr>
          <p:cNvPr id="13" name="TextBox 12"/>
          <p:cNvSpPr txBox="1"/>
          <p:nvPr/>
        </p:nvSpPr>
        <p:spPr>
          <a:xfrm>
            <a:off x="5596128" y="2633472"/>
            <a:ext cx="5879592" cy="559816"/>
          </a:xfrm>
          <a:prstGeom prst="rect">
            <a:avLst/>
          </a:prstGeom>
          <a:noFill/>
        </p:spPr>
        <p:txBody>
          <a:bodyPr wrap="none" lIns="0" rIns="0" tIns="0" bIns="0">
            <a:spAutoFit/>
          </a:bodyPr>
          <a:lstStyle/>
          <a:p>
            <a:pPr>
              <a:lnSpc>
                <a:spcPts val="1952"/>
              </a:lnSpc>
              <a:spcBef>
                <a:spcPts val="0"/>
              </a:spcBef>
              <a:spcAft>
                <a:spcPts val="0"/>
              </a:spcAft>
              <a:defRPr sz="1600" b="0">
                <a:solidFill>
                  <a:srgbClr val="6B5B7D"/>
                </a:solidFill>
                <a:latin typeface="IBM Plex Sans"/>
              </a:defRPr>
            </a:pPr>
            <a:r>
              <a:t>Search masts and routes. Use the map to choose where to</a:t>
            </a:r>
          </a:p>
          <a:p>
            <a:pPr>
              <a:lnSpc>
                <a:spcPts val="1952"/>
              </a:lnSpc>
              <a:spcBef>
                <a:spcPts val="0"/>
              </a:spcBef>
              <a:spcAft>
                <a:spcPts val="0"/>
              </a:spcAft>
              <a:defRPr sz="1600" b="0">
                <a:solidFill>
                  <a:srgbClr val="6B5B7D"/>
                </a:solidFill>
                <a:latin typeface="IBM Plex Sans"/>
              </a:defRPr>
            </a:pPr>
            <a:r>
              <a:t>investigate.</a:t>
            </a:r>
          </a:p>
        </p:txBody>
      </p:sp>
      <p:sp>
        <p:nvSpPr>
          <p:cNvPr id="14" name="Rectangle 13"/>
          <p:cNvSpPr/>
          <p:nvPr/>
        </p:nvSpPr>
        <p:spPr>
          <a:xfrm>
            <a:off x="5385816" y="3273552"/>
            <a:ext cx="6300216" cy="10607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86984" y="3392424"/>
            <a:ext cx="5897880" cy="435864"/>
          </a:xfrm>
          <a:prstGeom prst="rect">
            <a:avLst/>
          </a:prstGeom>
          <a:noFill/>
        </p:spPr>
        <p:txBody>
          <a:bodyPr wrap="none" lIns="0" rIns="0" tIns="0" bIns="0">
            <a:spAutoFit/>
          </a:bodyPr>
          <a:lstStyle/>
          <a:p>
            <a:pPr>
              <a:lnSpc>
                <a:spcPts val="2928"/>
              </a:lnSpc>
              <a:spcBef>
                <a:spcPts val="0"/>
              </a:spcBef>
              <a:spcAft>
                <a:spcPts val="0"/>
              </a:spcAft>
              <a:defRPr sz="2400" b="1">
                <a:solidFill>
                  <a:srgbClr val="2E1E43"/>
                </a:solidFill>
                <a:latin typeface="IBM Plex Sans Condensed"/>
              </a:defRPr>
            </a:pPr>
            <a:r>
              <a:t>2. Inspect the recording</a:t>
            </a:r>
          </a:p>
        </p:txBody>
      </p:sp>
      <p:sp>
        <p:nvSpPr>
          <p:cNvPr id="16" name="TextBox 15"/>
          <p:cNvSpPr txBox="1"/>
          <p:nvPr/>
        </p:nvSpPr>
        <p:spPr>
          <a:xfrm>
            <a:off x="5596128" y="3849624"/>
            <a:ext cx="5879592" cy="559816"/>
          </a:xfrm>
          <a:prstGeom prst="rect">
            <a:avLst/>
          </a:prstGeom>
          <a:noFill/>
        </p:spPr>
        <p:txBody>
          <a:bodyPr wrap="none" lIns="0" rIns="0" tIns="0" bIns="0">
            <a:spAutoFit/>
          </a:bodyPr>
          <a:lstStyle/>
          <a:p>
            <a:pPr>
              <a:lnSpc>
                <a:spcPts val="1952"/>
              </a:lnSpc>
              <a:spcBef>
                <a:spcPts val="0"/>
              </a:spcBef>
              <a:spcAft>
                <a:spcPts val="0"/>
              </a:spcAft>
              <a:defRPr sz="1600" b="0">
                <a:solidFill>
                  <a:srgbClr val="6B5B7D"/>
                </a:solidFill>
                <a:latin typeface="IBM Plex Sans"/>
              </a:defRPr>
            </a:pPr>
            <a:r>
              <a:t>Review signal patterns and play back the recording to see</a:t>
            </a:r>
          </a:p>
          <a:p>
            <a:pPr>
              <a:lnSpc>
                <a:spcPts val="1952"/>
              </a:lnSpc>
              <a:spcBef>
                <a:spcPts val="0"/>
              </a:spcBef>
              <a:spcAft>
                <a:spcPts val="0"/>
              </a:spcAft>
              <a:defRPr sz="1600" b="0">
                <a:solidFill>
                  <a:srgbClr val="6B5B7D"/>
                </a:solidFill>
                <a:latin typeface="IBM Plex Sans"/>
              </a:defRPr>
            </a:pPr>
            <a:r>
              <a:t>changes over time.</a:t>
            </a:r>
          </a:p>
        </p:txBody>
      </p:sp>
      <p:sp>
        <p:nvSpPr>
          <p:cNvPr id="17" name="Rectangle 16"/>
          <p:cNvSpPr/>
          <p:nvPr/>
        </p:nvSpPr>
        <p:spPr>
          <a:xfrm>
            <a:off x="5385816" y="4489704"/>
            <a:ext cx="6300216" cy="10607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86984" y="4608576"/>
            <a:ext cx="5897880" cy="435864"/>
          </a:xfrm>
          <a:prstGeom prst="rect">
            <a:avLst/>
          </a:prstGeom>
          <a:noFill/>
        </p:spPr>
        <p:txBody>
          <a:bodyPr wrap="none" lIns="0" rIns="0" tIns="0" bIns="0">
            <a:spAutoFit/>
          </a:bodyPr>
          <a:lstStyle/>
          <a:p>
            <a:pPr>
              <a:lnSpc>
                <a:spcPts val="2928"/>
              </a:lnSpc>
              <a:spcBef>
                <a:spcPts val="0"/>
              </a:spcBef>
              <a:spcAft>
                <a:spcPts val="0"/>
              </a:spcAft>
              <a:defRPr sz="2400" b="1">
                <a:solidFill>
                  <a:srgbClr val="2E1E43"/>
                </a:solidFill>
                <a:latin typeface="IBM Plex Sans Condensed"/>
              </a:defRPr>
            </a:pPr>
            <a:r>
              <a:t>3. Record the conclusion</a:t>
            </a:r>
          </a:p>
        </p:txBody>
      </p:sp>
      <p:sp>
        <p:nvSpPr>
          <p:cNvPr id="19" name="TextBox 18"/>
          <p:cNvSpPr txBox="1"/>
          <p:nvPr/>
        </p:nvSpPr>
        <p:spPr>
          <a:xfrm>
            <a:off x="5596128" y="5065776"/>
            <a:ext cx="5879592" cy="559816"/>
          </a:xfrm>
          <a:prstGeom prst="rect">
            <a:avLst/>
          </a:prstGeom>
          <a:noFill/>
        </p:spPr>
        <p:txBody>
          <a:bodyPr wrap="none" lIns="0" rIns="0" tIns="0" bIns="0">
            <a:spAutoFit/>
          </a:bodyPr>
          <a:lstStyle/>
          <a:p>
            <a:pPr>
              <a:lnSpc>
                <a:spcPts val="1952"/>
              </a:lnSpc>
              <a:spcBef>
                <a:spcPts val="0"/>
              </a:spcBef>
              <a:spcAft>
                <a:spcPts val="0"/>
              </a:spcAft>
              <a:defRPr sz="1600" b="0">
                <a:solidFill>
                  <a:srgbClr val="6B5B7D"/>
                </a:solidFill>
                <a:latin typeface="IBM Plex Sans"/>
              </a:defRPr>
            </a:pPr>
            <a:r>
              <a:t>Select an event to save its category, reviewer and supporting</a:t>
            </a:r>
          </a:p>
          <a:p>
            <a:pPr>
              <a:lnSpc>
                <a:spcPts val="1952"/>
              </a:lnSpc>
              <a:spcBef>
                <a:spcPts val="0"/>
              </a:spcBef>
              <a:spcAft>
                <a:spcPts val="0"/>
              </a:spcAft>
              <a:defRPr sz="1600" b="0">
                <a:solidFill>
                  <a:srgbClr val="6B5B7D"/>
                </a:solidFill>
                <a:latin typeface="IBM Plex Sans"/>
              </a:defRPr>
            </a:pPr>
            <a:r>
              <a:t>evidence.</a:t>
            </a:r>
          </a:p>
        </p:txBody>
      </p:sp>
      <p:sp>
        <p:nvSpPr>
          <p:cNvPr id="20" name="TextBox 19"/>
          <p:cNvSpPr txBox="1"/>
          <p:nvPr/>
        </p:nvSpPr>
        <p:spPr>
          <a:xfrm>
            <a:off x="5586984" y="5751576"/>
            <a:ext cx="58521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UI DEMONSTRATION</a:t>
            </a:r>
          </a:p>
        </p:txBody>
      </p:sp>
      <p:sp>
        <p:nvSpPr>
          <p:cNvPr id="21" name="TextBox 20"/>
          <p:cNvSpPr txBox="1"/>
          <p:nvPr/>
        </p:nvSpPr>
        <p:spPr>
          <a:xfrm>
            <a:off x="5586984" y="6044184"/>
            <a:ext cx="5852160" cy="265429"/>
          </a:xfrm>
          <a:prstGeom prst="rect">
            <a:avLst/>
          </a:prstGeom>
          <a:noFill/>
        </p:spPr>
        <p:txBody>
          <a:bodyPr wrap="none" lIns="0" rIns="0" tIns="0" bIns="0">
            <a:spAutoFit/>
          </a:bodyPr>
          <a:lstStyle/>
          <a:p>
            <a:pPr>
              <a:lnSpc>
                <a:spcPts val="1586"/>
              </a:lnSpc>
              <a:spcBef>
                <a:spcPts val="0"/>
              </a:spcBef>
              <a:spcAft>
                <a:spcPts val="0"/>
              </a:spcAft>
              <a:defRPr sz="1300" b="0">
                <a:solidFill>
                  <a:srgbClr val="6B5B7D"/>
                </a:solidFill>
                <a:latin typeface="IBM Plex Sans"/>
              </a:defRPr>
            </a:pPr>
            <a:r>
              <a:t>Visible event entries are illustrative, not real incidents.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FFA"/>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04 / WEATHER UPGRADE — DEPLOYED</a:t>
            </a:r>
          </a:p>
        </p:txBody>
      </p:sp>
      <p:pic>
        <p:nvPicPr>
          <p:cNvPr id="3" name="Picture 2" descr="ubeconn-supplied-logo.png"/>
          <p:cNvPicPr>
            <a:picLocks noChangeAspect="1"/>
          </p:cNvPicPr>
          <p:nvPr/>
        </p:nvPicPr>
        <p:blipFill>
          <a:blip r:embed="rId2"/>
          <a:stretch>
            <a:fillRect/>
          </a:stretch>
        </p:blipFill>
        <p:spPr>
          <a:xfrm>
            <a:off x="9701784" y="0"/>
            <a:ext cx="2148840" cy="859319"/>
          </a:xfrm>
          <a:prstGeom prst="rect">
            <a:avLst/>
          </a:prstGeom>
        </p:spPr>
      </p:pic>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2E1E43"/>
                </a:solidFill>
                <a:latin typeface="IBM Plex Sans Condensed"/>
              </a:defRPr>
            </a:pPr>
            <a:r>
              <a:t>Weather context now follows more of the network</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6B5B7D"/>
                </a:solidFill>
                <a:latin typeface="IBM Plex Sans"/>
              </a:defRPr>
            </a:pPr>
            <a:r>
              <a:t>Forecast coverage has expanded, and relative humidity is now being collected.</a:t>
            </a:r>
          </a:p>
        </p:txBody>
      </p:sp>
      <p:cxnSp>
        <p:nvCxnSpPr>
          <p:cNvPr id="6" name="Connector 5"/>
          <p:cNvCxnSpPr/>
          <p:nvPr/>
        </p:nvCxnSpPr>
        <p:spPr>
          <a:xfrm>
            <a:off x="502920" y="1810512"/>
            <a:ext cx="11183112" cy="0"/>
          </a:xfrm>
          <a:prstGeom prst="line">
            <a:avLst/>
          </a:prstGeom>
          <a:ln w="13970">
            <a:solidFill>
              <a:srgbClr val="6D3CA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D7C9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6B5B7D"/>
                </a:solidFill>
                <a:latin typeface="IBM Plex Mono"/>
              </a:defRPr>
            </a:pPr>
            <a:r>
              <a:t>EVIDENCE / docs/weather.md · migration 005 applied on server and local installation</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6D3CAE"/>
                </a:solidFill>
                <a:latin typeface="IBM Plex Mono"/>
              </a:defRPr>
            </a:pPr>
            <a:r>
              <a:t>UBE / 05</a:t>
            </a:r>
          </a:p>
        </p:txBody>
      </p:sp>
      <p:sp>
        <p:nvSpPr>
          <p:cNvPr id="10" name="Rectangle 9"/>
          <p:cNvSpPr/>
          <p:nvPr/>
        </p:nvSpPr>
        <p:spPr>
          <a:xfrm>
            <a:off x="502920" y="2057400"/>
            <a:ext cx="4837176" cy="18470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 y="2267712"/>
            <a:ext cx="4251960" cy="234442"/>
          </a:xfrm>
          <a:prstGeom prst="rect">
            <a:avLst/>
          </a:prstGeom>
          <a:noFill/>
        </p:spPr>
        <p:txBody>
          <a:bodyPr wrap="none" lIns="0" rIns="0" tIns="0" bIns="0">
            <a:spAutoFit/>
          </a:bodyPr>
          <a:lstStyle/>
          <a:p>
            <a:pPr>
              <a:lnSpc>
                <a:spcPts val="1342"/>
              </a:lnSpc>
              <a:spcBef>
                <a:spcPts val="0"/>
              </a:spcBef>
              <a:spcAft>
                <a:spcPts val="0"/>
              </a:spcAft>
              <a:defRPr sz="1100" b="0">
                <a:solidFill>
                  <a:srgbClr val="6B5B7D"/>
                </a:solidFill>
                <a:latin typeface="IBM Plex Mono"/>
              </a:defRPr>
            </a:pPr>
            <a:r>
              <a:t>BEFORE</a:t>
            </a:r>
          </a:p>
        </p:txBody>
      </p:sp>
      <p:sp>
        <p:nvSpPr>
          <p:cNvPr id="12" name="TextBox 11"/>
          <p:cNvSpPr txBox="1"/>
          <p:nvPr/>
        </p:nvSpPr>
        <p:spPr>
          <a:xfrm>
            <a:off x="722376" y="2660904"/>
            <a:ext cx="960120" cy="931671"/>
          </a:xfrm>
          <a:prstGeom prst="rect">
            <a:avLst/>
          </a:prstGeom>
          <a:noFill/>
        </p:spPr>
        <p:txBody>
          <a:bodyPr wrap="none" lIns="0" rIns="0" tIns="0" bIns="0">
            <a:spAutoFit/>
          </a:bodyPr>
          <a:lstStyle/>
          <a:p>
            <a:pPr>
              <a:lnSpc>
                <a:spcPts val="6831"/>
              </a:lnSpc>
              <a:spcBef>
                <a:spcPts val="0"/>
              </a:spcBef>
              <a:spcAft>
                <a:spcPts val="0"/>
              </a:spcAft>
              <a:defRPr sz="5600" b="1">
                <a:solidFill>
                  <a:srgbClr val="6B5B7D"/>
                </a:solidFill>
                <a:latin typeface="IBM Plex Sans Condensed"/>
              </a:defRPr>
            </a:pPr>
            <a:r>
              <a:t>2</a:t>
            </a:r>
          </a:p>
        </p:txBody>
      </p:sp>
      <p:sp>
        <p:nvSpPr>
          <p:cNvPr id="13" name="TextBox 12"/>
          <p:cNvSpPr txBox="1"/>
          <p:nvPr/>
        </p:nvSpPr>
        <p:spPr>
          <a:xfrm>
            <a:off x="1837943" y="2852928"/>
            <a:ext cx="3191256" cy="451358"/>
          </a:xfrm>
          <a:prstGeom prst="rect">
            <a:avLst/>
          </a:prstGeom>
          <a:noFill/>
        </p:spPr>
        <p:txBody>
          <a:bodyPr wrap="none" lIns="0" rIns="0" tIns="0" bIns="0">
            <a:spAutoFit/>
          </a:bodyPr>
          <a:lstStyle/>
          <a:p>
            <a:pPr>
              <a:lnSpc>
                <a:spcPts val="3050"/>
              </a:lnSpc>
              <a:spcBef>
                <a:spcPts val="0"/>
              </a:spcBef>
              <a:spcAft>
                <a:spcPts val="0"/>
              </a:spcAft>
              <a:defRPr sz="2500" b="1">
                <a:solidFill>
                  <a:srgbClr val="6B5B7D"/>
                </a:solidFill>
                <a:latin typeface="IBM Plex Sans Condensed"/>
              </a:defRPr>
            </a:pPr>
            <a:r>
              <a:t>forecast locations</a:t>
            </a:r>
          </a:p>
        </p:txBody>
      </p:sp>
      <p:sp>
        <p:nvSpPr>
          <p:cNvPr id="14" name="Rectangle 13"/>
          <p:cNvSpPr/>
          <p:nvPr/>
        </p:nvSpPr>
        <p:spPr>
          <a:xfrm>
            <a:off x="5669280" y="2057400"/>
            <a:ext cx="6016752" cy="18470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0" y="2057400"/>
            <a:ext cx="41148" cy="1847088"/>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34456" y="2267712"/>
            <a:ext cx="5404104" cy="234442"/>
          </a:xfrm>
          <a:prstGeom prst="rect">
            <a:avLst/>
          </a:prstGeom>
          <a:noFill/>
        </p:spPr>
        <p:txBody>
          <a:bodyPr wrap="none" lIns="0" rIns="0" tIns="0" bIns="0">
            <a:spAutoFit/>
          </a:bodyPr>
          <a:lstStyle/>
          <a:p>
            <a:pPr>
              <a:lnSpc>
                <a:spcPts val="1342"/>
              </a:lnSpc>
              <a:spcBef>
                <a:spcPts val="0"/>
              </a:spcBef>
              <a:spcAft>
                <a:spcPts val="0"/>
              </a:spcAft>
              <a:defRPr sz="1100" b="0">
                <a:solidFill>
                  <a:srgbClr val="6D3CAE"/>
                </a:solidFill>
                <a:latin typeface="IBM Plex Mono"/>
              </a:defRPr>
            </a:pPr>
            <a:r>
              <a:t>NOW</a:t>
            </a:r>
          </a:p>
        </p:txBody>
      </p:sp>
      <p:sp>
        <p:nvSpPr>
          <p:cNvPr id="17" name="TextBox 16"/>
          <p:cNvSpPr txBox="1"/>
          <p:nvPr/>
        </p:nvSpPr>
        <p:spPr>
          <a:xfrm>
            <a:off x="5934456" y="2660904"/>
            <a:ext cx="1298448" cy="931671"/>
          </a:xfrm>
          <a:prstGeom prst="rect">
            <a:avLst/>
          </a:prstGeom>
          <a:noFill/>
        </p:spPr>
        <p:txBody>
          <a:bodyPr wrap="none" lIns="0" rIns="0" tIns="0" bIns="0">
            <a:spAutoFit/>
          </a:bodyPr>
          <a:lstStyle/>
          <a:p>
            <a:pPr>
              <a:lnSpc>
                <a:spcPts val="6831"/>
              </a:lnSpc>
              <a:spcBef>
                <a:spcPts val="0"/>
              </a:spcBef>
              <a:spcAft>
                <a:spcPts val="0"/>
              </a:spcAft>
              <a:defRPr sz="5600" b="1">
                <a:solidFill>
                  <a:srgbClr val="6D3CAE"/>
                </a:solidFill>
                <a:latin typeface="IBM Plex Sans Condensed"/>
              </a:defRPr>
            </a:pPr>
            <a:r>
              <a:t>17</a:t>
            </a:r>
          </a:p>
        </p:txBody>
      </p:sp>
      <p:sp>
        <p:nvSpPr>
          <p:cNvPr id="18" name="TextBox 17"/>
          <p:cNvSpPr txBox="1"/>
          <p:nvPr/>
        </p:nvSpPr>
        <p:spPr>
          <a:xfrm>
            <a:off x="7388352" y="2779776"/>
            <a:ext cx="3986784" cy="807720"/>
          </a:xfrm>
          <a:prstGeom prst="rect">
            <a:avLst/>
          </a:prstGeom>
          <a:noFill/>
        </p:spPr>
        <p:txBody>
          <a:bodyPr wrap="none" lIns="0" rIns="0" tIns="0" bIns="0">
            <a:spAutoFit/>
          </a:bodyPr>
          <a:lstStyle/>
          <a:p>
            <a:pPr>
              <a:lnSpc>
                <a:spcPts val="2928"/>
              </a:lnSpc>
              <a:spcBef>
                <a:spcPts val="0"/>
              </a:spcBef>
              <a:spcAft>
                <a:spcPts val="0"/>
              </a:spcAft>
              <a:defRPr sz="2400" b="1">
                <a:solidFill>
                  <a:srgbClr val="2E1E43"/>
                </a:solidFill>
                <a:latin typeface="IBM Plex Sans Condensed"/>
              </a:defRPr>
            </a:pPr>
            <a:r>
              <a:t>locations across the route</a:t>
            </a:r>
          </a:p>
          <a:p>
            <a:pPr>
              <a:lnSpc>
                <a:spcPts val="2928"/>
              </a:lnSpc>
              <a:spcBef>
                <a:spcPts val="0"/>
              </a:spcBef>
              <a:spcAft>
                <a:spcPts val="0"/>
              </a:spcAft>
              <a:defRPr sz="2400" b="1">
                <a:solidFill>
                  <a:srgbClr val="2E1E43"/>
                </a:solidFill>
                <a:latin typeface="IBM Plex Sans Condensed"/>
              </a:defRPr>
            </a:pPr>
            <a:r>
              <a:t>network</a:t>
            </a:r>
          </a:p>
        </p:txBody>
      </p:sp>
      <p:sp>
        <p:nvSpPr>
          <p:cNvPr id="19" name="Rectangle 18"/>
          <p:cNvSpPr/>
          <p:nvPr/>
        </p:nvSpPr>
        <p:spPr>
          <a:xfrm>
            <a:off x="502920" y="4224528"/>
            <a:ext cx="2651760" cy="10607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416552"/>
            <a:ext cx="2276856"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COLLECTED</a:t>
            </a:r>
          </a:p>
        </p:txBody>
      </p:sp>
      <p:sp>
        <p:nvSpPr>
          <p:cNvPr id="21" name="TextBox 20"/>
          <p:cNvSpPr txBox="1"/>
          <p:nvPr/>
        </p:nvSpPr>
        <p:spPr>
          <a:xfrm>
            <a:off x="685800" y="4736592"/>
            <a:ext cx="2276856"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2E1E43"/>
                </a:solidFill>
                <a:latin typeface="IBM Plex Sans Condensed"/>
              </a:defRPr>
            </a:pPr>
            <a:r>
              <a:t>Temperature</a:t>
            </a:r>
          </a:p>
        </p:txBody>
      </p:sp>
      <p:sp>
        <p:nvSpPr>
          <p:cNvPr id="22" name="Rectangle 21"/>
          <p:cNvSpPr/>
          <p:nvPr/>
        </p:nvSpPr>
        <p:spPr>
          <a:xfrm>
            <a:off x="3346704" y="4224528"/>
            <a:ext cx="2651760" cy="10607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29584" y="4416552"/>
            <a:ext cx="2276856"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COLLECTED</a:t>
            </a:r>
          </a:p>
        </p:txBody>
      </p:sp>
      <p:sp>
        <p:nvSpPr>
          <p:cNvPr id="24" name="TextBox 23"/>
          <p:cNvSpPr txBox="1"/>
          <p:nvPr/>
        </p:nvSpPr>
        <p:spPr>
          <a:xfrm>
            <a:off x="3529584" y="4736592"/>
            <a:ext cx="2276856"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2E1E43"/>
                </a:solidFill>
                <a:latin typeface="IBM Plex Sans Condensed"/>
              </a:defRPr>
            </a:pPr>
            <a:r>
              <a:t>Wind speed</a:t>
            </a:r>
          </a:p>
        </p:txBody>
      </p:sp>
      <p:sp>
        <p:nvSpPr>
          <p:cNvPr id="25" name="Rectangle 24"/>
          <p:cNvSpPr/>
          <p:nvPr/>
        </p:nvSpPr>
        <p:spPr>
          <a:xfrm>
            <a:off x="6190488" y="4224528"/>
            <a:ext cx="2651760" cy="10607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73368" y="4416552"/>
            <a:ext cx="2276856"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COLLECTED</a:t>
            </a:r>
          </a:p>
        </p:txBody>
      </p:sp>
      <p:sp>
        <p:nvSpPr>
          <p:cNvPr id="27" name="TextBox 26"/>
          <p:cNvSpPr txBox="1"/>
          <p:nvPr/>
        </p:nvSpPr>
        <p:spPr>
          <a:xfrm>
            <a:off x="6373368" y="4736592"/>
            <a:ext cx="2276856"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2E1E43"/>
                </a:solidFill>
                <a:latin typeface="IBM Plex Sans Condensed"/>
              </a:defRPr>
            </a:pPr>
            <a:r>
              <a:t>Wind direction</a:t>
            </a:r>
          </a:p>
        </p:txBody>
      </p:sp>
      <p:sp>
        <p:nvSpPr>
          <p:cNvPr id="28" name="Rectangle 27"/>
          <p:cNvSpPr/>
          <p:nvPr/>
        </p:nvSpPr>
        <p:spPr>
          <a:xfrm>
            <a:off x="9034272" y="4224528"/>
            <a:ext cx="2651760" cy="1060704"/>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17152" y="4416552"/>
            <a:ext cx="2276856"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FFFFFF"/>
                </a:solidFill>
                <a:latin typeface="IBM Plex Mono"/>
              </a:defRPr>
            </a:pPr>
            <a:r>
              <a:t>NEW</a:t>
            </a:r>
          </a:p>
        </p:txBody>
      </p:sp>
      <p:sp>
        <p:nvSpPr>
          <p:cNvPr id="30" name="TextBox 29"/>
          <p:cNvSpPr txBox="1"/>
          <p:nvPr/>
        </p:nvSpPr>
        <p:spPr>
          <a:xfrm>
            <a:off x="9217152" y="4736592"/>
            <a:ext cx="2276856"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Condensed"/>
              </a:defRPr>
            </a:pPr>
            <a:r>
              <a:t>Humidity</a:t>
            </a:r>
          </a:p>
        </p:txBody>
      </p:sp>
      <p:sp>
        <p:nvSpPr>
          <p:cNvPr id="31" name="TextBox 30"/>
          <p:cNvSpPr txBox="1"/>
          <p:nvPr/>
        </p:nvSpPr>
        <p:spPr>
          <a:xfrm>
            <a:off x="713232" y="5486400"/>
            <a:ext cx="10881360" cy="327405"/>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New records also retain when the forecast applies and when it was issued.</a:t>
            </a:r>
          </a:p>
        </p:txBody>
      </p:sp>
      <p:sp>
        <p:nvSpPr>
          <p:cNvPr id="32" name="Rectangle 31"/>
          <p:cNvSpPr/>
          <p:nvPr/>
        </p:nvSpPr>
        <p:spPr>
          <a:xfrm>
            <a:off x="502920" y="5907024"/>
            <a:ext cx="11183112" cy="3566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5907024"/>
            <a:ext cx="32004" cy="356616"/>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6D3CAE"/>
                </a:solidFill>
                <a:latin typeface="IBM Plex Sans"/>
              </a:defRPr>
            </a:pPr>
            <a:r>
              <a:t>Richer weather context supports event interpretation; forecasts do not confirm the cause of an event.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EFFA"/>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05 / MACHINE LEARNING, IN PLAIN LANGUAGE</a:t>
            </a:r>
          </a:p>
        </p:txBody>
      </p:sp>
      <p:pic>
        <p:nvPicPr>
          <p:cNvPr id="3" name="Picture 2" descr="ubeconn-supplied-logo.png"/>
          <p:cNvPicPr>
            <a:picLocks noChangeAspect="1"/>
          </p:cNvPicPr>
          <p:nvPr/>
        </p:nvPicPr>
        <p:blipFill>
          <a:blip r:embed="rId2"/>
          <a:stretch>
            <a:fillRect/>
          </a:stretch>
        </p:blipFill>
        <p:spPr>
          <a:xfrm>
            <a:off x="9701784" y="0"/>
            <a:ext cx="2148840" cy="859319"/>
          </a:xfrm>
          <a:prstGeom prst="rect">
            <a:avLst/>
          </a:prstGeom>
        </p:spPr>
      </p:pic>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2E1E43"/>
                </a:solidFill>
                <a:latin typeface="IBM Plex Sans Condensed"/>
              </a:defRPr>
            </a:pPr>
            <a:r>
              <a:t>We use Random Forest machine learning for classification</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6B5B7D"/>
                </a:solidFill>
                <a:latin typeface="IBM Plex Sans"/>
              </a:defRPr>
            </a:pPr>
            <a:r>
              <a:t>Supervised learning: confirmed examples teach the model to recognise the four event categories.</a:t>
            </a:r>
          </a:p>
        </p:txBody>
      </p:sp>
      <p:cxnSp>
        <p:nvCxnSpPr>
          <p:cNvPr id="6" name="Connector 5"/>
          <p:cNvCxnSpPr/>
          <p:nvPr/>
        </p:nvCxnSpPr>
        <p:spPr>
          <a:xfrm>
            <a:off x="502920" y="1810512"/>
            <a:ext cx="11183112" cy="0"/>
          </a:xfrm>
          <a:prstGeom prst="line">
            <a:avLst/>
          </a:prstGeom>
          <a:ln w="13970">
            <a:solidFill>
              <a:srgbClr val="6D3CA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D7C9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6B5B7D"/>
                </a:solidFill>
                <a:latin typeface="IBM Plex Mono"/>
              </a:defRPr>
            </a:pPr>
            <a:r>
              <a:t>MODEL STATUS / supervised training software implemented; field accuracy not yet established</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6D3CAE"/>
                </a:solidFill>
                <a:latin typeface="IBM Plex Mono"/>
              </a:defRPr>
            </a:pPr>
            <a:r>
              <a:t>UBE / 06</a:t>
            </a:r>
          </a:p>
        </p:txBody>
      </p:sp>
      <p:sp>
        <p:nvSpPr>
          <p:cNvPr id="10" name="Rectangle 9"/>
          <p:cNvSpPr/>
          <p:nvPr/>
        </p:nvSpPr>
        <p:spPr>
          <a:xfrm>
            <a:off x="502920" y="2066543"/>
            <a:ext cx="3602736"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066543"/>
            <a:ext cx="3602736" cy="32004"/>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49424"/>
            <a:ext cx="3236976"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THE CLUES</a:t>
            </a:r>
          </a:p>
        </p:txBody>
      </p:sp>
      <p:sp>
        <p:nvSpPr>
          <p:cNvPr id="13" name="TextBox 12"/>
          <p:cNvSpPr txBox="1"/>
          <p:nvPr/>
        </p:nvSpPr>
        <p:spPr>
          <a:xfrm>
            <a:off x="685800" y="2587751"/>
            <a:ext cx="3236976" cy="838708"/>
          </a:xfrm>
          <a:prstGeom prst="rect">
            <a:avLst/>
          </a:prstGeom>
          <a:noFill/>
        </p:spPr>
        <p:txBody>
          <a:bodyPr wrap="none" lIns="0" rIns="0" tIns="0" bIns="0">
            <a:spAutoFit/>
          </a:bodyPr>
          <a:lstStyle/>
          <a:p>
            <a:pPr>
              <a:lnSpc>
                <a:spcPts val="3050"/>
              </a:lnSpc>
              <a:spcBef>
                <a:spcPts val="0"/>
              </a:spcBef>
              <a:spcAft>
                <a:spcPts val="0"/>
              </a:spcAft>
              <a:defRPr sz="2500" b="1">
                <a:solidFill>
                  <a:srgbClr val="2E1E43"/>
                </a:solidFill>
                <a:latin typeface="IBM Plex Sans Condensed"/>
              </a:defRPr>
            </a:pPr>
            <a:r>
              <a:t>Cable behaviour +</a:t>
            </a:r>
          </a:p>
          <a:p>
            <a:pPr>
              <a:lnSpc>
                <a:spcPts val="3050"/>
              </a:lnSpc>
              <a:spcBef>
                <a:spcPts val="0"/>
              </a:spcBef>
              <a:spcAft>
                <a:spcPts val="0"/>
              </a:spcAft>
              <a:defRPr sz="2500" b="1">
                <a:solidFill>
                  <a:srgbClr val="2E1E43"/>
                </a:solidFill>
                <a:latin typeface="IBM Plex Sans Condensed"/>
              </a:defRPr>
            </a:pPr>
            <a:r>
              <a:t>weather</a:t>
            </a:r>
          </a:p>
        </p:txBody>
      </p:sp>
      <p:sp>
        <p:nvSpPr>
          <p:cNvPr id="14" name="TextBox 13"/>
          <p:cNvSpPr txBox="1"/>
          <p:nvPr/>
        </p:nvSpPr>
        <p:spPr>
          <a:xfrm>
            <a:off x="685800" y="3527044"/>
            <a:ext cx="3236976"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How strong is the vibration?</a:t>
            </a:r>
          </a:p>
          <a:p>
            <a:pPr>
              <a:lnSpc>
                <a:spcPts val="2074"/>
              </a:lnSpc>
              <a:spcBef>
                <a:spcPts val="0"/>
              </a:spcBef>
              <a:spcAft>
                <a:spcPts val="0"/>
              </a:spcAft>
              <a:defRPr sz="1700" b="0">
                <a:solidFill>
                  <a:srgbClr val="6B5B7D"/>
                </a:solidFill>
                <a:latin typeface="IBM Plex Sans"/>
              </a:defRPr>
            </a:pPr>
            <a:r>
              <a:t>Is it rhythmic or irregular?</a:t>
            </a:r>
          </a:p>
          <a:p>
            <a:pPr>
              <a:lnSpc>
                <a:spcPts val="2074"/>
              </a:lnSpc>
              <a:spcBef>
                <a:spcPts val="0"/>
              </a:spcBef>
              <a:spcAft>
                <a:spcPts val="0"/>
              </a:spcAft>
              <a:defRPr sz="1700" b="0">
                <a:solidFill>
                  <a:srgbClr val="6B5B7D"/>
                </a:solidFill>
                <a:latin typeface="IBM Plex Sans"/>
              </a:defRPr>
            </a:pPr>
            <a:r>
              <a:t>What were the conditions?</a:t>
            </a:r>
          </a:p>
        </p:txBody>
      </p:sp>
      <p:sp>
        <p:nvSpPr>
          <p:cNvPr id="15" name="Rectangle 14"/>
          <p:cNvSpPr/>
          <p:nvPr/>
        </p:nvSpPr>
        <p:spPr>
          <a:xfrm>
            <a:off x="4288536" y="2066543"/>
            <a:ext cx="3602736"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88536" y="2066543"/>
            <a:ext cx="3602736" cy="32004"/>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1416" y="2249424"/>
            <a:ext cx="3236976"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MACHINE LEARNING TECHNIQUE</a:t>
            </a:r>
          </a:p>
        </p:txBody>
      </p:sp>
      <p:sp>
        <p:nvSpPr>
          <p:cNvPr id="18" name="TextBox 17"/>
          <p:cNvSpPr txBox="1"/>
          <p:nvPr/>
        </p:nvSpPr>
        <p:spPr>
          <a:xfrm>
            <a:off x="4471416" y="2587751"/>
            <a:ext cx="3236976" cy="451358"/>
          </a:xfrm>
          <a:prstGeom prst="rect">
            <a:avLst/>
          </a:prstGeom>
          <a:noFill/>
        </p:spPr>
        <p:txBody>
          <a:bodyPr wrap="none" lIns="0" rIns="0" tIns="0" bIns="0">
            <a:spAutoFit/>
          </a:bodyPr>
          <a:lstStyle/>
          <a:p>
            <a:pPr>
              <a:lnSpc>
                <a:spcPts val="3050"/>
              </a:lnSpc>
              <a:spcBef>
                <a:spcPts val="0"/>
              </a:spcBef>
              <a:spcAft>
                <a:spcPts val="0"/>
              </a:spcAft>
              <a:defRPr sz="2500" b="1">
                <a:solidFill>
                  <a:srgbClr val="2E1E43"/>
                </a:solidFill>
                <a:latin typeface="IBM Plex Sans Condensed"/>
              </a:defRPr>
            </a:pPr>
            <a:r>
              <a:t>Random Forest</a:t>
            </a:r>
          </a:p>
        </p:txBody>
      </p:sp>
      <p:sp>
        <p:nvSpPr>
          <p:cNvPr id="19" name="TextBox 18"/>
          <p:cNvSpPr txBox="1"/>
          <p:nvPr/>
        </p:nvSpPr>
        <p:spPr>
          <a:xfrm>
            <a:off x="4471416" y="3139694"/>
            <a:ext cx="3236976" cy="1117600"/>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300 decision trees learn from</a:t>
            </a:r>
          </a:p>
          <a:p>
            <a:pPr>
              <a:lnSpc>
                <a:spcPts val="2074"/>
              </a:lnSpc>
              <a:spcBef>
                <a:spcPts val="0"/>
              </a:spcBef>
              <a:spcAft>
                <a:spcPts val="0"/>
              </a:spcAft>
              <a:defRPr sz="1700" b="0">
                <a:solidFill>
                  <a:srgbClr val="6B5B7D"/>
                </a:solidFill>
                <a:latin typeface="IBM Plex Sans"/>
              </a:defRPr>
            </a:pPr>
            <a:r>
              <a:t>confirmed examples. Their</a:t>
            </a:r>
          </a:p>
          <a:p>
            <a:pPr>
              <a:lnSpc>
                <a:spcPts val="2074"/>
              </a:lnSpc>
              <a:spcBef>
                <a:spcPts val="0"/>
              </a:spcBef>
              <a:spcAft>
                <a:spcPts val="0"/>
              </a:spcAft>
              <a:defRPr sz="1700" b="0">
                <a:solidFill>
                  <a:srgbClr val="6B5B7D"/>
                </a:solidFill>
                <a:latin typeface="IBM Plex Sans"/>
              </a:defRPr>
            </a:pPr>
            <a:r>
              <a:t>combined votes suggest the</a:t>
            </a:r>
          </a:p>
          <a:p>
            <a:pPr>
              <a:lnSpc>
                <a:spcPts val="2074"/>
              </a:lnSpc>
              <a:spcBef>
                <a:spcPts val="0"/>
              </a:spcBef>
              <a:spcAft>
                <a:spcPts val="0"/>
              </a:spcAft>
              <a:defRPr sz="1700" b="0">
                <a:solidFill>
                  <a:srgbClr val="6B5B7D"/>
                </a:solidFill>
                <a:latin typeface="IBM Plex Sans"/>
              </a:defRPr>
            </a:pPr>
            <a:r>
              <a:t>event category.</a:t>
            </a:r>
          </a:p>
        </p:txBody>
      </p:sp>
      <p:sp>
        <p:nvSpPr>
          <p:cNvPr id="20" name="Rectangle 19"/>
          <p:cNvSpPr/>
          <p:nvPr/>
        </p:nvSpPr>
        <p:spPr>
          <a:xfrm>
            <a:off x="8074152" y="2066543"/>
            <a:ext cx="361188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74152" y="2066543"/>
            <a:ext cx="3611880" cy="32004"/>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2249424"/>
            <a:ext cx="324612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THE RESULT</a:t>
            </a:r>
          </a:p>
        </p:txBody>
      </p:sp>
      <p:sp>
        <p:nvSpPr>
          <p:cNvPr id="23" name="TextBox 22"/>
          <p:cNvSpPr txBox="1"/>
          <p:nvPr/>
        </p:nvSpPr>
        <p:spPr>
          <a:xfrm>
            <a:off x="8257031" y="2587751"/>
            <a:ext cx="3246120" cy="838708"/>
          </a:xfrm>
          <a:prstGeom prst="rect">
            <a:avLst/>
          </a:prstGeom>
          <a:noFill/>
        </p:spPr>
        <p:txBody>
          <a:bodyPr wrap="none" lIns="0" rIns="0" tIns="0" bIns="0">
            <a:spAutoFit/>
          </a:bodyPr>
          <a:lstStyle/>
          <a:p>
            <a:pPr>
              <a:lnSpc>
                <a:spcPts val="3050"/>
              </a:lnSpc>
              <a:spcBef>
                <a:spcPts val="0"/>
              </a:spcBef>
              <a:spcAft>
                <a:spcPts val="0"/>
              </a:spcAft>
              <a:defRPr sz="2500" b="1">
                <a:solidFill>
                  <a:srgbClr val="2E1E43"/>
                </a:solidFill>
                <a:latin typeface="IBM Plex Sans Condensed"/>
              </a:defRPr>
            </a:pPr>
            <a:r>
              <a:t>A suggested category</a:t>
            </a:r>
          </a:p>
          <a:p>
            <a:pPr>
              <a:lnSpc>
                <a:spcPts val="3050"/>
              </a:lnSpc>
              <a:spcBef>
                <a:spcPts val="0"/>
              </a:spcBef>
              <a:spcAft>
                <a:spcPts val="0"/>
              </a:spcAft>
              <a:defRPr sz="2500" b="1">
                <a:solidFill>
                  <a:srgbClr val="2E1E43"/>
                </a:solidFill>
                <a:latin typeface="IBM Plex Sans Condensed"/>
              </a:defRPr>
            </a:pPr>
            <a:r>
              <a:t>for review</a:t>
            </a:r>
          </a:p>
        </p:txBody>
      </p:sp>
      <p:sp>
        <p:nvSpPr>
          <p:cNvPr id="24" name="TextBox 23"/>
          <p:cNvSpPr txBox="1"/>
          <p:nvPr/>
        </p:nvSpPr>
        <p:spPr>
          <a:xfrm>
            <a:off x="8257031" y="3527044"/>
            <a:ext cx="3246120"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The output includes a class and</a:t>
            </a:r>
          </a:p>
          <a:p>
            <a:pPr>
              <a:lnSpc>
                <a:spcPts val="2074"/>
              </a:lnSpc>
              <a:spcBef>
                <a:spcPts val="0"/>
              </a:spcBef>
              <a:spcAft>
                <a:spcPts val="0"/>
              </a:spcAft>
              <a:defRPr sz="1700" b="0">
                <a:solidFill>
                  <a:srgbClr val="6B5B7D"/>
                </a:solidFill>
                <a:latin typeface="IBM Plex Sans"/>
              </a:defRPr>
            </a:pPr>
            <a:r>
              <a:t>scores. Uncertain cases are</a:t>
            </a:r>
          </a:p>
          <a:p>
            <a:pPr>
              <a:lnSpc>
                <a:spcPts val="2074"/>
              </a:lnSpc>
              <a:spcBef>
                <a:spcPts val="0"/>
              </a:spcBef>
              <a:spcAft>
                <a:spcPts val="0"/>
              </a:spcAft>
              <a:defRPr sz="1700" b="0">
                <a:solidFill>
                  <a:srgbClr val="6B5B7D"/>
                </a:solidFill>
                <a:latin typeface="IBM Plex Sans"/>
              </a:defRPr>
            </a:pPr>
            <a:r>
              <a:t>flagged for attention.</a:t>
            </a:r>
          </a:p>
        </p:txBody>
      </p:sp>
      <p:sp>
        <p:nvSpPr>
          <p:cNvPr id="25" name="TextBox 24"/>
          <p:cNvSpPr txBox="1"/>
          <p:nvPr/>
        </p:nvSpPr>
        <p:spPr>
          <a:xfrm>
            <a:off x="694944" y="4892040"/>
            <a:ext cx="1083564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INTENDED OUTPUTS</a:t>
            </a:r>
          </a:p>
        </p:txBody>
      </p:sp>
      <p:sp>
        <p:nvSpPr>
          <p:cNvPr id="26" name="Rectangle 25"/>
          <p:cNvSpPr/>
          <p:nvPr/>
        </p:nvSpPr>
        <p:spPr>
          <a:xfrm>
            <a:off x="502920" y="5266944"/>
            <a:ext cx="265176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 y="5340096"/>
            <a:ext cx="2414016" cy="327405"/>
          </a:xfrm>
          <a:prstGeom prst="rect">
            <a:avLst/>
          </a:prstGeom>
          <a:noFill/>
        </p:spPr>
        <p:txBody>
          <a:bodyPr wrap="none" lIns="0" rIns="0" tIns="0" bIns="0">
            <a:spAutoFit/>
          </a:bodyPr>
          <a:lstStyle/>
          <a:p>
            <a:pPr>
              <a:lnSpc>
                <a:spcPts val="2074"/>
              </a:lnSpc>
              <a:spcBef>
                <a:spcPts val="0"/>
              </a:spcBef>
              <a:spcAft>
                <a:spcPts val="0"/>
              </a:spcAft>
              <a:defRPr sz="1700" b="1">
                <a:solidFill>
                  <a:srgbClr val="6D3CAE"/>
                </a:solidFill>
                <a:latin typeface="IBM Plex Sans Condensed"/>
              </a:defRPr>
            </a:pPr>
            <a:r>
              <a:t>Normal operations</a:t>
            </a:r>
          </a:p>
        </p:txBody>
      </p:sp>
      <p:sp>
        <p:nvSpPr>
          <p:cNvPr id="28" name="Rectangle 27"/>
          <p:cNvSpPr/>
          <p:nvPr/>
        </p:nvSpPr>
        <p:spPr>
          <a:xfrm>
            <a:off x="3346704" y="5266944"/>
            <a:ext cx="265176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0" y="5340096"/>
            <a:ext cx="2414016" cy="327405"/>
          </a:xfrm>
          <a:prstGeom prst="rect">
            <a:avLst/>
          </a:prstGeom>
          <a:noFill/>
        </p:spPr>
        <p:txBody>
          <a:bodyPr wrap="none" lIns="0" rIns="0" tIns="0" bIns="0">
            <a:spAutoFit/>
          </a:bodyPr>
          <a:lstStyle/>
          <a:p>
            <a:pPr>
              <a:lnSpc>
                <a:spcPts val="2074"/>
              </a:lnSpc>
              <a:spcBef>
                <a:spcPts val="0"/>
              </a:spcBef>
              <a:spcAft>
                <a:spcPts val="0"/>
              </a:spcAft>
              <a:defRPr sz="1700" b="1">
                <a:solidFill>
                  <a:srgbClr val="6D3CAE"/>
                </a:solidFill>
                <a:latin typeface="IBM Plex Sans Condensed"/>
              </a:defRPr>
            </a:pPr>
            <a:r>
              <a:t>Ice loading</a:t>
            </a:r>
          </a:p>
        </p:txBody>
      </p:sp>
      <p:sp>
        <p:nvSpPr>
          <p:cNvPr id="30" name="Rectangle 29"/>
          <p:cNvSpPr/>
          <p:nvPr/>
        </p:nvSpPr>
        <p:spPr>
          <a:xfrm>
            <a:off x="6190488" y="5266944"/>
            <a:ext cx="265176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18503" y="5340096"/>
            <a:ext cx="2414016" cy="327405"/>
          </a:xfrm>
          <a:prstGeom prst="rect">
            <a:avLst/>
          </a:prstGeom>
          <a:noFill/>
        </p:spPr>
        <p:txBody>
          <a:bodyPr wrap="none" lIns="0" rIns="0" tIns="0" bIns="0">
            <a:spAutoFit/>
          </a:bodyPr>
          <a:lstStyle/>
          <a:p>
            <a:pPr>
              <a:lnSpc>
                <a:spcPts val="2074"/>
              </a:lnSpc>
              <a:spcBef>
                <a:spcPts val="0"/>
              </a:spcBef>
              <a:spcAft>
                <a:spcPts val="0"/>
              </a:spcAft>
              <a:defRPr sz="1700" b="1">
                <a:solidFill>
                  <a:srgbClr val="6D3CAE"/>
                </a:solidFill>
                <a:latin typeface="IBM Plex Sans Condensed"/>
              </a:defRPr>
            </a:pPr>
            <a:r>
              <a:t>Wind galloping</a:t>
            </a:r>
          </a:p>
        </p:txBody>
      </p:sp>
      <p:sp>
        <p:nvSpPr>
          <p:cNvPr id="32" name="Rectangle 31"/>
          <p:cNvSpPr/>
          <p:nvPr/>
        </p:nvSpPr>
        <p:spPr>
          <a:xfrm>
            <a:off x="9034272" y="5266944"/>
            <a:ext cx="2651760"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62288" y="5340096"/>
            <a:ext cx="2414016" cy="327405"/>
          </a:xfrm>
          <a:prstGeom prst="rect">
            <a:avLst/>
          </a:prstGeom>
          <a:noFill/>
        </p:spPr>
        <p:txBody>
          <a:bodyPr wrap="none" lIns="0" rIns="0" tIns="0" bIns="0">
            <a:spAutoFit/>
          </a:bodyPr>
          <a:lstStyle/>
          <a:p>
            <a:pPr>
              <a:lnSpc>
                <a:spcPts val="2074"/>
              </a:lnSpc>
              <a:spcBef>
                <a:spcPts val="0"/>
              </a:spcBef>
              <a:spcAft>
                <a:spcPts val="0"/>
              </a:spcAft>
              <a:defRPr sz="1700" b="1">
                <a:solidFill>
                  <a:srgbClr val="6D3CAE"/>
                </a:solidFill>
                <a:latin typeface="IBM Plex Sans Condensed"/>
              </a:defRPr>
            </a:pPr>
            <a:r>
              <a:t>External interference</a:t>
            </a:r>
          </a:p>
        </p:txBody>
      </p:sp>
      <p:sp>
        <p:nvSpPr>
          <p:cNvPr id="34" name="Rectangle 33"/>
          <p:cNvSpPr/>
          <p:nvPr/>
        </p:nvSpPr>
        <p:spPr>
          <a:xfrm>
            <a:off x="502920" y="5907024"/>
            <a:ext cx="11183112" cy="3566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2920" y="5907024"/>
            <a:ext cx="32004" cy="356616"/>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6D3CAE"/>
                </a:solidFill>
                <a:latin typeface="IBM Plex Sans"/>
              </a:defRPr>
            </a:pPr>
            <a:r>
              <a:t>The software can learn and make predictions; its reliability must be demonstrated on independent events.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EFFA"/>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06 / THE LEARNING PROCESS</a:t>
            </a:r>
          </a:p>
        </p:txBody>
      </p:sp>
      <p:pic>
        <p:nvPicPr>
          <p:cNvPr id="3" name="Picture 2" descr="ubeconn-supplied-logo.png"/>
          <p:cNvPicPr>
            <a:picLocks noChangeAspect="1"/>
          </p:cNvPicPr>
          <p:nvPr/>
        </p:nvPicPr>
        <p:blipFill>
          <a:blip r:embed="rId2"/>
          <a:stretch>
            <a:fillRect/>
          </a:stretch>
        </p:blipFill>
        <p:spPr>
          <a:xfrm>
            <a:off x="9701784" y="0"/>
            <a:ext cx="2148840" cy="859319"/>
          </a:xfrm>
          <a:prstGeom prst="rect">
            <a:avLst/>
          </a:prstGeom>
        </p:spPr>
      </p:pic>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2E1E43"/>
                </a:solidFill>
                <a:latin typeface="IBM Plex Sans Condensed"/>
              </a:defRPr>
            </a:pPr>
            <a:r>
              <a:t>Two machine-learning steps support event classification</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6B5B7D"/>
                </a:solidFill>
                <a:latin typeface="IBM Plex Sans"/>
              </a:defRPr>
            </a:pPr>
            <a:r>
              <a:t>Unsupervised learning finds patterns; supervised learning links those patterns to confirmed event types.</a:t>
            </a:r>
          </a:p>
        </p:txBody>
      </p:sp>
      <p:cxnSp>
        <p:nvCxnSpPr>
          <p:cNvPr id="6" name="Connector 5"/>
          <p:cNvCxnSpPr/>
          <p:nvPr/>
        </p:nvCxnSpPr>
        <p:spPr>
          <a:xfrm>
            <a:off x="502920" y="1810512"/>
            <a:ext cx="11183112" cy="0"/>
          </a:xfrm>
          <a:prstGeom prst="line">
            <a:avLst/>
          </a:prstGeom>
          <a:ln w="13970">
            <a:solidFill>
              <a:srgbClr val="6D3CA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D7C9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6B5B7D"/>
                </a:solidFill>
                <a:latin typeface="IBM Plex Mono"/>
              </a:defRPr>
            </a:pPr>
            <a:r>
              <a:t>EVIDENCE / docs/event-discovery.md · recorded discovery pilot · docs/event-ml.md</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6D3CAE"/>
                </a:solidFill>
                <a:latin typeface="IBM Plex Mono"/>
              </a:defRPr>
            </a:pPr>
            <a:r>
              <a:t>UBE / 07</a:t>
            </a:r>
          </a:p>
        </p:txBody>
      </p:sp>
      <p:sp>
        <p:nvSpPr>
          <p:cNvPr id="10" name="Rectangle 9"/>
          <p:cNvSpPr/>
          <p:nvPr/>
        </p:nvSpPr>
        <p:spPr>
          <a:xfrm>
            <a:off x="502920" y="2084831"/>
            <a:ext cx="2651760" cy="29626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084831"/>
            <a:ext cx="2651760" cy="32004"/>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67712"/>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01 / PILOT COMPLETED</a:t>
            </a:r>
          </a:p>
        </p:txBody>
      </p:sp>
      <p:sp>
        <p:nvSpPr>
          <p:cNvPr id="13" name="TextBox 12"/>
          <p:cNvSpPr txBox="1"/>
          <p:nvPr/>
        </p:nvSpPr>
        <p:spPr>
          <a:xfrm>
            <a:off x="685800" y="2606039"/>
            <a:ext cx="2286000" cy="482346"/>
          </a:xfrm>
          <a:prstGeom prst="rect">
            <a:avLst/>
          </a:prstGeom>
          <a:noFill/>
        </p:spPr>
        <p:txBody>
          <a:bodyPr wrap="none" lIns="0" rIns="0" tIns="0" bIns="0">
            <a:spAutoFit/>
          </a:bodyPr>
          <a:lstStyle/>
          <a:p>
            <a:pPr>
              <a:lnSpc>
                <a:spcPts val="3294"/>
              </a:lnSpc>
              <a:spcBef>
                <a:spcPts val="0"/>
              </a:spcBef>
              <a:spcAft>
                <a:spcPts val="0"/>
              </a:spcAft>
              <a:defRPr sz="2700" b="1">
                <a:solidFill>
                  <a:srgbClr val="2E1E43"/>
                </a:solidFill>
                <a:latin typeface="IBM Plex Sans Condensed"/>
              </a:defRPr>
            </a:pPr>
            <a:r>
              <a:t>Find patterns</a:t>
            </a:r>
          </a:p>
        </p:txBody>
      </p:sp>
      <p:sp>
        <p:nvSpPr>
          <p:cNvPr id="14" name="TextBox 13"/>
          <p:cNvSpPr txBox="1"/>
          <p:nvPr/>
        </p:nvSpPr>
        <p:spPr>
          <a:xfrm>
            <a:off x="685800" y="3188970"/>
            <a:ext cx="2286000" cy="1380998"/>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K-means groups</a:t>
            </a:r>
          </a:p>
          <a:p>
            <a:pPr>
              <a:lnSpc>
                <a:spcPts val="2074"/>
              </a:lnSpc>
              <a:spcBef>
                <a:spcPts val="0"/>
              </a:spcBef>
              <a:spcAft>
                <a:spcPts val="0"/>
              </a:spcAft>
              <a:defRPr sz="1700" b="0">
                <a:solidFill>
                  <a:srgbClr val="6B5B7D"/>
                </a:solidFill>
                <a:latin typeface="IBM Plex Sans"/>
              </a:defRPr>
            </a:pPr>
            <a:r>
              <a:t>similar signals.</a:t>
            </a:r>
          </a:p>
          <a:p>
            <a:pPr>
              <a:lnSpc>
                <a:spcPts val="2074"/>
              </a:lnSpc>
              <a:spcBef>
                <a:spcPts val="0"/>
              </a:spcBef>
              <a:spcAft>
                <a:spcPts val="0"/>
              </a:spcAft>
              <a:defRPr sz="1700" b="0">
                <a:solidFill>
                  <a:srgbClr val="6B5B7D"/>
                </a:solidFill>
                <a:latin typeface="IBM Plex Sans"/>
              </a:defRPr>
            </a:pPr>
            <a:r>
              <a:t>Isolation Forest</a:t>
            </a:r>
          </a:p>
          <a:p>
            <a:pPr>
              <a:lnSpc>
                <a:spcPts val="2074"/>
              </a:lnSpc>
              <a:spcBef>
                <a:spcPts val="0"/>
              </a:spcBef>
              <a:spcAft>
                <a:spcPts val="0"/>
              </a:spcAft>
              <a:defRPr sz="1700" b="0">
                <a:solidFill>
                  <a:srgbClr val="6B5B7D"/>
                </a:solidFill>
                <a:latin typeface="IBM Plex Sans"/>
              </a:defRPr>
            </a:pPr>
            <a:r>
              <a:t>highlights unusual</a:t>
            </a:r>
          </a:p>
          <a:p>
            <a:pPr>
              <a:lnSpc>
                <a:spcPts val="2074"/>
              </a:lnSpc>
              <a:spcBef>
                <a:spcPts val="0"/>
              </a:spcBef>
              <a:spcAft>
                <a:spcPts val="0"/>
              </a:spcAft>
              <a:defRPr sz="1700" b="0">
                <a:solidFill>
                  <a:srgbClr val="6B5B7D"/>
                </a:solidFill>
                <a:latin typeface="IBM Plex Sans"/>
              </a:defRPr>
            </a:pPr>
            <a:r>
              <a:t>ones.</a:t>
            </a:r>
          </a:p>
        </p:txBody>
      </p:sp>
      <p:sp>
        <p:nvSpPr>
          <p:cNvPr id="15" name="Rectangle 14"/>
          <p:cNvSpPr/>
          <p:nvPr/>
        </p:nvSpPr>
        <p:spPr>
          <a:xfrm>
            <a:off x="3346704" y="2084831"/>
            <a:ext cx="2651760" cy="29626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46704" y="2084831"/>
            <a:ext cx="2651760" cy="32004"/>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9584" y="2267712"/>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02 / NEXT PRIORITY</a:t>
            </a:r>
          </a:p>
        </p:txBody>
      </p:sp>
      <p:sp>
        <p:nvSpPr>
          <p:cNvPr id="18" name="TextBox 17"/>
          <p:cNvSpPr txBox="1"/>
          <p:nvPr/>
        </p:nvSpPr>
        <p:spPr>
          <a:xfrm>
            <a:off x="3529584" y="2606039"/>
            <a:ext cx="2286000" cy="900683"/>
          </a:xfrm>
          <a:prstGeom prst="rect">
            <a:avLst/>
          </a:prstGeom>
          <a:noFill/>
        </p:spPr>
        <p:txBody>
          <a:bodyPr wrap="none" lIns="0" rIns="0" tIns="0" bIns="0">
            <a:spAutoFit/>
          </a:bodyPr>
          <a:lstStyle/>
          <a:p>
            <a:pPr>
              <a:lnSpc>
                <a:spcPts val="3294"/>
              </a:lnSpc>
              <a:spcBef>
                <a:spcPts val="0"/>
              </a:spcBef>
              <a:spcAft>
                <a:spcPts val="0"/>
              </a:spcAft>
              <a:defRPr sz="2700" b="1">
                <a:solidFill>
                  <a:srgbClr val="2E1E43"/>
                </a:solidFill>
                <a:latin typeface="IBM Plex Sans Condensed"/>
              </a:defRPr>
            </a:pPr>
            <a:r>
              <a:t>Confirm the</a:t>
            </a:r>
          </a:p>
          <a:p>
            <a:pPr>
              <a:lnSpc>
                <a:spcPts val="3294"/>
              </a:lnSpc>
              <a:spcBef>
                <a:spcPts val="0"/>
              </a:spcBef>
              <a:spcAft>
                <a:spcPts val="0"/>
              </a:spcAft>
              <a:defRPr sz="2700" b="1">
                <a:solidFill>
                  <a:srgbClr val="2E1E43"/>
                </a:solidFill>
                <a:latin typeface="IBM Plex Sans Condensed"/>
              </a:defRPr>
            </a:pPr>
            <a:r>
              <a:t>cause</a:t>
            </a:r>
          </a:p>
        </p:txBody>
      </p:sp>
      <p:sp>
        <p:nvSpPr>
          <p:cNvPr id="19" name="TextBox 18"/>
          <p:cNvSpPr txBox="1"/>
          <p:nvPr/>
        </p:nvSpPr>
        <p:spPr>
          <a:xfrm>
            <a:off x="3529584" y="3607308"/>
            <a:ext cx="2286000"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People use inspections</a:t>
            </a:r>
          </a:p>
          <a:p>
            <a:pPr>
              <a:lnSpc>
                <a:spcPts val="2074"/>
              </a:lnSpc>
              <a:spcBef>
                <a:spcPts val="0"/>
              </a:spcBef>
              <a:spcAft>
                <a:spcPts val="0"/>
              </a:spcAft>
              <a:defRPr sz="1700" b="0">
                <a:solidFill>
                  <a:srgbClr val="6B5B7D"/>
                </a:solidFill>
                <a:latin typeface="IBM Plex Sans"/>
              </a:defRPr>
            </a:pPr>
            <a:r>
              <a:t>or incident evidence to</a:t>
            </a:r>
          </a:p>
          <a:p>
            <a:pPr>
              <a:lnSpc>
                <a:spcPts val="2074"/>
              </a:lnSpc>
              <a:spcBef>
                <a:spcPts val="0"/>
              </a:spcBef>
              <a:spcAft>
                <a:spcPts val="0"/>
              </a:spcAft>
              <a:defRPr sz="1700" b="0">
                <a:solidFill>
                  <a:srgbClr val="6B5B7D"/>
                </a:solidFill>
                <a:latin typeface="IBM Plex Sans"/>
              </a:defRPr>
            </a:pPr>
            <a:r>
              <a:t>assign reliable labels.</a:t>
            </a:r>
          </a:p>
        </p:txBody>
      </p:sp>
      <p:sp>
        <p:nvSpPr>
          <p:cNvPr id="20" name="Rectangle 19"/>
          <p:cNvSpPr/>
          <p:nvPr/>
        </p:nvSpPr>
        <p:spPr>
          <a:xfrm>
            <a:off x="6190488" y="2084831"/>
            <a:ext cx="2651760" cy="29626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2084831"/>
            <a:ext cx="2651760" cy="32004"/>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2267712"/>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03 / SOFTWARE READY</a:t>
            </a:r>
          </a:p>
        </p:txBody>
      </p:sp>
      <p:sp>
        <p:nvSpPr>
          <p:cNvPr id="23" name="TextBox 22"/>
          <p:cNvSpPr txBox="1"/>
          <p:nvPr/>
        </p:nvSpPr>
        <p:spPr>
          <a:xfrm>
            <a:off x="6373368" y="2606039"/>
            <a:ext cx="2286000" cy="900683"/>
          </a:xfrm>
          <a:prstGeom prst="rect">
            <a:avLst/>
          </a:prstGeom>
          <a:noFill/>
        </p:spPr>
        <p:txBody>
          <a:bodyPr wrap="none" lIns="0" rIns="0" tIns="0" bIns="0">
            <a:spAutoFit/>
          </a:bodyPr>
          <a:lstStyle/>
          <a:p>
            <a:pPr>
              <a:lnSpc>
                <a:spcPts val="3294"/>
              </a:lnSpc>
              <a:spcBef>
                <a:spcPts val="0"/>
              </a:spcBef>
              <a:spcAft>
                <a:spcPts val="0"/>
              </a:spcAft>
              <a:defRPr sz="2700" b="1">
                <a:solidFill>
                  <a:srgbClr val="2E1E43"/>
                </a:solidFill>
                <a:latin typeface="IBM Plex Sans Condensed"/>
              </a:defRPr>
            </a:pPr>
            <a:r>
              <a:t>Teach the</a:t>
            </a:r>
          </a:p>
          <a:p>
            <a:pPr>
              <a:lnSpc>
                <a:spcPts val="3294"/>
              </a:lnSpc>
              <a:spcBef>
                <a:spcPts val="0"/>
              </a:spcBef>
              <a:spcAft>
                <a:spcPts val="0"/>
              </a:spcAft>
              <a:defRPr sz="2700" b="1">
                <a:solidFill>
                  <a:srgbClr val="2E1E43"/>
                </a:solidFill>
                <a:latin typeface="IBM Plex Sans Condensed"/>
              </a:defRPr>
            </a:pPr>
            <a:r>
              <a:t>model</a:t>
            </a:r>
          </a:p>
        </p:txBody>
      </p:sp>
      <p:sp>
        <p:nvSpPr>
          <p:cNvPr id="24" name="TextBox 23"/>
          <p:cNvSpPr txBox="1"/>
          <p:nvPr/>
        </p:nvSpPr>
        <p:spPr>
          <a:xfrm>
            <a:off x="6373368" y="3607308"/>
            <a:ext cx="2286000" cy="1380998"/>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Random Forest learns</a:t>
            </a:r>
          </a:p>
          <a:p>
            <a:pPr>
              <a:lnSpc>
                <a:spcPts val="2074"/>
              </a:lnSpc>
              <a:spcBef>
                <a:spcPts val="0"/>
              </a:spcBef>
              <a:spcAft>
                <a:spcPts val="0"/>
              </a:spcAft>
              <a:defRPr sz="1700" b="0">
                <a:solidFill>
                  <a:srgbClr val="6B5B7D"/>
                </a:solidFill>
                <a:latin typeface="IBM Plex Sans"/>
              </a:defRPr>
            </a:pPr>
            <a:r>
              <a:t>the four event</a:t>
            </a:r>
          </a:p>
          <a:p>
            <a:pPr>
              <a:lnSpc>
                <a:spcPts val="2074"/>
              </a:lnSpc>
              <a:spcBef>
                <a:spcPts val="0"/>
              </a:spcBef>
              <a:spcAft>
                <a:spcPts val="0"/>
              </a:spcAft>
              <a:defRPr sz="1700" b="0">
                <a:solidFill>
                  <a:srgbClr val="6B5B7D"/>
                </a:solidFill>
                <a:latin typeface="IBM Plex Sans"/>
              </a:defRPr>
            </a:pPr>
            <a:r>
              <a:t>categories from</a:t>
            </a:r>
          </a:p>
          <a:p>
            <a:pPr>
              <a:lnSpc>
                <a:spcPts val="2074"/>
              </a:lnSpc>
              <a:spcBef>
                <a:spcPts val="0"/>
              </a:spcBef>
              <a:spcAft>
                <a:spcPts val="0"/>
              </a:spcAft>
              <a:defRPr sz="1700" b="0">
                <a:solidFill>
                  <a:srgbClr val="6B5B7D"/>
                </a:solidFill>
                <a:latin typeface="IBM Plex Sans"/>
              </a:defRPr>
            </a:pPr>
            <a:r>
              <a:t>expert-labeled</a:t>
            </a:r>
          </a:p>
          <a:p>
            <a:pPr>
              <a:lnSpc>
                <a:spcPts val="2074"/>
              </a:lnSpc>
              <a:spcBef>
                <a:spcPts val="0"/>
              </a:spcBef>
              <a:spcAft>
                <a:spcPts val="0"/>
              </a:spcAft>
              <a:defRPr sz="1700" b="0">
                <a:solidFill>
                  <a:srgbClr val="6B5B7D"/>
                </a:solidFill>
                <a:latin typeface="IBM Plex Sans"/>
              </a:defRPr>
            </a:pPr>
            <a:r>
              <a:t>examples.</a:t>
            </a:r>
          </a:p>
        </p:txBody>
      </p:sp>
      <p:sp>
        <p:nvSpPr>
          <p:cNvPr id="25" name="Rectangle 24"/>
          <p:cNvSpPr/>
          <p:nvPr/>
        </p:nvSpPr>
        <p:spPr>
          <a:xfrm>
            <a:off x="9034272" y="2084831"/>
            <a:ext cx="2651760" cy="29626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34272" y="2084831"/>
            <a:ext cx="2651760" cy="32004"/>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17152" y="2267712"/>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04 / BEFORE ROLLOUT</a:t>
            </a:r>
          </a:p>
        </p:txBody>
      </p:sp>
      <p:sp>
        <p:nvSpPr>
          <p:cNvPr id="28" name="TextBox 27"/>
          <p:cNvSpPr txBox="1"/>
          <p:nvPr/>
        </p:nvSpPr>
        <p:spPr>
          <a:xfrm>
            <a:off x="9217152" y="2606039"/>
            <a:ext cx="2286000" cy="900683"/>
          </a:xfrm>
          <a:prstGeom prst="rect">
            <a:avLst/>
          </a:prstGeom>
          <a:noFill/>
        </p:spPr>
        <p:txBody>
          <a:bodyPr wrap="none" lIns="0" rIns="0" tIns="0" bIns="0">
            <a:spAutoFit/>
          </a:bodyPr>
          <a:lstStyle/>
          <a:p>
            <a:pPr>
              <a:lnSpc>
                <a:spcPts val="3294"/>
              </a:lnSpc>
              <a:spcBef>
                <a:spcPts val="0"/>
              </a:spcBef>
              <a:spcAft>
                <a:spcPts val="0"/>
              </a:spcAft>
              <a:defRPr sz="2700" b="1">
                <a:solidFill>
                  <a:srgbClr val="2E1E43"/>
                </a:solidFill>
                <a:latin typeface="IBM Plex Sans Condensed"/>
              </a:defRPr>
            </a:pPr>
            <a:r>
              <a:t>Test new</a:t>
            </a:r>
          </a:p>
          <a:p>
            <a:pPr>
              <a:lnSpc>
                <a:spcPts val="3294"/>
              </a:lnSpc>
              <a:spcBef>
                <a:spcPts val="0"/>
              </a:spcBef>
              <a:spcAft>
                <a:spcPts val="0"/>
              </a:spcAft>
              <a:defRPr sz="2700" b="1">
                <a:solidFill>
                  <a:srgbClr val="2E1E43"/>
                </a:solidFill>
                <a:latin typeface="IBM Plex Sans Condensed"/>
              </a:defRPr>
            </a:pPr>
            <a:r>
              <a:t>events</a:t>
            </a:r>
          </a:p>
        </p:txBody>
      </p:sp>
      <p:sp>
        <p:nvSpPr>
          <p:cNvPr id="29" name="TextBox 28"/>
          <p:cNvSpPr txBox="1"/>
          <p:nvPr/>
        </p:nvSpPr>
        <p:spPr>
          <a:xfrm>
            <a:off x="9217152" y="3607308"/>
            <a:ext cx="2286000"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Check its suggestions</a:t>
            </a:r>
          </a:p>
          <a:p>
            <a:pPr>
              <a:lnSpc>
                <a:spcPts val="2074"/>
              </a:lnSpc>
              <a:spcBef>
                <a:spcPts val="0"/>
              </a:spcBef>
              <a:spcAft>
                <a:spcPts val="0"/>
              </a:spcAft>
              <a:defRPr sz="1700" b="0">
                <a:solidFill>
                  <a:srgbClr val="6B5B7D"/>
                </a:solidFill>
                <a:latin typeface="IBM Plex Sans"/>
              </a:defRPr>
            </a:pPr>
            <a:r>
              <a:t>on events it has never</a:t>
            </a:r>
          </a:p>
          <a:p>
            <a:pPr>
              <a:lnSpc>
                <a:spcPts val="2074"/>
              </a:lnSpc>
              <a:spcBef>
                <a:spcPts val="0"/>
              </a:spcBef>
              <a:spcAft>
                <a:spcPts val="0"/>
              </a:spcAft>
              <a:defRPr sz="1700" b="0">
                <a:solidFill>
                  <a:srgbClr val="6B5B7D"/>
                </a:solidFill>
                <a:latin typeface="IBM Plex Sans"/>
              </a:defRPr>
            </a:pPr>
            <a:r>
              <a:t>seen during training.</a:t>
            </a:r>
          </a:p>
        </p:txBody>
      </p:sp>
      <p:sp>
        <p:nvSpPr>
          <p:cNvPr id="30" name="TextBox 29"/>
          <p:cNvSpPr txBox="1"/>
          <p:nvPr/>
        </p:nvSpPr>
        <p:spPr>
          <a:xfrm>
            <a:off x="704088" y="5394960"/>
            <a:ext cx="2660904" cy="234442"/>
          </a:xfrm>
          <a:prstGeom prst="rect">
            <a:avLst/>
          </a:prstGeom>
          <a:noFill/>
        </p:spPr>
        <p:txBody>
          <a:bodyPr wrap="none" lIns="0" rIns="0" tIns="0" bIns="0">
            <a:spAutoFit/>
          </a:bodyPr>
          <a:lstStyle/>
          <a:p>
            <a:pPr>
              <a:lnSpc>
                <a:spcPts val="1342"/>
              </a:lnSpc>
              <a:spcBef>
                <a:spcPts val="0"/>
              </a:spcBef>
              <a:spcAft>
                <a:spcPts val="0"/>
              </a:spcAft>
              <a:defRPr sz="1100" b="0">
                <a:solidFill>
                  <a:srgbClr val="6D3CAE"/>
                </a:solidFill>
                <a:latin typeface="IBM Plex Mono"/>
              </a:defRPr>
            </a:pPr>
            <a:r>
              <a:t>PILOT EVIDENCE</a:t>
            </a:r>
          </a:p>
        </p:txBody>
      </p:sp>
      <p:sp>
        <p:nvSpPr>
          <p:cNvPr id="31" name="TextBox 30"/>
          <p:cNvSpPr txBox="1"/>
          <p:nvPr/>
        </p:nvSpPr>
        <p:spPr>
          <a:xfrm>
            <a:off x="3520440" y="5285232"/>
            <a:ext cx="7872983"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2E1E43"/>
                </a:solidFill>
                <a:latin typeface="IBM Plex Sans Condensed"/>
              </a:defRPr>
            </a:pPr>
            <a:r>
              <a:t>Discovery exercised on about 15 minutes of real recordings.</a:t>
            </a:r>
          </a:p>
        </p:txBody>
      </p:sp>
      <p:sp>
        <p:nvSpPr>
          <p:cNvPr id="32" name="Rectangle 31"/>
          <p:cNvSpPr/>
          <p:nvPr/>
        </p:nvSpPr>
        <p:spPr>
          <a:xfrm>
            <a:off x="502920" y="5907024"/>
            <a:ext cx="11183112" cy="3566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5907024"/>
            <a:ext cx="32004" cy="356616"/>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6D3CAE"/>
                </a:solidFill>
                <a:latin typeface="IBM Plex Sans"/>
              </a:defRPr>
            </a:pPr>
            <a:r>
              <a:t>Finding an unusual pattern is a way to select examples for review; it does not establish an event class.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EFFA"/>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07 / THE FOUR CATEGORIES</a:t>
            </a:r>
          </a:p>
        </p:txBody>
      </p:sp>
      <p:pic>
        <p:nvPicPr>
          <p:cNvPr id="3" name="Picture 2" descr="ubeconn-supplied-logo.png"/>
          <p:cNvPicPr>
            <a:picLocks noChangeAspect="1"/>
          </p:cNvPicPr>
          <p:nvPr/>
        </p:nvPicPr>
        <p:blipFill>
          <a:blip r:embed="rId2"/>
          <a:stretch>
            <a:fillRect/>
          </a:stretch>
        </p:blipFill>
        <p:spPr>
          <a:xfrm>
            <a:off x="9701784" y="0"/>
            <a:ext cx="2148840" cy="859319"/>
          </a:xfrm>
          <a:prstGeom prst="rect">
            <a:avLst/>
          </a:prstGeom>
        </p:spPr>
      </p:pic>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2E1E43"/>
                </a:solidFill>
                <a:latin typeface="IBM Plex Sans Condensed"/>
              </a:defRPr>
            </a:pPr>
            <a:r>
              <a:t>The goal is to distinguish four types of operation</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6B5B7D"/>
                </a:solidFill>
                <a:latin typeface="IBM Plex Sans"/>
              </a:defRPr>
            </a:pPr>
            <a:r>
              <a:t>Each category needs confirmed examples, including cases that are easy to confuse.</a:t>
            </a:r>
          </a:p>
        </p:txBody>
      </p:sp>
      <p:cxnSp>
        <p:nvCxnSpPr>
          <p:cNvPr id="6" name="Connector 5"/>
          <p:cNvCxnSpPr/>
          <p:nvPr/>
        </p:nvCxnSpPr>
        <p:spPr>
          <a:xfrm>
            <a:off x="502920" y="1810512"/>
            <a:ext cx="11183112" cy="0"/>
          </a:xfrm>
          <a:prstGeom prst="line">
            <a:avLst/>
          </a:prstGeom>
          <a:ln w="13970">
            <a:solidFill>
              <a:srgbClr val="6D3CA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D7C9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6B5B7D"/>
                </a:solidFill>
                <a:latin typeface="IBM Plex Mono"/>
              </a:defRPr>
            </a:pPr>
            <a:r>
              <a:t>TARGET CATEGORIES / classification design; detection performance still to be validated</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6D3CAE"/>
                </a:solidFill>
                <a:latin typeface="IBM Plex Mono"/>
              </a:defRPr>
            </a:pPr>
            <a:r>
              <a:t>UBE / 08</a:t>
            </a:r>
          </a:p>
        </p:txBody>
      </p:sp>
      <p:sp>
        <p:nvSpPr>
          <p:cNvPr id="10" name="Rectangle 9"/>
          <p:cNvSpPr/>
          <p:nvPr/>
        </p:nvSpPr>
        <p:spPr>
          <a:xfrm>
            <a:off x="502920" y="2075688"/>
            <a:ext cx="5486400" cy="1435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2276856"/>
            <a:ext cx="603504" cy="249935"/>
          </a:xfrm>
          <a:prstGeom prst="rect">
            <a:avLst/>
          </a:prstGeom>
          <a:noFill/>
        </p:spPr>
        <p:txBody>
          <a:bodyPr wrap="none" lIns="0" rIns="0" tIns="0" bIns="0">
            <a:spAutoFit/>
          </a:bodyPr>
          <a:lstStyle/>
          <a:p>
            <a:pPr>
              <a:lnSpc>
                <a:spcPts val="1464"/>
              </a:lnSpc>
              <a:spcBef>
                <a:spcPts val="0"/>
              </a:spcBef>
              <a:spcAft>
                <a:spcPts val="0"/>
              </a:spcAft>
              <a:defRPr sz="1200" b="0">
                <a:solidFill>
                  <a:srgbClr val="6D3CAE"/>
                </a:solidFill>
                <a:latin typeface="IBM Plex Mono"/>
              </a:defRPr>
            </a:pPr>
            <a:r>
              <a:t>01</a:t>
            </a:r>
          </a:p>
        </p:txBody>
      </p:sp>
      <p:sp>
        <p:nvSpPr>
          <p:cNvPr id="12" name="TextBox 11"/>
          <p:cNvSpPr txBox="1"/>
          <p:nvPr/>
        </p:nvSpPr>
        <p:spPr>
          <a:xfrm>
            <a:off x="1435608" y="2249424"/>
            <a:ext cx="4315968" cy="482346"/>
          </a:xfrm>
          <a:prstGeom prst="rect">
            <a:avLst/>
          </a:prstGeom>
          <a:noFill/>
        </p:spPr>
        <p:txBody>
          <a:bodyPr wrap="none" lIns="0" rIns="0" tIns="0" bIns="0">
            <a:spAutoFit/>
          </a:bodyPr>
          <a:lstStyle/>
          <a:p>
            <a:pPr>
              <a:lnSpc>
                <a:spcPts val="3294"/>
              </a:lnSpc>
              <a:spcBef>
                <a:spcPts val="0"/>
              </a:spcBef>
              <a:spcAft>
                <a:spcPts val="0"/>
              </a:spcAft>
              <a:defRPr sz="2700" b="1">
                <a:solidFill>
                  <a:srgbClr val="2E1E43"/>
                </a:solidFill>
                <a:latin typeface="IBM Plex Sans Condensed"/>
              </a:defRPr>
            </a:pPr>
            <a:r>
              <a:t>Normal operations</a:t>
            </a:r>
          </a:p>
        </p:txBody>
      </p:sp>
      <p:sp>
        <p:nvSpPr>
          <p:cNvPr id="13" name="TextBox 12"/>
          <p:cNvSpPr txBox="1"/>
          <p:nvPr/>
        </p:nvSpPr>
        <p:spPr>
          <a:xfrm>
            <a:off x="1435608" y="2788920"/>
            <a:ext cx="4279392" cy="590804"/>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Recognise normal cable behaviour,</a:t>
            </a:r>
          </a:p>
          <a:p>
            <a:pPr>
              <a:lnSpc>
                <a:spcPts val="2074"/>
              </a:lnSpc>
              <a:spcBef>
                <a:spcPts val="0"/>
              </a:spcBef>
              <a:spcAft>
                <a:spcPts val="0"/>
              </a:spcAft>
              <a:defRPr sz="1700" b="0">
                <a:solidFill>
                  <a:srgbClr val="6B5B7D"/>
                </a:solidFill>
                <a:latin typeface="IBM Plex Sans"/>
              </a:defRPr>
            </a:pPr>
            <a:r>
              <a:t>including windy conditions.</a:t>
            </a:r>
          </a:p>
        </p:txBody>
      </p:sp>
      <p:sp>
        <p:nvSpPr>
          <p:cNvPr id="14" name="Rectangle 13"/>
          <p:cNvSpPr/>
          <p:nvPr/>
        </p:nvSpPr>
        <p:spPr>
          <a:xfrm>
            <a:off x="6199632" y="2075688"/>
            <a:ext cx="5486400" cy="1435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1656" y="2276856"/>
            <a:ext cx="603504" cy="249935"/>
          </a:xfrm>
          <a:prstGeom prst="rect">
            <a:avLst/>
          </a:prstGeom>
          <a:noFill/>
        </p:spPr>
        <p:txBody>
          <a:bodyPr wrap="none" lIns="0" rIns="0" tIns="0" bIns="0">
            <a:spAutoFit/>
          </a:bodyPr>
          <a:lstStyle/>
          <a:p>
            <a:pPr>
              <a:lnSpc>
                <a:spcPts val="1464"/>
              </a:lnSpc>
              <a:spcBef>
                <a:spcPts val="0"/>
              </a:spcBef>
              <a:spcAft>
                <a:spcPts val="0"/>
              </a:spcAft>
              <a:defRPr sz="1200" b="0">
                <a:solidFill>
                  <a:srgbClr val="6D3CAE"/>
                </a:solidFill>
                <a:latin typeface="IBM Plex Mono"/>
              </a:defRPr>
            </a:pPr>
            <a:r>
              <a:t>02</a:t>
            </a:r>
          </a:p>
        </p:txBody>
      </p:sp>
      <p:sp>
        <p:nvSpPr>
          <p:cNvPr id="16" name="TextBox 15"/>
          <p:cNvSpPr txBox="1"/>
          <p:nvPr/>
        </p:nvSpPr>
        <p:spPr>
          <a:xfrm>
            <a:off x="7132320" y="2249424"/>
            <a:ext cx="4315968" cy="482346"/>
          </a:xfrm>
          <a:prstGeom prst="rect">
            <a:avLst/>
          </a:prstGeom>
          <a:noFill/>
        </p:spPr>
        <p:txBody>
          <a:bodyPr wrap="none" lIns="0" rIns="0" tIns="0" bIns="0">
            <a:spAutoFit/>
          </a:bodyPr>
          <a:lstStyle/>
          <a:p>
            <a:pPr>
              <a:lnSpc>
                <a:spcPts val="3294"/>
              </a:lnSpc>
              <a:spcBef>
                <a:spcPts val="0"/>
              </a:spcBef>
              <a:spcAft>
                <a:spcPts val="0"/>
              </a:spcAft>
              <a:defRPr sz="2700" b="1">
                <a:solidFill>
                  <a:srgbClr val="2E1E43"/>
                </a:solidFill>
                <a:latin typeface="IBM Plex Sans Condensed"/>
              </a:defRPr>
            </a:pPr>
            <a:r>
              <a:t>Ice loading</a:t>
            </a:r>
          </a:p>
        </p:txBody>
      </p:sp>
      <p:sp>
        <p:nvSpPr>
          <p:cNvPr id="17" name="TextBox 16"/>
          <p:cNvSpPr txBox="1"/>
          <p:nvPr/>
        </p:nvSpPr>
        <p:spPr>
          <a:xfrm>
            <a:off x="7132320" y="2788920"/>
            <a:ext cx="4279392" cy="590804"/>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Test for changes associated with</a:t>
            </a:r>
          </a:p>
          <a:p>
            <a:pPr>
              <a:lnSpc>
                <a:spcPts val="2074"/>
              </a:lnSpc>
              <a:spcBef>
                <a:spcPts val="0"/>
              </a:spcBef>
              <a:spcAft>
                <a:spcPts val="0"/>
              </a:spcAft>
              <a:defRPr sz="1700" b="0">
                <a:solidFill>
                  <a:srgbClr val="6B5B7D"/>
                </a:solidFill>
                <a:latin typeface="IBM Plex Sans"/>
              </a:defRPr>
            </a:pPr>
            <a:r>
              <a:t>independently confirmed ice.</a:t>
            </a:r>
          </a:p>
        </p:txBody>
      </p:sp>
      <p:sp>
        <p:nvSpPr>
          <p:cNvPr id="18" name="Rectangle 17"/>
          <p:cNvSpPr/>
          <p:nvPr/>
        </p:nvSpPr>
        <p:spPr>
          <a:xfrm>
            <a:off x="502920" y="3758184"/>
            <a:ext cx="5486400" cy="1435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4944" y="3959352"/>
            <a:ext cx="603504" cy="249935"/>
          </a:xfrm>
          <a:prstGeom prst="rect">
            <a:avLst/>
          </a:prstGeom>
          <a:noFill/>
        </p:spPr>
        <p:txBody>
          <a:bodyPr wrap="none" lIns="0" rIns="0" tIns="0" bIns="0">
            <a:spAutoFit/>
          </a:bodyPr>
          <a:lstStyle/>
          <a:p>
            <a:pPr>
              <a:lnSpc>
                <a:spcPts val="1464"/>
              </a:lnSpc>
              <a:spcBef>
                <a:spcPts val="0"/>
              </a:spcBef>
              <a:spcAft>
                <a:spcPts val="0"/>
              </a:spcAft>
              <a:defRPr sz="1200" b="0">
                <a:solidFill>
                  <a:srgbClr val="6D3CAE"/>
                </a:solidFill>
                <a:latin typeface="IBM Plex Mono"/>
              </a:defRPr>
            </a:pPr>
            <a:r>
              <a:t>03</a:t>
            </a:r>
          </a:p>
        </p:txBody>
      </p:sp>
      <p:sp>
        <p:nvSpPr>
          <p:cNvPr id="20" name="TextBox 19"/>
          <p:cNvSpPr txBox="1"/>
          <p:nvPr/>
        </p:nvSpPr>
        <p:spPr>
          <a:xfrm>
            <a:off x="1435608" y="3931920"/>
            <a:ext cx="4315968" cy="482346"/>
          </a:xfrm>
          <a:prstGeom prst="rect">
            <a:avLst/>
          </a:prstGeom>
          <a:noFill/>
        </p:spPr>
        <p:txBody>
          <a:bodyPr wrap="none" lIns="0" rIns="0" tIns="0" bIns="0">
            <a:spAutoFit/>
          </a:bodyPr>
          <a:lstStyle/>
          <a:p>
            <a:pPr>
              <a:lnSpc>
                <a:spcPts val="3294"/>
              </a:lnSpc>
              <a:spcBef>
                <a:spcPts val="0"/>
              </a:spcBef>
              <a:spcAft>
                <a:spcPts val="0"/>
              </a:spcAft>
              <a:defRPr sz="2700" b="1">
                <a:solidFill>
                  <a:srgbClr val="2E1E43"/>
                </a:solidFill>
                <a:latin typeface="IBM Plex Sans Condensed"/>
              </a:defRPr>
            </a:pPr>
            <a:r>
              <a:t>Wind galloping</a:t>
            </a:r>
          </a:p>
        </p:txBody>
      </p:sp>
      <p:sp>
        <p:nvSpPr>
          <p:cNvPr id="21" name="TextBox 20"/>
          <p:cNvSpPr txBox="1"/>
          <p:nvPr/>
        </p:nvSpPr>
        <p:spPr>
          <a:xfrm>
            <a:off x="1435608" y="4471416"/>
            <a:ext cx="4279392" cy="590804"/>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Recognise sustained cable movement</a:t>
            </a:r>
          </a:p>
          <a:p>
            <a:pPr>
              <a:lnSpc>
                <a:spcPts val="2074"/>
              </a:lnSpc>
              <a:spcBef>
                <a:spcPts val="0"/>
              </a:spcBef>
              <a:spcAft>
                <a:spcPts val="0"/>
              </a:spcAft>
              <a:defRPr sz="1700" b="0">
                <a:solidFill>
                  <a:srgbClr val="6B5B7D"/>
                </a:solidFill>
                <a:latin typeface="IBM Plex Sans"/>
              </a:defRPr>
            </a:pPr>
            <a:r>
              <a:t>confirmed in the field.</a:t>
            </a:r>
          </a:p>
        </p:txBody>
      </p:sp>
      <p:sp>
        <p:nvSpPr>
          <p:cNvPr id="22" name="Rectangle 21"/>
          <p:cNvSpPr/>
          <p:nvPr/>
        </p:nvSpPr>
        <p:spPr>
          <a:xfrm>
            <a:off x="6199632" y="3758184"/>
            <a:ext cx="5486400" cy="1435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1656" y="3959352"/>
            <a:ext cx="603504" cy="249935"/>
          </a:xfrm>
          <a:prstGeom prst="rect">
            <a:avLst/>
          </a:prstGeom>
          <a:noFill/>
        </p:spPr>
        <p:txBody>
          <a:bodyPr wrap="none" lIns="0" rIns="0" tIns="0" bIns="0">
            <a:spAutoFit/>
          </a:bodyPr>
          <a:lstStyle/>
          <a:p>
            <a:pPr>
              <a:lnSpc>
                <a:spcPts val="1464"/>
              </a:lnSpc>
              <a:spcBef>
                <a:spcPts val="0"/>
              </a:spcBef>
              <a:spcAft>
                <a:spcPts val="0"/>
              </a:spcAft>
              <a:defRPr sz="1200" b="0">
                <a:solidFill>
                  <a:srgbClr val="6D3CAE"/>
                </a:solidFill>
                <a:latin typeface="IBM Plex Mono"/>
              </a:defRPr>
            </a:pPr>
            <a:r>
              <a:t>04</a:t>
            </a:r>
          </a:p>
        </p:txBody>
      </p:sp>
      <p:sp>
        <p:nvSpPr>
          <p:cNvPr id="24" name="TextBox 23"/>
          <p:cNvSpPr txBox="1"/>
          <p:nvPr/>
        </p:nvSpPr>
        <p:spPr>
          <a:xfrm>
            <a:off x="7132320" y="3931920"/>
            <a:ext cx="4315968" cy="482346"/>
          </a:xfrm>
          <a:prstGeom prst="rect">
            <a:avLst/>
          </a:prstGeom>
          <a:noFill/>
        </p:spPr>
        <p:txBody>
          <a:bodyPr wrap="none" lIns="0" rIns="0" tIns="0" bIns="0">
            <a:spAutoFit/>
          </a:bodyPr>
          <a:lstStyle/>
          <a:p>
            <a:pPr>
              <a:lnSpc>
                <a:spcPts val="3294"/>
              </a:lnSpc>
              <a:spcBef>
                <a:spcPts val="0"/>
              </a:spcBef>
              <a:spcAft>
                <a:spcPts val="0"/>
              </a:spcAft>
              <a:defRPr sz="2700" b="1">
                <a:solidFill>
                  <a:srgbClr val="2E1E43"/>
                </a:solidFill>
                <a:latin typeface="IBM Plex Sans Condensed"/>
              </a:defRPr>
            </a:pPr>
            <a:r>
              <a:t>External interference</a:t>
            </a:r>
          </a:p>
        </p:txBody>
      </p:sp>
      <p:sp>
        <p:nvSpPr>
          <p:cNvPr id="25" name="TextBox 24"/>
          <p:cNvSpPr txBox="1"/>
          <p:nvPr/>
        </p:nvSpPr>
        <p:spPr>
          <a:xfrm>
            <a:off x="7132320" y="4471416"/>
            <a:ext cx="4279392" cy="590804"/>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Investigate disturbances such as strikes or</a:t>
            </a:r>
          </a:p>
          <a:p>
            <a:pPr>
              <a:lnSpc>
                <a:spcPts val="2074"/>
              </a:lnSpc>
              <a:spcBef>
                <a:spcPts val="0"/>
              </a:spcBef>
              <a:spcAft>
                <a:spcPts val="0"/>
              </a:spcAft>
              <a:defRPr sz="1700" b="0">
                <a:solidFill>
                  <a:srgbClr val="6B5B7D"/>
                </a:solidFill>
                <a:latin typeface="IBM Plex Sans"/>
              </a:defRPr>
            </a:pPr>
            <a:r>
              <a:t>vegetation contact.</a:t>
            </a:r>
          </a:p>
        </p:txBody>
      </p:sp>
      <p:sp>
        <p:nvSpPr>
          <p:cNvPr id="26" name="Rectangle 25"/>
          <p:cNvSpPr/>
          <p:nvPr/>
        </p:nvSpPr>
        <p:spPr>
          <a:xfrm>
            <a:off x="502920" y="5907024"/>
            <a:ext cx="11183112" cy="3566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5907024"/>
            <a:ext cx="32004" cy="356616"/>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6D3CAE"/>
                </a:solidFill>
                <a:latin typeface="IBM Plex Sans"/>
              </a:defRPr>
            </a:pPr>
            <a:r>
              <a:t>A quiet signal is not automatically normal, and cold or humid weather is not proof of 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EFFA"/>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08 / BUILD THE TRAINING DATASET</a:t>
            </a:r>
          </a:p>
        </p:txBody>
      </p:sp>
      <p:pic>
        <p:nvPicPr>
          <p:cNvPr id="3" name="Picture 2" descr="ubeconn-supplied-logo.png"/>
          <p:cNvPicPr>
            <a:picLocks noChangeAspect="1"/>
          </p:cNvPicPr>
          <p:nvPr/>
        </p:nvPicPr>
        <p:blipFill>
          <a:blip r:embed="rId2"/>
          <a:stretch>
            <a:fillRect/>
          </a:stretch>
        </p:blipFill>
        <p:spPr>
          <a:xfrm>
            <a:off x="9701784" y="0"/>
            <a:ext cx="2148840" cy="859319"/>
          </a:xfrm>
          <a:prstGeom prst="rect">
            <a:avLst/>
          </a:prstGeom>
        </p:spPr>
      </p:pic>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2E1E43"/>
                </a:solidFill>
                <a:latin typeface="IBM Plex Sans Condensed"/>
              </a:defRPr>
            </a:pPr>
            <a:r>
              <a:t>Collect confirmed examples of real cable behaviour</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6B5B7D"/>
                </a:solidFill>
                <a:latin typeface="IBM Plex Sans"/>
              </a:defRPr>
            </a:pPr>
            <a:r>
              <a:t>Build a dedicated training dataset from verified recordings and independent field evidence.</a:t>
            </a:r>
          </a:p>
        </p:txBody>
      </p:sp>
      <p:cxnSp>
        <p:nvCxnSpPr>
          <p:cNvPr id="6" name="Connector 5"/>
          <p:cNvCxnSpPr/>
          <p:nvPr/>
        </p:nvCxnSpPr>
        <p:spPr>
          <a:xfrm>
            <a:off x="502920" y="1810512"/>
            <a:ext cx="11183112" cy="0"/>
          </a:xfrm>
          <a:prstGeom prst="line">
            <a:avLst/>
          </a:prstGeom>
          <a:ln w="13970">
            <a:solidFill>
              <a:srgbClr val="6D3CA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D7C9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6B5B7D"/>
                </a:solidFill>
                <a:latin typeface="IBM Plex Mono"/>
              </a:defRPr>
            </a:pPr>
            <a:r>
              <a:t>NEXT PHASE / real recordings, expert labels and independent evaluation</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6D3CAE"/>
                </a:solidFill>
                <a:latin typeface="IBM Plex Mono"/>
              </a:defRPr>
            </a:pPr>
            <a:r>
              <a:t>UBE / 09</a:t>
            </a:r>
          </a:p>
        </p:txBody>
      </p:sp>
      <p:sp>
        <p:nvSpPr>
          <p:cNvPr id="10" name="Rectangle 9"/>
          <p:cNvSpPr/>
          <p:nvPr/>
        </p:nvSpPr>
        <p:spPr>
          <a:xfrm>
            <a:off x="502920" y="2084831"/>
            <a:ext cx="3694176"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2587752"/>
            <a:ext cx="3264408" cy="683767"/>
          </a:xfrm>
          <a:prstGeom prst="rect">
            <a:avLst/>
          </a:prstGeom>
          <a:noFill/>
        </p:spPr>
        <p:txBody>
          <a:bodyPr wrap="none" lIns="0" rIns="0" tIns="0" bIns="0">
            <a:spAutoFit/>
          </a:bodyPr>
          <a:lstStyle/>
          <a:p>
            <a:pPr>
              <a:lnSpc>
                <a:spcPts val="4880"/>
              </a:lnSpc>
              <a:spcBef>
                <a:spcPts val="0"/>
              </a:spcBef>
              <a:spcAft>
                <a:spcPts val="0"/>
              </a:spcAft>
              <a:defRPr sz="4000" b="1">
                <a:solidFill>
                  <a:srgbClr val="6D3CAE"/>
                </a:solidFill>
                <a:latin typeface="IBM Plex Sans Condensed"/>
              </a:defRPr>
            </a:pPr>
            <a:r>
              <a:t>Real data</a:t>
            </a:r>
          </a:p>
        </p:txBody>
      </p:sp>
      <p:sp>
        <p:nvSpPr>
          <p:cNvPr id="12" name="TextBox 11"/>
          <p:cNvSpPr txBox="1"/>
          <p:nvPr/>
        </p:nvSpPr>
        <p:spPr>
          <a:xfrm>
            <a:off x="758952" y="3456432"/>
            <a:ext cx="3218688" cy="497839"/>
          </a:xfrm>
          <a:prstGeom prst="rect">
            <a:avLst/>
          </a:prstGeom>
          <a:noFill/>
        </p:spPr>
        <p:txBody>
          <a:bodyPr wrap="none" lIns="0" rIns="0" tIns="0" bIns="0">
            <a:spAutoFit/>
          </a:bodyPr>
          <a:lstStyle/>
          <a:p>
            <a:pPr>
              <a:lnSpc>
                <a:spcPts val="3415"/>
              </a:lnSpc>
              <a:spcBef>
                <a:spcPts val="0"/>
              </a:spcBef>
              <a:spcAft>
                <a:spcPts val="0"/>
              </a:spcAft>
              <a:defRPr sz="2800" b="1">
                <a:solidFill>
                  <a:srgbClr val="2E1E43"/>
                </a:solidFill>
                <a:latin typeface="IBM Plex Sans Condensed"/>
              </a:defRPr>
            </a:pPr>
            <a:r>
              <a:t>Verified labels</a:t>
            </a:r>
          </a:p>
        </p:txBody>
      </p:sp>
      <p:sp>
        <p:nvSpPr>
          <p:cNvPr id="13" name="TextBox 12"/>
          <p:cNvSpPr txBox="1"/>
          <p:nvPr/>
        </p:nvSpPr>
        <p:spPr>
          <a:xfrm>
            <a:off x="758952" y="4096512"/>
            <a:ext cx="3191256" cy="993648"/>
          </a:xfrm>
          <a:prstGeom prst="rect">
            <a:avLst/>
          </a:prstGeom>
          <a:noFill/>
        </p:spPr>
        <p:txBody>
          <a:bodyPr wrap="none" lIns="0" rIns="0" tIns="0" bIns="0">
            <a:spAutoFit/>
          </a:bodyPr>
          <a:lstStyle/>
          <a:p>
            <a:pPr>
              <a:lnSpc>
                <a:spcPts val="2440"/>
              </a:lnSpc>
              <a:spcBef>
                <a:spcPts val="0"/>
              </a:spcBef>
              <a:spcAft>
                <a:spcPts val="0"/>
              </a:spcAft>
              <a:defRPr sz="2000" b="0">
                <a:solidFill>
                  <a:srgbClr val="6B5B7D"/>
                </a:solidFill>
                <a:latin typeface="IBM Plex Sans"/>
              </a:defRPr>
            </a:pPr>
            <a:r>
              <a:t>A dedicated dataset for</a:t>
            </a:r>
          </a:p>
          <a:p>
            <a:pPr>
              <a:lnSpc>
                <a:spcPts val="2440"/>
              </a:lnSpc>
              <a:spcBef>
                <a:spcPts val="0"/>
              </a:spcBef>
              <a:spcAft>
                <a:spcPts val="0"/>
              </a:spcAft>
              <a:defRPr sz="2000" b="0">
                <a:solidFill>
                  <a:srgbClr val="6B5B7D"/>
                </a:solidFill>
                <a:latin typeface="IBM Plex Sans"/>
              </a:defRPr>
            </a:pPr>
            <a:r>
              <a:t>training and testing the</a:t>
            </a:r>
          </a:p>
          <a:p>
            <a:pPr>
              <a:lnSpc>
                <a:spcPts val="2440"/>
              </a:lnSpc>
              <a:spcBef>
                <a:spcPts val="0"/>
              </a:spcBef>
              <a:spcAft>
                <a:spcPts val="0"/>
              </a:spcAft>
              <a:defRPr sz="2000" b="0">
                <a:solidFill>
                  <a:srgbClr val="6B5B7D"/>
                </a:solidFill>
                <a:latin typeface="IBM Plex Sans"/>
              </a:defRPr>
            </a:pPr>
            <a:r>
              <a:t>classifier.</a:t>
            </a:r>
          </a:p>
        </p:txBody>
      </p:sp>
      <p:sp>
        <p:nvSpPr>
          <p:cNvPr id="14" name="TextBox 13"/>
          <p:cNvSpPr txBox="1"/>
          <p:nvPr/>
        </p:nvSpPr>
        <p:spPr>
          <a:xfrm>
            <a:off x="4599432" y="2240279"/>
            <a:ext cx="612648" cy="265429"/>
          </a:xfrm>
          <a:prstGeom prst="rect">
            <a:avLst/>
          </a:prstGeom>
          <a:noFill/>
        </p:spPr>
        <p:txBody>
          <a:bodyPr wrap="none" lIns="0" rIns="0" tIns="0" bIns="0">
            <a:spAutoFit/>
          </a:bodyPr>
          <a:lstStyle/>
          <a:p>
            <a:pPr>
              <a:lnSpc>
                <a:spcPts val="1586"/>
              </a:lnSpc>
              <a:spcBef>
                <a:spcPts val="0"/>
              </a:spcBef>
              <a:spcAft>
                <a:spcPts val="0"/>
              </a:spcAft>
              <a:defRPr sz="1300" b="0">
                <a:solidFill>
                  <a:srgbClr val="6D3CAE"/>
                </a:solidFill>
                <a:latin typeface="IBM Plex Mono"/>
              </a:defRPr>
            </a:pPr>
            <a:r>
              <a:t>01</a:t>
            </a:r>
          </a:p>
        </p:txBody>
      </p:sp>
      <p:sp>
        <p:nvSpPr>
          <p:cNvPr id="15" name="TextBox 14"/>
          <p:cNvSpPr txBox="1"/>
          <p:nvPr/>
        </p:nvSpPr>
        <p:spPr>
          <a:xfrm>
            <a:off x="5367528" y="2176272"/>
            <a:ext cx="6089904" cy="466852"/>
          </a:xfrm>
          <a:prstGeom prst="rect">
            <a:avLst/>
          </a:prstGeom>
          <a:noFill/>
        </p:spPr>
        <p:txBody>
          <a:bodyPr wrap="none" lIns="0" rIns="0" tIns="0" bIns="0">
            <a:spAutoFit/>
          </a:bodyPr>
          <a:lstStyle/>
          <a:p>
            <a:pPr>
              <a:lnSpc>
                <a:spcPts val="3172"/>
              </a:lnSpc>
              <a:spcBef>
                <a:spcPts val="0"/>
              </a:spcBef>
              <a:spcAft>
                <a:spcPts val="0"/>
              </a:spcAft>
              <a:defRPr sz="2600" b="1">
                <a:solidFill>
                  <a:srgbClr val="2E1E43"/>
                </a:solidFill>
                <a:latin typeface="IBM Plex Sans Condensed"/>
              </a:defRPr>
            </a:pPr>
            <a:r>
              <a:t>Match the evidence</a:t>
            </a:r>
          </a:p>
        </p:txBody>
      </p:sp>
      <p:sp>
        <p:nvSpPr>
          <p:cNvPr id="16" name="TextBox 15"/>
          <p:cNvSpPr txBox="1"/>
          <p:nvPr/>
        </p:nvSpPr>
        <p:spPr>
          <a:xfrm>
            <a:off x="5376672" y="2642615"/>
            <a:ext cx="6062472" cy="342900"/>
          </a:xfrm>
          <a:prstGeom prst="rect">
            <a:avLst/>
          </a:prstGeom>
          <a:noFill/>
        </p:spPr>
        <p:txBody>
          <a:bodyPr wrap="none" lIns="0" rIns="0" tIns="0" bIns="0">
            <a:spAutoFit/>
          </a:bodyPr>
          <a:lstStyle/>
          <a:p>
            <a:pPr>
              <a:lnSpc>
                <a:spcPts val="2196"/>
              </a:lnSpc>
              <a:spcBef>
                <a:spcPts val="0"/>
              </a:spcBef>
              <a:spcAft>
                <a:spcPts val="0"/>
              </a:spcAft>
              <a:defRPr sz="1800" b="0">
                <a:solidFill>
                  <a:srgbClr val="6B5B7D"/>
                </a:solidFill>
                <a:latin typeface="IBM Plex Sans"/>
              </a:defRPr>
            </a:pPr>
            <a:r>
              <a:t>Confirm when and where a recording belongs.</a:t>
            </a:r>
          </a:p>
        </p:txBody>
      </p:sp>
      <p:sp>
        <p:nvSpPr>
          <p:cNvPr id="17" name="TextBox 16"/>
          <p:cNvSpPr txBox="1"/>
          <p:nvPr/>
        </p:nvSpPr>
        <p:spPr>
          <a:xfrm>
            <a:off x="4599432" y="3319271"/>
            <a:ext cx="612648" cy="265429"/>
          </a:xfrm>
          <a:prstGeom prst="rect">
            <a:avLst/>
          </a:prstGeom>
          <a:noFill/>
        </p:spPr>
        <p:txBody>
          <a:bodyPr wrap="none" lIns="0" rIns="0" tIns="0" bIns="0">
            <a:spAutoFit/>
          </a:bodyPr>
          <a:lstStyle/>
          <a:p>
            <a:pPr>
              <a:lnSpc>
                <a:spcPts val="1586"/>
              </a:lnSpc>
              <a:spcBef>
                <a:spcPts val="0"/>
              </a:spcBef>
              <a:spcAft>
                <a:spcPts val="0"/>
              </a:spcAft>
              <a:defRPr sz="1300" b="0">
                <a:solidFill>
                  <a:srgbClr val="6D3CAE"/>
                </a:solidFill>
                <a:latin typeface="IBM Plex Mono"/>
              </a:defRPr>
            </a:pPr>
            <a:r>
              <a:t>02</a:t>
            </a:r>
          </a:p>
        </p:txBody>
      </p:sp>
      <p:sp>
        <p:nvSpPr>
          <p:cNvPr id="18" name="TextBox 17"/>
          <p:cNvSpPr txBox="1"/>
          <p:nvPr/>
        </p:nvSpPr>
        <p:spPr>
          <a:xfrm>
            <a:off x="5367528" y="3255263"/>
            <a:ext cx="6089904" cy="466852"/>
          </a:xfrm>
          <a:prstGeom prst="rect">
            <a:avLst/>
          </a:prstGeom>
          <a:noFill/>
        </p:spPr>
        <p:txBody>
          <a:bodyPr wrap="none" lIns="0" rIns="0" tIns="0" bIns="0">
            <a:spAutoFit/>
          </a:bodyPr>
          <a:lstStyle/>
          <a:p>
            <a:pPr>
              <a:lnSpc>
                <a:spcPts val="3172"/>
              </a:lnSpc>
              <a:spcBef>
                <a:spcPts val="0"/>
              </a:spcBef>
              <a:spcAft>
                <a:spcPts val="0"/>
              </a:spcAft>
              <a:defRPr sz="2600" b="1">
                <a:solidFill>
                  <a:srgbClr val="2E1E43"/>
                </a:solidFill>
                <a:latin typeface="IBM Plex Sans Condensed"/>
              </a:defRPr>
            </a:pPr>
            <a:r>
              <a:t>Verify the cause</a:t>
            </a:r>
          </a:p>
        </p:txBody>
      </p:sp>
      <p:sp>
        <p:nvSpPr>
          <p:cNvPr id="19" name="TextBox 18"/>
          <p:cNvSpPr txBox="1"/>
          <p:nvPr/>
        </p:nvSpPr>
        <p:spPr>
          <a:xfrm>
            <a:off x="5376672" y="3721607"/>
            <a:ext cx="6062472" cy="342900"/>
          </a:xfrm>
          <a:prstGeom prst="rect">
            <a:avLst/>
          </a:prstGeom>
          <a:noFill/>
        </p:spPr>
        <p:txBody>
          <a:bodyPr wrap="none" lIns="0" rIns="0" tIns="0" bIns="0">
            <a:spAutoFit/>
          </a:bodyPr>
          <a:lstStyle/>
          <a:p>
            <a:pPr>
              <a:lnSpc>
                <a:spcPts val="2196"/>
              </a:lnSpc>
              <a:spcBef>
                <a:spcPts val="0"/>
              </a:spcBef>
              <a:spcAft>
                <a:spcPts val="0"/>
              </a:spcAft>
              <a:defRPr sz="1800" b="0">
                <a:solidFill>
                  <a:srgbClr val="6B5B7D"/>
                </a:solidFill>
                <a:latin typeface="IBM Plex Sans"/>
              </a:defRPr>
            </a:pPr>
            <a:r>
              <a:t>Use inspections, cameras or reliable incident reports.</a:t>
            </a:r>
          </a:p>
        </p:txBody>
      </p:sp>
      <p:sp>
        <p:nvSpPr>
          <p:cNvPr id="20" name="TextBox 19"/>
          <p:cNvSpPr txBox="1"/>
          <p:nvPr/>
        </p:nvSpPr>
        <p:spPr>
          <a:xfrm>
            <a:off x="4599432" y="4398264"/>
            <a:ext cx="612648" cy="265429"/>
          </a:xfrm>
          <a:prstGeom prst="rect">
            <a:avLst/>
          </a:prstGeom>
          <a:noFill/>
        </p:spPr>
        <p:txBody>
          <a:bodyPr wrap="none" lIns="0" rIns="0" tIns="0" bIns="0">
            <a:spAutoFit/>
          </a:bodyPr>
          <a:lstStyle/>
          <a:p>
            <a:pPr>
              <a:lnSpc>
                <a:spcPts val="1586"/>
              </a:lnSpc>
              <a:spcBef>
                <a:spcPts val="0"/>
              </a:spcBef>
              <a:spcAft>
                <a:spcPts val="0"/>
              </a:spcAft>
              <a:defRPr sz="1300" b="0">
                <a:solidFill>
                  <a:srgbClr val="6D3CAE"/>
                </a:solidFill>
                <a:latin typeface="IBM Plex Mono"/>
              </a:defRPr>
            </a:pPr>
            <a:r>
              <a:t>03</a:t>
            </a:r>
          </a:p>
        </p:txBody>
      </p:sp>
      <p:sp>
        <p:nvSpPr>
          <p:cNvPr id="21" name="TextBox 20"/>
          <p:cNvSpPr txBox="1"/>
          <p:nvPr/>
        </p:nvSpPr>
        <p:spPr>
          <a:xfrm>
            <a:off x="5367528" y="4334256"/>
            <a:ext cx="6089904" cy="466852"/>
          </a:xfrm>
          <a:prstGeom prst="rect">
            <a:avLst/>
          </a:prstGeom>
          <a:noFill/>
        </p:spPr>
        <p:txBody>
          <a:bodyPr wrap="none" lIns="0" rIns="0" tIns="0" bIns="0">
            <a:spAutoFit/>
          </a:bodyPr>
          <a:lstStyle/>
          <a:p>
            <a:pPr>
              <a:lnSpc>
                <a:spcPts val="3172"/>
              </a:lnSpc>
              <a:spcBef>
                <a:spcPts val="0"/>
              </a:spcBef>
              <a:spcAft>
                <a:spcPts val="0"/>
              </a:spcAft>
              <a:defRPr sz="2600" b="1">
                <a:solidFill>
                  <a:srgbClr val="2E1E43"/>
                </a:solidFill>
                <a:latin typeface="IBM Plex Sans Condensed"/>
              </a:defRPr>
            </a:pPr>
            <a:r>
              <a:t>Include normal operation</a:t>
            </a:r>
          </a:p>
        </p:txBody>
      </p:sp>
      <p:sp>
        <p:nvSpPr>
          <p:cNvPr id="22" name="TextBox 21"/>
          <p:cNvSpPr txBox="1"/>
          <p:nvPr/>
        </p:nvSpPr>
        <p:spPr>
          <a:xfrm>
            <a:off x="5376672" y="4800600"/>
            <a:ext cx="6062472" cy="342900"/>
          </a:xfrm>
          <a:prstGeom prst="rect">
            <a:avLst/>
          </a:prstGeom>
          <a:noFill/>
        </p:spPr>
        <p:txBody>
          <a:bodyPr wrap="none" lIns="0" rIns="0" tIns="0" bIns="0">
            <a:spAutoFit/>
          </a:bodyPr>
          <a:lstStyle/>
          <a:p>
            <a:pPr>
              <a:lnSpc>
                <a:spcPts val="2196"/>
              </a:lnSpc>
              <a:spcBef>
                <a:spcPts val="0"/>
              </a:spcBef>
              <a:spcAft>
                <a:spcPts val="0"/>
              </a:spcAft>
              <a:defRPr sz="1800" b="0">
                <a:solidFill>
                  <a:srgbClr val="6B5B7D"/>
                </a:solidFill>
                <a:latin typeface="IBM Plex Sans"/>
              </a:defRPr>
            </a:pPr>
            <a:r>
              <a:t>Teach the model what ordinary conditions look like.</a:t>
            </a:r>
          </a:p>
        </p:txBody>
      </p:sp>
      <p:sp>
        <p:nvSpPr>
          <p:cNvPr id="23" name="Rectangle 22"/>
          <p:cNvSpPr/>
          <p:nvPr/>
        </p:nvSpPr>
        <p:spPr>
          <a:xfrm>
            <a:off x="502920" y="5907024"/>
            <a:ext cx="11183112" cy="3566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5907024"/>
            <a:ext cx="32004" cy="356616"/>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6D3CAE"/>
                </a:solidFill>
                <a:latin typeface="IBM Plex Sans"/>
              </a:defRPr>
            </a:pPr>
            <a:r>
              <a:t>The most valuable next asset is a small, trustworthy set of examples that can grow over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EFFA"/>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09 / NEXT STEPS</a:t>
            </a:r>
          </a:p>
        </p:txBody>
      </p:sp>
      <p:pic>
        <p:nvPicPr>
          <p:cNvPr id="3" name="Picture 2" descr="ubeconn-supplied-logo.png"/>
          <p:cNvPicPr>
            <a:picLocks noChangeAspect="1"/>
          </p:cNvPicPr>
          <p:nvPr/>
        </p:nvPicPr>
        <p:blipFill>
          <a:blip r:embed="rId2"/>
          <a:stretch>
            <a:fillRect/>
          </a:stretch>
        </p:blipFill>
        <p:spPr>
          <a:xfrm>
            <a:off x="9701784" y="0"/>
            <a:ext cx="2148840" cy="859319"/>
          </a:xfrm>
          <a:prstGeom prst="rect">
            <a:avLst/>
          </a:prstGeom>
        </p:spPr>
      </p:pic>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2E1E43"/>
                </a:solidFill>
                <a:latin typeface="IBM Plex Sans Condensed"/>
              </a:defRPr>
            </a:pPr>
            <a:r>
              <a:t>Start with verified examples, then classify with oversight</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6B5B7D"/>
                </a:solidFill>
                <a:latin typeface="IBM Plex Sans"/>
              </a:defRPr>
            </a:pPr>
            <a:r>
              <a:t>A short sequence takes the project from the current platform to useful event suggestions.</a:t>
            </a:r>
          </a:p>
        </p:txBody>
      </p:sp>
      <p:cxnSp>
        <p:nvCxnSpPr>
          <p:cNvPr id="6" name="Connector 5"/>
          <p:cNvCxnSpPr/>
          <p:nvPr/>
        </p:nvCxnSpPr>
        <p:spPr>
          <a:xfrm>
            <a:off x="502920" y="1810512"/>
            <a:ext cx="11183112" cy="0"/>
          </a:xfrm>
          <a:prstGeom prst="line">
            <a:avLst/>
          </a:prstGeom>
          <a:ln w="13970">
            <a:solidFill>
              <a:srgbClr val="6D3CA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D7C9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6B5B7D"/>
                </a:solidFill>
                <a:latin typeface="IBM Plex Mono"/>
              </a:defRPr>
            </a:pPr>
            <a:r>
              <a:t>PROPOSED NEXT STEPS / scope, owners and acceptance targets to be agreed</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6D3CAE"/>
                </a:solidFill>
                <a:latin typeface="IBM Plex Mono"/>
              </a:defRPr>
            </a:pPr>
            <a:r>
              <a:t>UBE / 10</a:t>
            </a:r>
          </a:p>
        </p:txBody>
      </p:sp>
      <p:sp>
        <p:nvSpPr>
          <p:cNvPr id="10" name="Rectangle 9"/>
          <p:cNvSpPr/>
          <p:nvPr/>
        </p:nvSpPr>
        <p:spPr>
          <a:xfrm>
            <a:off x="502920" y="2103120"/>
            <a:ext cx="2651760"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103120"/>
            <a:ext cx="2651760" cy="32004"/>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86000"/>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STEP 1</a:t>
            </a:r>
          </a:p>
        </p:txBody>
      </p:sp>
      <p:sp>
        <p:nvSpPr>
          <p:cNvPr id="13" name="TextBox 12"/>
          <p:cNvSpPr txBox="1"/>
          <p:nvPr/>
        </p:nvSpPr>
        <p:spPr>
          <a:xfrm>
            <a:off x="685800" y="2624327"/>
            <a:ext cx="2286000" cy="466852"/>
          </a:xfrm>
          <a:prstGeom prst="rect">
            <a:avLst/>
          </a:prstGeom>
          <a:noFill/>
        </p:spPr>
        <p:txBody>
          <a:bodyPr wrap="none" lIns="0" rIns="0" tIns="0" bIns="0">
            <a:spAutoFit/>
          </a:bodyPr>
          <a:lstStyle/>
          <a:p>
            <a:pPr>
              <a:lnSpc>
                <a:spcPts val="3172"/>
              </a:lnSpc>
              <a:spcBef>
                <a:spcPts val="0"/>
              </a:spcBef>
              <a:spcAft>
                <a:spcPts val="0"/>
              </a:spcAft>
              <a:defRPr sz="2600" b="1">
                <a:solidFill>
                  <a:srgbClr val="2E1E43"/>
                </a:solidFill>
                <a:latin typeface="IBM Plex Sans Condensed"/>
              </a:defRPr>
            </a:pPr>
            <a:r>
              <a:t>Select and align</a:t>
            </a:r>
          </a:p>
        </p:txBody>
      </p:sp>
      <p:sp>
        <p:nvSpPr>
          <p:cNvPr id="14" name="TextBox 13"/>
          <p:cNvSpPr txBox="1"/>
          <p:nvPr/>
        </p:nvSpPr>
        <p:spPr>
          <a:xfrm>
            <a:off x="685800" y="3191764"/>
            <a:ext cx="2286000" cy="1117600"/>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Choose pilot</a:t>
            </a:r>
          </a:p>
          <a:p>
            <a:pPr>
              <a:lnSpc>
                <a:spcPts val="2074"/>
              </a:lnSpc>
              <a:spcBef>
                <a:spcPts val="0"/>
              </a:spcBef>
              <a:spcAft>
                <a:spcPts val="0"/>
              </a:spcAft>
              <a:defRPr sz="1700" b="0">
                <a:solidFill>
                  <a:srgbClr val="6B5B7D"/>
                </a:solidFill>
                <a:latin typeface="IBM Plex Sans"/>
              </a:defRPr>
            </a:pPr>
            <a:r>
              <a:t>recordings and verify</a:t>
            </a:r>
          </a:p>
          <a:p>
            <a:pPr>
              <a:lnSpc>
                <a:spcPts val="2074"/>
              </a:lnSpc>
              <a:spcBef>
                <a:spcPts val="0"/>
              </a:spcBef>
              <a:spcAft>
                <a:spcPts val="0"/>
              </a:spcAft>
              <a:defRPr sz="1700" b="0">
                <a:solidFill>
                  <a:srgbClr val="6B5B7D"/>
                </a:solidFill>
                <a:latin typeface="IBM Plex Sans"/>
              </a:defRPr>
            </a:pPr>
            <a:r>
              <a:t>time, place and</a:t>
            </a:r>
          </a:p>
          <a:p>
            <a:pPr>
              <a:lnSpc>
                <a:spcPts val="2074"/>
              </a:lnSpc>
              <a:spcBef>
                <a:spcPts val="0"/>
              </a:spcBef>
              <a:spcAft>
                <a:spcPts val="0"/>
              </a:spcAft>
              <a:defRPr sz="1700" b="0">
                <a:solidFill>
                  <a:srgbClr val="6B5B7D"/>
                </a:solidFill>
                <a:latin typeface="IBM Plex Sans"/>
              </a:defRPr>
            </a:pPr>
            <a:r>
              <a:t>weather.</a:t>
            </a:r>
          </a:p>
        </p:txBody>
      </p:sp>
      <p:sp>
        <p:nvSpPr>
          <p:cNvPr id="15" name="Rectangle 14"/>
          <p:cNvSpPr/>
          <p:nvPr/>
        </p:nvSpPr>
        <p:spPr>
          <a:xfrm>
            <a:off x="3346704" y="2103120"/>
            <a:ext cx="2651760"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46704" y="2103120"/>
            <a:ext cx="2651760" cy="32004"/>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9584" y="2286000"/>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STEP 2</a:t>
            </a:r>
          </a:p>
        </p:txBody>
      </p:sp>
      <p:sp>
        <p:nvSpPr>
          <p:cNvPr id="18" name="TextBox 17"/>
          <p:cNvSpPr txBox="1"/>
          <p:nvPr/>
        </p:nvSpPr>
        <p:spPr>
          <a:xfrm>
            <a:off x="3529584" y="2624327"/>
            <a:ext cx="2286000" cy="869695"/>
          </a:xfrm>
          <a:prstGeom prst="rect">
            <a:avLst/>
          </a:prstGeom>
          <a:noFill/>
        </p:spPr>
        <p:txBody>
          <a:bodyPr wrap="none" lIns="0" rIns="0" tIns="0" bIns="0">
            <a:spAutoFit/>
          </a:bodyPr>
          <a:lstStyle/>
          <a:p>
            <a:pPr>
              <a:lnSpc>
                <a:spcPts val="3172"/>
              </a:lnSpc>
              <a:spcBef>
                <a:spcPts val="0"/>
              </a:spcBef>
              <a:spcAft>
                <a:spcPts val="0"/>
              </a:spcAft>
              <a:defRPr sz="2600" b="1">
                <a:solidFill>
                  <a:srgbClr val="2E1E43"/>
                </a:solidFill>
                <a:latin typeface="IBM Plex Sans Condensed"/>
              </a:defRPr>
            </a:pPr>
            <a:r>
              <a:t>Confirm the</a:t>
            </a:r>
          </a:p>
          <a:p>
            <a:pPr>
              <a:lnSpc>
                <a:spcPts val="3172"/>
              </a:lnSpc>
              <a:spcBef>
                <a:spcPts val="0"/>
              </a:spcBef>
              <a:spcAft>
                <a:spcPts val="0"/>
              </a:spcAft>
              <a:defRPr sz="2600" b="1">
                <a:solidFill>
                  <a:srgbClr val="2E1E43"/>
                </a:solidFill>
                <a:latin typeface="IBM Plex Sans Condensed"/>
              </a:defRPr>
            </a:pPr>
            <a:r>
              <a:t>labels</a:t>
            </a:r>
          </a:p>
        </p:txBody>
      </p:sp>
      <p:sp>
        <p:nvSpPr>
          <p:cNvPr id="19" name="TextBox 18"/>
          <p:cNvSpPr txBox="1"/>
          <p:nvPr/>
        </p:nvSpPr>
        <p:spPr>
          <a:xfrm>
            <a:off x="3529584" y="3594608"/>
            <a:ext cx="2286000"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Have experts review</a:t>
            </a:r>
          </a:p>
          <a:p>
            <a:pPr>
              <a:lnSpc>
                <a:spcPts val="2074"/>
              </a:lnSpc>
              <a:spcBef>
                <a:spcPts val="0"/>
              </a:spcBef>
              <a:spcAft>
                <a:spcPts val="0"/>
              </a:spcAft>
              <a:defRPr sz="1700" b="0">
                <a:solidFill>
                  <a:srgbClr val="6B5B7D"/>
                </a:solidFill>
                <a:latin typeface="IBM Plex Sans"/>
              </a:defRPr>
            </a:pPr>
            <a:r>
              <a:t>examples of all four</a:t>
            </a:r>
          </a:p>
          <a:p>
            <a:pPr>
              <a:lnSpc>
                <a:spcPts val="2074"/>
              </a:lnSpc>
              <a:spcBef>
                <a:spcPts val="0"/>
              </a:spcBef>
              <a:spcAft>
                <a:spcPts val="0"/>
              </a:spcAft>
              <a:defRPr sz="1700" b="0">
                <a:solidFill>
                  <a:srgbClr val="6B5B7D"/>
                </a:solidFill>
                <a:latin typeface="IBM Plex Sans"/>
              </a:defRPr>
            </a:pPr>
            <a:r>
              <a:t>categories.</a:t>
            </a:r>
          </a:p>
        </p:txBody>
      </p:sp>
      <p:sp>
        <p:nvSpPr>
          <p:cNvPr id="20" name="Rectangle 19"/>
          <p:cNvSpPr/>
          <p:nvPr/>
        </p:nvSpPr>
        <p:spPr>
          <a:xfrm>
            <a:off x="6190488" y="2103120"/>
            <a:ext cx="2651760"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2103120"/>
            <a:ext cx="2651760" cy="32004"/>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2286000"/>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STEP 3</a:t>
            </a:r>
          </a:p>
        </p:txBody>
      </p:sp>
      <p:sp>
        <p:nvSpPr>
          <p:cNvPr id="23" name="TextBox 22"/>
          <p:cNvSpPr txBox="1"/>
          <p:nvPr/>
        </p:nvSpPr>
        <p:spPr>
          <a:xfrm>
            <a:off x="6373368" y="2624327"/>
            <a:ext cx="2286000" cy="466852"/>
          </a:xfrm>
          <a:prstGeom prst="rect">
            <a:avLst/>
          </a:prstGeom>
          <a:noFill/>
        </p:spPr>
        <p:txBody>
          <a:bodyPr wrap="none" lIns="0" rIns="0" tIns="0" bIns="0">
            <a:spAutoFit/>
          </a:bodyPr>
          <a:lstStyle/>
          <a:p>
            <a:pPr>
              <a:lnSpc>
                <a:spcPts val="3172"/>
              </a:lnSpc>
              <a:spcBef>
                <a:spcPts val="0"/>
              </a:spcBef>
              <a:spcAft>
                <a:spcPts val="0"/>
              </a:spcAft>
              <a:defRPr sz="2600" b="1">
                <a:solidFill>
                  <a:srgbClr val="2E1E43"/>
                </a:solidFill>
                <a:latin typeface="IBM Plex Sans Condensed"/>
              </a:defRPr>
            </a:pPr>
            <a:r>
              <a:t>Train and test</a:t>
            </a:r>
          </a:p>
        </p:txBody>
      </p:sp>
      <p:sp>
        <p:nvSpPr>
          <p:cNvPr id="24" name="TextBox 23"/>
          <p:cNvSpPr txBox="1"/>
          <p:nvPr/>
        </p:nvSpPr>
        <p:spPr>
          <a:xfrm>
            <a:off x="6373368" y="3191764"/>
            <a:ext cx="2286000"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Measure correct</a:t>
            </a:r>
          </a:p>
          <a:p>
            <a:pPr>
              <a:lnSpc>
                <a:spcPts val="2074"/>
              </a:lnSpc>
              <a:spcBef>
                <a:spcPts val="0"/>
              </a:spcBef>
              <a:spcAft>
                <a:spcPts val="0"/>
              </a:spcAft>
              <a:defRPr sz="1700" b="0">
                <a:solidFill>
                  <a:srgbClr val="6B5B7D"/>
                </a:solidFill>
                <a:latin typeface="IBM Plex Sans"/>
              </a:defRPr>
            </a:pPr>
            <a:r>
              <a:t>classifications, missed</a:t>
            </a:r>
          </a:p>
          <a:p>
            <a:pPr>
              <a:lnSpc>
                <a:spcPts val="2074"/>
              </a:lnSpc>
              <a:spcBef>
                <a:spcPts val="0"/>
              </a:spcBef>
              <a:spcAft>
                <a:spcPts val="0"/>
              </a:spcAft>
              <a:defRPr sz="1700" b="0">
                <a:solidFill>
                  <a:srgbClr val="6B5B7D"/>
                </a:solidFill>
                <a:latin typeface="IBM Plex Sans"/>
              </a:defRPr>
            </a:pPr>
            <a:r>
              <a:t>events and false alerts.</a:t>
            </a:r>
          </a:p>
        </p:txBody>
      </p:sp>
      <p:sp>
        <p:nvSpPr>
          <p:cNvPr id="25" name="Rectangle 24"/>
          <p:cNvSpPr/>
          <p:nvPr/>
        </p:nvSpPr>
        <p:spPr>
          <a:xfrm>
            <a:off x="9034272" y="2103120"/>
            <a:ext cx="2651760"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34272" y="2103120"/>
            <a:ext cx="2651760" cy="32004"/>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17152" y="2286000"/>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6D3CAE"/>
                </a:solidFill>
                <a:latin typeface="IBM Plex Mono"/>
              </a:defRPr>
            </a:pPr>
            <a:r>
              <a:t>STEP 4</a:t>
            </a:r>
          </a:p>
        </p:txBody>
      </p:sp>
      <p:sp>
        <p:nvSpPr>
          <p:cNvPr id="28" name="TextBox 27"/>
          <p:cNvSpPr txBox="1"/>
          <p:nvPr/>
        </p:nvSpPr>
        <p:spPr>
          <a:xfrm>
            <a:off x="9217152" y="2624327"/>
            <a:ext cx="2286000" cy="466852"/>
          </a:xfrm>
          <a:prstGeom prst="rect">
            <a:avLst/>
          </a:prstGeom>
          <a:noFill/>
        </p:spPr>
        <p:txBody>
          <a:bodyPr wrap="none" lIns="0" rIns="0" tIns="0" bIns="0">
            <a:spAutoFit/>
          </a:bodyPr>
          <a:lstStyle/>
          <a:p>
            <a:pPr>
              <a:lnSpc>
                <a:spcPts val="3172"/>
              </a:lnSpc>
              <a:spcBef>
                <a:spcPts val="0"/>
              </a:spcBef>
              <a:spcAft>
                <a:spcPts val="0"/>
              </a:spcAft>
              <a:defRPr sz="2600" b="1">
                <a:solidFill>
                  <a:srgbClr val="2E1E43"/>
                </a:solidFill>
                <a:latin typeface="IBM Plex Sans Condensed"/>
              </a:defRPr>
            </a:pPr>
            <a:r>
              <a:t>Use with review</a:t>
            </a:r>
          </a:p>
        </p:txBody>
      </p:sp>
      <p:sp>
        <p:nvSpPr>
          <p:cNvPr id="29" name="TextBox 28"/>
          <p:cNvSpPr txBox="1"/>
          <p:nvPr/>
        </p:nvSpPr>
        <p:spPr>
          <a:xfrm>
            <a:off x="9217152" y="3191764"/>
            <a:ext cx="2286000" cy="1117600"/>
          </a:xfrm>
          <a:prstGeom prst="rect">
            <a:avLst/>
          </a:prstGeom>
          <a:noFill/>
        </p:spPr>
        <p:txBody>
          <a:bodyPr wrap="none" lIns="0" rIns="0" tIns="0" bIns="0">
            <a:spAutoFit/>
          </a:bodyPr>
          <a:lstStyle/>
          <a:p>
            <a:pPr>
              <a:lnSpc>
                <a:spcPts val="2074"/>
              </a:lnSpc>
              <a:spcBef>
                <a:spcPts val="0"/>
              </a:spcBef>
              <a:spcAft>
                <a:spcPts val="0"/>
              </a:spcAft>
              <a:defRPr sz="1700" b="0">
                <a:solidFill>
                  <a:srgbClr val="6B5B7D"/>
                </a:solidFill>
                <a:latin typeface="IBM Plex Sans"/>
              </a:defRPr>
            </a:pPr>
            <a:r>
              <a:t>Pilot model</a:t>
            </a:r>
          </a:p>
          <a:p>
            <a:pPr>
              <a:lnSpc>
                <a:spcPts val="2074"/>
              </a:lnSpc>
              <a:spcBef>
                <a:spcPts val="0"/>
              </a:spcBef>
              <a:spcAft>
                <a:spcPts val="0"/>
              </a:spcAft>
              <a:defRPr sz="1700" b="0">
                <a:solidFill>
                  <a:srgbClr val="6B5B7D"/>
                </a:solidFill>
                <a:latin typeface="IBM Plex Sans"/>
              </a:defRPr>
            </a:pPr>
            <a:r>
              <a:t>suggestions while</a:t>
            </a:r>
          </a:p>
          <a:p>
            <a:pPr>
              <a:lnSpc>
                <a:spcPts val="2074"/>
              </a:lnSpc>
              <a:spcBef>
                <a:spcPts val="0"/>
              </a:spcBef>
              <a:spcAft>
                <a:spcPts val="0"/>
              </a:spcAft>
              <a:defRPr sz="1700" b="0">
                <a:solidFill>
                  <a:srgbClr val="6B5B7D"/>
                </a:solidFill>
                <a:latin typeface="IBM Plex Sans"/>
              </a:defRPr>
            </a:pPr>
            <a:r>
              <a:t>people check the</a:t>
            </a:r>
          </a:p>
          <a:p>
            <a:pPr>
              <a:lnSpc>
                <a:spcPts val="2074"/>
              </a:lnSpc>
              <a:spcBef>
                <a:spcPts val="0"/>
              </a:spcBef>
              <a:spcAft>
                <a:spcPts val="0"/>
              </a:spcAft>
              <a:defRPr sz="1700" b="0">
                <a:solidFill>
                  <a:srgbClr val="6B5B7D"/>
                </a:solidFill>
                <a:latin typeface="IBM Plex Sans"/>
              </a:defRPr>
            </a:pPr>
            <a:r>
              <a:t>results.</a:t>
            </a:r>
          </a:p>
        </p:txBody>
      </p:sp>
      <p:sp>
        <p:nvSpPr>
          <p:cNvPr id="30" name="Rectangle 29"/>
          <p:cNvSpPr/>
          <p:nvPr/>
        </p:nvSpPr>
        <p:spPr>
          <a:xfrm>
            <a:off x="502920" y="5239512"/>
            <a:ext cx="11183112" cy="429768"/>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 y="5330952"/>
            <a:ext cx="10762488" cy="327405"/>
          </a:xfrm>
          <a:prstGeom prst="rect">
            <a:avLst/>
          </a:prstGeom>
          <a:noFill/>
        </p:spPr>
        <p:txBody>
          <a:bodyPr wrap="none" lIns="0" rIns="0" tIns="0" bIns="0">
            <a:spAutoFit/>
          </a:bodyPr>
          <a:lstStyle/>
          <a:p>
            <a:pPr>
              <a:lnSpc>
                <a:spcPts val="2074"/>
              </a:lnSpc>
              <a:spcBef>
                <a:spcPts val="0"/>
              </a:spcBef>
              <a:spcAft>
                <a:spcPts val="0"/>
              </a:spcAft>
              <a:defRPr sz="1700" b="1">
                <a:solidFill>
                  <a:srgbClr val="FFFFFF"/>
                </a:solidFill>
                <a:latin typeface="IBM Plex Sans"/>
              </a:defRPr>
            </a:pPr>
            <a:r>
              <a:t>FIRST MILESTONE: an expert-reviewed dataset with evidence for every label.</a:t>
            </a:r>
          </a:p>
        </p:txBody>
      </p:sp>
      <p:sp>
        <p:nvSpPr>
          <p:cNvPr id="32" name="Rectangle 31"/>
          <p:cNvSpPr/>
          <p:nvPr/>
        </p:nvSpPr>
        <p:spPr>
          <a:xfrm>
            <a:off x="502920" y="5907024"/>
            <a:ext cx="11183112" cy="3566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5907024"/>
            <a:ext cx="32004" cy="356616"/>
          </a:xfrm>
          <a:prstGeom prst="rect">
            <a:avLst/>
          </a:prstGeom>
          <a:solidFill>
            <a:srgbClr val="754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6D3CAE"/>
                </a:solidFill>
                <a:latin typeface="IBM Plex Sans"/>
              </a:defRPr>
            </a:pPr>
            <a:r>
              <a:t>Management focus: agree the pilot scope and assign a field-review owner to build the first labeled dataset.</a:t>
            </a:r>
          </a:p>
        </p:txBody>
      </p:sp>
    </p:spTree>
  </p:cSld>
  <p:clrMapOvr>
    <a:masterClrMapping/>
  </p:clrMapOvr>
</p:sld>
</file>

<file path=ppt/theme/theme1.xml><?xml version="1.0" encoding="utf-8"?>
<a:theme xmlns:a="http://schemas.openxmlformats.org/drawingml/2006/main" name="Office Theme">
  <a:themeElements>
    <a:clrScheme name="Ubeconn">
      <a:dk1>
        <a:srgbClr val="2E1E43"/>
      </a:dk1>
      <a:lt1>
        <a:srgbClr val="F4EFFA"/>
      </a:lt1>
      <a:dk2>
        <a:srgbClr val="6B5B7D"/>
      </a:dk2>
      <a:lt2>
        <a:srgbClr val="FFFFFF"/>
      </a:lt2>
      <a:accent1>
        <a:srgbClr val="7548BA"/>
      </a:accent1>
      <a:accent2>
        <a:srgbClr val="6D3CAE"/>
      </a:accent2>
      <a:accent3>
        <a:srgbClr val="9764C3"/>
      </a:accent3>
      <a:accent4>
        <a:srgbClr val="D7C9E8"/>
      </a:accent4>
      <a:accent5>
        <a:srgbClr val="BAA2DC"/>
      </a:accent5>
      <a:accent6>
        <a:srgbClr val="EAE0F4"/>
      </a:accent6>
      <a:hlink>
        <a:srgbClr val="6D3CAE"/>
      </a:hlink>
      <a:folHlink>
        <a:srgbClr val="9764C3"/>
      </a:folHlink>
    </a:clrScheme>
    <a:fontScheme name="Office">
      <a:majorFont>
        <a:latin typeface="IBM Plex Sans Condense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Ubeconn AS | Cable intelligence — executive project review</dc:title>
  <dc:subject>Project progress, technical evidence and proposed validation roadmap</dc:subject>
  <dc:creator>Ubeconn AS</dc:creator>
  <cp:keywords>Ubeconn, DAS, cable monitoring, executive review, September 2026</cp:keywords>
  <dc:description>Editable slide content. Source details and caveats are in speaker notes.</dc:description>
  <cp:lastModifiedBy>Steve Canny</cp:lastModifiedBy>
  <cp:revision>1</cp:revision>
  <dcterms:created xsi:type="dcterms:W3CDTF">2013-01-27T09:14:16Z</dcterms:created>
  <dcterms:modified xsi:type="dcterms:W3CDTF">2013-01-27T09:15:58Z</dcterms:modified>
  <cp:category/>
</cp:coreProperties>
</file>
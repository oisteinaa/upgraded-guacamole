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Audience: technically informed executives and project stakeholders. This presentation describes the repository and recorded project evidence as of 16 September 2026. It is not a claim of a production rollout or certified event detection. Future phases are proposed, with no approved budget or delivery dates implied.</a:t>
            </a:r>
          </a:p>
          <a:p/>
          <a:p>
            <a:r>
              <a:t>Sources: PROJECT SNAPSHOT / 16 SEP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are the recorded 16 September 2026 snapshot, not a fresh server query. Existing 115,847 legacy events are unclassified threshold records. The 575 connections are inferred. New investigation tables and review writes are local; server class and asset migrations were previously applied.</a:t>
            </a:r>
          </a:p>
          <a:p/>
          <a:p>
            <a:r>
              <a:t>Sources: SOURCES / docs/map-app.md · docs/masts.md · docs/event-ml.md · recorded DB snapshot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DAS means distributed acoustic sensing. A channel is a spatial sample along the monitored fibre. The target classes are not the RMS/variance metric identifiers in the database. Vegetation strikes are a candidate subtype of External Interference, not an implemented dedicated classifier. Ice mass, load and displacement cannot be inferred without calibration and ground truth.</a:t>
            </a:r>
          </a:p>
          <a:p/>
          <a:p>
            <a:r>
              <a:t>Sources: SOURCES / AGENTS.md · docs/event-ml.md; operational outcomes are project goals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React/TypeScript, MapLibre and Plotly form the frontend. FastAPI serves PostgreSQL metadata and bounded HDF5 slices. Capture accepts completed-file notifications and publishes atomic file-backed snapshots. Replay is implemented and explicitly labeled. Live operation requires independently verified acquisition time and channel mapping; notification support is not evidence of field validation. No complete raw signal array is posted as an in-memory global.</a:t>
            </a:r>
          </a:p>
          <a:p/>
          <a:p>
            <a:r>
              <a:t>Sources: SOURCES / docs/map-app.md · src/Mapui/{api,signals,metrics,live}.py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Diagram generated directly from imported mast coordinates, ordered by route_position; links are illustrative inferred connections, not the actual fibre path. Route names come from the mast workbook inventory, not conflicting event-limit gids. R13 lacks M38. R06 M184–M188 lie 17.5–498.5 m from the endpoint channel; R14 M1 is about 30.1 m away. All other imported masts are within 10 m. Seven water-crossing candidates are unconfirmed and all installation types remain unknown.</a:t>
            </a:r>
          </a:p>
          <a:p/>
          <a:p>
            <a:r>
              <a:t>Sources: SOURCES / results/masts/masts.csv · results/masts/spans.csv · docs/masts.md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Unmodified screenshot of the current local application. Its Nord styling and legacy Sensnet label are retained as implementation evidence; the presentation introduces Ubeconn branding separately. The recording shown is an independent archive example, not a verified window for historical events. Map attribution is retained within the screenshot. Basemap: OpenFreeMap / OpenMapTiles / OpenStreetMap. Local review identities are self-reported; authentication is a deployment task.</a:t>
            </a:r>
          </a:p>
          <a:p/>
          <a:p>
            <a:r>
              <a:t>Sources: SOURCE / .local/screenshots/overview.png · docs/map-app.md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app applies header dataScale and preserves explicit header channel IDs. Fixed ten-second frames make map metrics independent of display zoom. AC RMS and absolute peak remove the window mean; band RMS integrates Welch power, with exploratory default 1–10 Hz; variance uses squared units. Display reduction retains actual extrema. Current example recordings resolve 17,010 exact positions and 8,224 bounded coordinate interpolations. Two channels outside the stored mapping remain unlocated. No signal values are interpolated or channel IDs shifted.</a:t>
            </a:r>
          </a:p>
          <a:p/>
          <a:p>
            <a:r>
              <a:t>Sources: SOURCES / docs/map-app.md · docs/channel-mapping.md · src/Mapui/metrics.py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115,847 records span 22 April–2 June 2025 and are all RMS metric events with NULL class in the inspected snapshot. Their comments do not match current threshold names, so the legacy location join cannot resolve them. Current channel metadata is dated 16 April 2026. Example archive headers suggest 16 June 2026 but original acquisition-time interpretation remains unverified. A 2026 recording cannot be attached to a 2025 event merely for visual completeness. NULL means unclassified, never normal.</a:t>
            </a:r>
          </a:p>
          <a:p/>
          <a:p>
            <a:r>
              <a:t>Sources: SOURCES / AGENTS.md · docs/map-app.md · docs/event-ml.md · .local/verification.json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Stored variables are air temperature, wind speed and wind direction at Kråkern Bru and Leknes. These are collected YR forecast values, not necessarily direct measurements. The current collector uses database-default collection timestamps rather than verified forecast-validity times. The local UI only uses past rows relative to the stored event time and displays missing/stale context; this does not independently verify the original acquisition alignment. Add humidity with explicit lookup semantics, units, collector support and missing-value handling. Do not assume numeric type 4 means humidity.</a:t>
            </a:r>
          </a:p>
          <a:p/>
          <a:p>
            <a:r>
              <a:t>Sources: SOURCES / src/weather/weather_capture.py · docs/map-app.md · docs/event-discovery.md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Pilot inputs: 90 approximately ten-second files, 25,236 channels, roughly 15 minutes of archive data. Fifteen 60-second temporal windows × 16 spatial blocks × 32 channels per block produce 240 feature rows. Six exploratory clusters have populations 45, 12, 23, 131, 7, 22 for IDs 0–5. Initial run 37.849 seconds, resume 0.288 seconds; max RSS 164300 KiB = approximately 160.4 MiB. Resumed feature output had identical SHA-256. These are one recorded run, not general performance guarantees. No weather join was enabled; timestamps and locations were unverified. Scores are review priorities, not class probabilities.</a:t>
            </a:r>
          </a:p>
          <a:p/>
          <a:p>
            <a:r>
              <a:t>Sources: SOURCES / results/das-discovery-pilot-20260916/{summary,pilot-validation}.json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trained supervised model or measured field accuracy is supplied. The offline baseline uses stored input values, while discovery and map analysis apply dataScale; preprocessing must be reconciled before model reuse. At least three independent groups per class are a code-level validation minimum, not sufficient field evidence. Group related windows by session or incident to avoid leakage. Hold out sites, seasons and incidents. Current output probabilities are uncalibrated, and the default 0.7 review threshold is not an approved operating point. The single-label model cannot describe simultaneous ice and galloping.</a:t>
            </a:r>
          </a:p>
          <a:p/>
          <a:p>
            <a:r>
              <a:t>Sources: SOURCE / docs/event-ml.md · src/Capture/event_ml.py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documentation records 58 Python tests passed, a successful production frontend build, desktop/mobile browser checks with no page errors, save/reload/history checks, and three recordings published as archive replay on 16 September 2026. These checks were not rerun for this presentation and do not establish a live field deployment. Asset migrations 001–003 were previously applied to the server. Investigation migration 004 is in the local clone only; production deployment is not included.</a:t>
            </a:r>
          </a:p>
          <a:p/>
          <a:p>
            <a:r>
              <a:t>Sources: SOURCES / docs/map-app.md · docs/event-ml.md · docs/masts.md · recorded pilot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execution sequence, not an approved schedule. Workstreams can overlap when dependencies are satisfied. Ice-related validation depends on observing representative conditions, so calendar promises would be premature. Agree accountable owners and gate criteria before execution. Phase 1 includes resolving legacy mapping conflicts and an explicit preprocessing contract; phase 2 adds humidity and source-validity timestamps; phase 3 validates on independent incidents; phase 4 begins in shadow mode with human review.</a:t>
            </a:r>
          </a:p>
          <a:p/>
          <a:p>
            <a:r>
              <a:t>Sources: PROPOSAL / grounded in the documented project limitations and deployment prerequisites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performance by class and condition with sample counts and uncertainty. Evaluate at incident level, not only window level. False alerts should be reported per monitored route-day or another agreed coverage unit. Acquisition-to-alert latency must distinguish acquisition time from publication and processing time. Location error requires verified physical events. Measure missing data and unavailable coverage. Pair technical results with review burden, useful findings and independently verified outcomes; avoided costs remain unproven.</a:t>
            </a:r>
          </a:p>
          <a:p/>
          <a:p>
            <a:r>
              <a:t>Sources: PROPOSAL / validation plan; no performance results or target commitments implied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Current local deployment uses loopback, a local database copy, same-origin write checks and self-reported reviewer names. Production requires authenticated identities, suitable authorization, a restricted database role, reviewed migration 004 and deliberate service enablement. Supervisor templates default autostart=false. Proposed reliability work includes retention planning, backup/restore tests, health monitoring and integration-specific alert delivery. Incident aggregation should preserve source file/sample/channel evidence, distinguish a candidate from a sustained incident and support review/closure.</a:t>
            </a:r>
          </a:p>
          <a:p/>
          <a:p>
            <a:r>
              <a:t>Sources: SOURCES / docs/map-app.md deployment boundary · docs/event-ml.md next steps; extensions proposed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investment amount, commercial claim, customer commitment or staffing assignment is implied. Proposed decisions: select representative pilot routes and field access; assign data, domain-review and operations accountability; approve acceptance measures and production prerequisites. The concrete deliverable is a verified evidence pack plus held-out results and an operational acceptance decision. Data capture should include quiet normal operation, windy normal operation and independently verified target incidents. Seasonal or rare conditions may require a longer observation period.</a:t>
            </a:r>
          </a:p>
          <a:p/>
          <a:p>
            <a:r>
              <a:t>Sources: PROPOSAL / scope, resources, target values and schedule to be agreed by Ubeconn 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precedence: current implementation documentation and artifacts supersede older architecture descriptions in AGENTS.md. Specifically the capture pipeline now uses file-backed snapshots and the main application is FastAPI + React rather than the retired Dash contract. Snapshot counts are historical observations, not refreshed server queries. No database, application or production configuration was changed to create this presentation. Roadmap and acceptance slides are proposals.</a:t>
            </a:r>
          </a:p>
          <a:p/>
          <a:p>
            <a:r>
              <a:t>Sources: COMPILED / 16 SEP 2026 · repository working tree and recorded project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logo is intentionally a plain lowercase white wordmark. The colours are a proposed Ubeconn palette inspired by ube flesh, not a standardized botanical colour reference. Background: deep plum #1D1429. Panel #2B1E3A. Primary ube #9D6BD0. Accent lavender #CFADF0. Text #F6F0FC. Plain logo #FFFFFF. IBM Plex Sans is body text, IBM Plex Sans Condensed bold is for headings, IBM Plex Mono is for labels. Fonts are supplied under the included SIL Open Font License. PowerPoint text remains editable; the PDF is a font-stable companion.</a:t>
            </a:r>
          </a:p>
          <a:p/>
          <a:p>
            <a:r>
              <a:t>Sources: BRAND ASSETS / white vector wordmark + transparent PNG + IBM Plex fonts (OFL)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UBECONN AS / EXECUTIVE PROJECT REVIEW</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From fibre signals to cable intelligence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Distributed acoustic sensing for cable monitoring • Project status and proposed next steps</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PROJECT SNAPSHOT / 16 SEP 2026</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01</a:t>
            </a:r>
          </a:p>
        </p:txBody>
      </p:sp>
      <p:sp>
        <p:nvSpPr>
          <p:cNvPr id="10" name="Rectangle 9"/>
          <p:cNvSpPr/>
          <p:nvPr/>
        </p:nvSpPr>
        <p:spPr>
          <a:xfrm>
            <a:off x="502920" y="2039112"/>
            <a:ext cx="5715000" cy="361188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404872"/>
            <a:ext cx="5212080" cy="1055624"/>
          </a:xfrm>
          <a:prstGeom prst="rect">
            <a:avLst/>
          </a:prstGeom>
          <a:noFill/>
        </p:spPr>
        <p:txBody>
          <a:bodyPr wrap="none" lIns="0" rIns="0" tIns="0" bIns="0">
            <a:spAutoFit/>
          </a:bodyPr>
          <a:lstStyle/>
          <a:p>
            <a:pPr>
              <a:lnSpc>
                <a:spcPts val="3904"/>
              </a:lnSpc>
              <a:spcBef>
                <a:spcPts val="0"/>
              </a:spcBef>
              <a:spcAft>
                <a:spcPts val="0"/>
              </a:spcAft>
              <a:defRPr sz="3200" b="1">
                <a:solidFill>
                  <a:srgbClr val="F6F0FC"/>
                </a:solidFill>
                <a:latin typeface="IBM Plex Sans Condensed"/>
              </a:defRPr>
            </a:pPr>
            <a:r>
              <a:t>SEE THE SIGNAL.</a:t>
            </a:r>
          </a:p>
          <a:p>
            <a:pPr>
              <a:lnSpc>
                <a:spcPts val="3904"/>
              </a:lnSpc>
              <a:spcBef>
                <a:spcPts val="0"/>
              </a:spcBef>
              <a:spcAft>
                <a:spcPts val="0"/>
              </a:spcAft>
              <a:defRPr sz="3200" b="1">
                <a:solidFill>
                  <a:srgbClr val="F6F0FC"/>
                </a:solidFill>
                <a:latin typeface="IBM Plex Sans Condensed"/>
              </a:defRPr>
            </a:pPr>
            <a:r>
              <a:t>UNDERSTAND THE EVENT.</a:t>
            </a:r>
          </a:p>
        </p:txBody>
      </p:sp>
      <p:sp>
        <p:nvSpPr>
          <p:cNvPr id="12" name="TextBox 11"/>
          <p:cNvSpPr txBox="1"/>
          <p:nvPr/>
        </p:nvSpPr>
        <p:spPr>
          <a:xfrm>
            <a:off x="804672" y="4014215"/>
            <a:ext cx="4965192" cy="1040130"/>
          </a:xfrm>
          <a:prstGeom prst="rect">
            <a:avLst/>
          </a:prstGeom>
          <a:noFill/>
        </p:spPr>
        <p:txBody>
          <a:bodyPr wrap="none" lIns="0" rIns="0" tIns="0" bIns="0">
            <a:spAutoFit/>
          </a:bodyPr>
          <a:lstStyle/>
          <a:p>
            <a:pPr>
              <a:lnSpc>
                <a:spcPts val="2562"/>
              </a:lnSpc>
              <a:spcBef>
                <a:spcPts val="0"/>
              </a:spcBef>
              <a:spcAft>
                <a:spcPts val="0"/>
              </a:spcAft>
              <a:defRPr sz="2100" b="0">
                <a:solidFill>
                  <a:srgbClr val="BAA9CB"/>
                </a:solidFill>
                <a:latin typeface="IBM Plex Sans"/>
              </a:defRPr>
            </a:pPr>
            <a:r>
              <a:t>A traceable path from DAS recordings to</a:t>
            </a:r>
          </a:p>
          <a:p>
            <a:pPr>
              <a:lnSpc>
                <a:spcPts val="2562"/>
              </a:lnSpc>
              <a:spcBef>
                <a:spcPts val="0"/>
              </a:spcBef>
              <a:spcAft>
                <a:spcPts val="0"/>
              </a:spcAft>
              <a:defRPr sz="2100" b="0">
                <a:solidFill>
                  <a:srgbClr val="BAA9CB"/>
                </a:solidFill>
                <a:latin typeface="IBM Plex Sans"/>
              </a:defRPr>
            </a:pPr>
            <a:r>
              <a:t>mapped evidence, expert review and</a:t>
            </a:r>
          </a:p>
          <a:p>
            <a:pPr>
              <a:lnSpc>
                <a:spcPts val="2562"/>
              </a:lnSpc>
              <a:spcBef>
                <a:spcPts val="0"/>
              </a:spcBef>
              <a:spcAft>
                <a:spcPts val="0"/>
              </a:spcAft>
              <a:defRPr sz="2100" b="0">
                <a:solidFill>
                  <a:srgbClr val="BAA9CB"/>
                </a:solidFill>
                <a:latin typeface="IBM Plex Sans"/>
              </a:defRPr>
            </a:pPr>
            <a:r>
              <a:t>validated alerts.</a:t>
            </a:r>
          </a:p>
        </p:txBody>
      </p:sp>
      <p:sp>
        <p:nvSpPr>
          <p:cNvPr id="13" name="TextBox 12"/>
          <p:cNvSpPr txBox="1"/>
          <p:nvPr/>
        </p:nvSpPr>
        <p:spPr>
          <a:xfrm>
            <a:off x="804672" y="5239512"/>
            <a:ext cx="512064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BUILD &gt; VERIFY &gt; LEARN &gt; OPERATE</a:t>
            </a:r>
          </a:p>
        </p:txBody>
      </p:sp>
      <p:cxnSp>
        <p:nvCxnSpPr>
          <p:cNvPr id="14" name="Connector 13"/>
          <p:cNvCxnSpPr/>
          <p:nvPr/>
        </p:nvCxnSpPr>
        <p:spPr>
          <a:xfrm flipH="1">
            <a:off x="8082956" y="3714076"/>
            <a:ext cx="9018" cy="85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a:off x="8072615" y="3714930"/>
            <a:ext cx="10341" cy="98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8062358" y="3715912"/>
            <a:ext cx="10257" cy="97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8054144" y="3715905"/>
            <a:ext cx="8214" cy="98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8045496" y="3714874"/>
            <a:ext cx="8648" cy="103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8037079" y="3713871"/>
            <a:ext cx="8417" cy="100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8026721" y="3712637"/>
            <a:ext cx="10358" cy="123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8016213" y="3711385"/>
            <a:ext cx="10508" cy="125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8007429" y="3710340"/>
            <a:ext cx="8784" cy="104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7998456" y="3709272"/>
            <a:ext cx="8973" cy="106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7978644" y="3703010"/>
            <a:ext cx="19812" cy="626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7965286" y="3698790"/>
            <a:ext cx="13358" cy="422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958506" y="3696649"/>
            <a:ext cx="6780" cy="214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7950424" y="3694096"/>
            <a:ext cx="8082" cy="255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7939526" y="3690656"/>
            <a:ext cx="10898" cy="344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7931275" y="3688051"/>
            <a:ext cx="8251" cy="260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7926044" y="3686399"/>
            <a:ext cx="5231" cy="165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7914703" y="3682820"/>
            <a:ext cx="11341" cy="357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7899559" y="3674006"/>
            <a:ext cx="15144" cy="881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7887662" y="3674006"/>
            <a:ext cx="11897" cy="26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7881458" y="3674269"/>
            <a:ext cx="6204" cy="371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7871146" y="3677983"/>
            <a:ext cx="10312" cy="617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7859318" y="3684157"/>
            <a:ext cx="11828" cy="708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7853302" y="3691241"/>
            <a:ext cx="6016" cy="470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7845227" y="3695950"/>
            <a:ext cx="8075" cy="632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7839125" y="3702274"/>
            <a:ext cx="6102" cy="477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7831068" y="3707052"/>
            <a:ext cx="8057" cy="630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7824632" y="3713361"/>
            <a:ext cx="6436" cy="504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7816296" y="3718401"/>
            <a:ext cx="8336" cy="653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7808285" y="3724932"/>
            <a:ext cx="8011" cy="627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7801185" y="3731208"/>
            <a:ext cx="7100" cy="556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7786877" y="3736772"/>
            <a:ext cx="14308" cy="1121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7781345" y="3747985"/>
            <a:ext cx="5532" cy="433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7777216" y="3752320"/>
            <a:ext cx="4129" cy="323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7773216" y="3755556"/>
            <a:ext cx="4000" cy="313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7768548" y="3758691"/>
            <a:ext cx="4668" cy="321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7762914" y="3761907"/>
            <a:ext cx="5634" cy="388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7753248" y="3765790"/>
            <a:ext cx="9666" cy="666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7746140" y="3772452"/>
            <a:ext cx="7108" cy="489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7740362" y="3777350"/>
            <a:ext cx="5778" cy="398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7739251" y="3781332"/>
            <a:ext cx="1111" cy="285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7735772" y="3784184"/>
            <a:ext cx="3479" cy="893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7732282" y="3793117"/>
            <a:ext cx="3490" cy="896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7590926" y="3802079"/>
            <a:ext cx="141356" cy="8487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7584005" y="3886958"/>
            <a:ext cx="6921" cy="342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7574784" y="3890381"/>
            <a:ext cx="9221" cy="456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7567984" y="3894943"/>
            <a:ext cx="6800" cy="336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7561245" y="3898306"/>
            <a:ext cx="6739" cy="333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7553215" y="3901642"/>
            <a:ext cx="8030" cy="397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7541773" y="3905615"/>
            <a:ext cx="11442" cy="566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7532542" y="3911277"/>
            <a:ext cx="9231" cy="456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7522413" y="3915842"/>
            <a:ext cx="10129" cy="249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7512014" y="3918334"/>
            <a:ext cx="10399" cy="256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7502361" y="3920894"/>
            <a:ext cx="9653" cy="237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7492535" y="3923270"/>
            <a:ext cx="9826" cy="241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7484233" y="3925689"/>
            <a:ext cx="8302" cy="204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7473131" y="3927734"/>
            <a:ext cx="11102" cy="273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7465932" y="3930468"/>
            <a:ext cx="7199" cy="223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7459735" y="3932703"/>
            <a:ext cx="6197" cy="192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7453210" y="3934628"/>
            <a:ext cx="6525" cy="123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439170" y="3935861"/>
            <a:ext cx="14040" cy="265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7427424" y="3938517"/>
            <a:ext cx="11746" cy="222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7416634" y="3940739"/>
            <a:ext cx="10790" cy="204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7402892" y="3942781"/>
            <a:ext cx="13742" cy="260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7397725" y="3945382"/>
            <a:ext cx="5167" cy="885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7392392" y="3954240"/>
            <a:ext cx="5333" cy="914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7387975" y="3963382"/>
            <a:ext cx="4417" cy="757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7383943" y="3970955"/>
            <a:ext cx="4032" cy="691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7375035" y="3977869"/>
            <a:ext cx="8908" cy="603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7367440" y="3983904"/>
            <a:ext cx="7595" cy="514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7359874" y="3989050"/>
            <a:ext cx="7566" cy="512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7352161" y="3994175"/>
            <a:ext cx="7713" cy="522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7348525" y="3999403"/>
            <a:ext cx="3636" cy="1205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7346288" y="4011457"/>
            <a:ext cx="2237" cy="741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7344026" y="4018870"/>
            <a:ext cx="2262" cy="750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7341228" y="4026373"/>
            <a:ext cx="2798" cy="927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7338325" y="4035649"/>
            <a:ext cx="2903" cy="962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7335121" y="4045275"/>
            <a:ext cx="3204" cy="1062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7332397" y="4055900"/>
            <a:ext cx="2724" cy="903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7321915" y="4064937"/>
            <a:ext cx="10482" cy="742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7312939" y="4072360"/>
            <a:ext cx="8976" cy="635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7304397" y="4078718"/>
            <a:ext cx="8542" cy="605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7295996" y="4084769"/>
            <a:ext cx="8401" cy="595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7290560" y="4090722"/>
            <a:ext cx="5436" cy="385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7281932" y="4094573"/>
            <a:ext cx="8628" cy="148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7159265" y="4096054"/>
            <a:ext cx="122667" cy="7074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7153171" y="4166794"/>
            <a:ext cx="6094" cy="2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7144210" y="4166820"/>
            <a:ext cx="8961" cy="4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7133118" y="4166861"/>
            <a:ext cx="11092" cy="4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7124837" y="4166909"/>
            <a:ext cx="8281" cy="3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7114988" y="4166948"/>
            <a:ext cx="9849" cy="4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7107420" y="4166992"/>
            <a:ext cx="7568" cy="62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7097080" y="4167619"/>
            <a:ext cx="10340" cy="85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7081654" y="4168475"/>
            <a:ext cx="15426" cy="127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a:off x="7074172" y="4169753"/>
            <a:ext cx="7482" cy="62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a:off x="7057871" y="4170374"/>
            <a:ext cx="16301" cy="135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a:off x="7048088" y="4171727"/>
            <a:ext cx="9783" cy="81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a:off x="7039014" y="4172539"/>
            <a:ext cx="9074" cy="75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a:off x="7027627" y="4173294"/>
            <a:ext cx="11387" cy="454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a:off x="7018621" y="4177839"/>
            <a:ext cx="9006" cy="359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7005347" y="4181436"/>
            <a:ext cx="13274" cy="529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7000195" y="4186735"/>
            <a:ext cx="5152" cy="866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6995164" y="4195404"/>
            <a:ext cx="5031" cy="846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6990294" y="4203866"/>
            <a:ext cx="4870" cy="819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6985499" y="4212060"/>
            <a:ext cx="4795" cy="806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6980208" y="4220128"/>
            <a:ext cx="5291" cy="804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6975148" y="4228169"/>
            <a:ext cx="5060" cy="769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6968826" y="4235860"/>
            <a:ext cx="6322" cy="961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6962406" y="4245470"/>
            <a:ext cx="6420" cy="976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6954996" y="4255230"/>
            <a:ext cx="7410" cy="1126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a:off x="6948512" y="4266498"/>
            <a:ext cx="6484" cy="985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a:off x="6942184" y="4276354"/>
            <a:ext cx="6328" cy="962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6942184" y="4285979"/>
            <a:ext cx="233" cy="1277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6942417" y="4298752"/>
            <a:ext cx="230" cy="1263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6942647" y="4311383"/>
            <a:ext cx="4329" cy="759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6946976" y="4318973"/>
            <a:ext cx="3696" cy="648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6950672" y="4325460"/>
            <a:ext cx="4130" cy="724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6954802" y="4332703"/>
            <a:ext cx="4386" cy="970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6959188" y="4342404"/>
            <a:ext cx="4125" cy="912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6963313" y="4351529"/>
            <a:ext cx="5698" cy="1260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6969011" y="4364132"/>
            <a:ext cx="230" cy="1092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6969241" y="4375053"/>
            <a:ext cx="188" cy="890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6969429" y="4383962"/>
            <a:ext cx="257" cy="1226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6969686" y="4396226"/>
            <a:ext cx="204" cy="961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a:off x="6969890" y="4405843"/>
            <a:ext cx="276" cy="1310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a:off x="6970166" y="4418944"/>
            <a:ext cx="397" cy="1893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a:off x="6970563" y="4437883"/>
            <a:ext cx="82" cy="778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a:off x="6962487" y="4445667"/>
            <a:ext cx="8158" cy="1258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6957548" y="4458253"/>
            <a:ext cx="4939" cy="762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6952247" y="4465875"/>
            <a:ext cx="5301" cy="818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6947058" y="4474055"/>
            <a:ext cx="5189" cy="800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6942932" y="4482063"/>
            <a:ext cx="4126" cy="636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6938425" y="4488431"/>
            <a:ext cx="4507" cy="458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6931247" y="4493020"/>
            <a:ext cx="7178" cy="731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a:off x="6927445" y="4500334"/>
            <a:ext cx="3802" cy="387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a:off x="6916176" y="4504206"/>
            <a:ext cx="11269" cy="466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6905168" y="4508870"/>
            <a:ext cx="11008" cy="455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a:off x="6902001" y="4513424"/>
            <a:ext cx="3167" cy="224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6898047" y="4515671"/>
            <a:ext cx="3954" cy="280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6893996" y="4518475"/>
            <a:ext cx="4051" cy="782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6888395" y="4526296"/>
            <a:ext cx="5601" cy="1081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6885274" y="4537113"/>
            <a:ext cx="3121" cy="602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H="1">
            <a:off x="6882537" y="4543140"/>
            <a:ext cx="2737" cy="528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H="1">
            <a:off x="6879637" y="4548426"/>
            <a:ext cx="2900" cy="560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H="1">
            <a:off x="6876025" y="4554027"/>
            <a:ext cx="3612" cy="697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H="1">
            <a:off x="6872099" y="4561005"/>
            <a:ext cx="3926" cy="758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H="1">
            <a:off x="6868486" y="4568590"/>
            <a:ext cx="3613" cy="697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H="1">
            <a:off x="6864509" y="4575566"/>
            <a:ext cx="3977" cy="768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H="1">
            <a:off x="6858761" y="4583252"/>
            <a:ext cx="5748" cy="1110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H="1">
            <a:off x="6855847" y="4594358"/>
            <a:ext cx="2914" cy="874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H="1">
            <a:off x="6851981" y="4603105"/>
            <a:ext cx="3866" cy="1160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H="1">
            <a:off x="6848892" y="4614713"/>
            <a:ext cx="3089" cy="927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H="1">
            <a:off x="6844148" y="4623984"/>
            <a:ext cx="4744" cy="1424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H="1">
            <a:off x="6842254" y="4638228"/>
            <a:ext cx="1894" cy="568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H="1">
            <a:off x="6839202" y="4643915"/>
            <a:ext cx="3052" cy="916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H="1">
            <a:off x="6835724" y="4653084"/>
            <a:ext cx="3478" cy="1045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H="1">
            <a:off x="6832266" y="4663534"/>
            <a:ext cx="3458" cy="1038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H="1">
            <a:off x="6828031" y="4673922"/>
            <a:ext cx="4235" cy="1272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H="1">
            <a:off x="6825824" y="4686646"/>
            <a:ext cx="2207" cy="663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H="1">
            <a:off x="6822345" y="4693276"/>
            <a:ext cx="3479" cy="1045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H="1">
            <a:off x="6820151" y="4703730"/>
            <a:ext cx="2194" cy="659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H="1">
            <a:off x="6814844" y="4710324"/>
            <a:ext cx="5307" cy="1595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H="1">
            <a:off x="6811888" y="4726275"/>
            <a:ext cx="2956" cy="888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H="1">
            <a:off x="6809495" y="4735160"/>
            <a:ext cx="2393" cy="719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H="1">
            <a:off x="6806518" y="4742354"/>
            <a:ext cx="2977" cy="895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H="1">
            <a:off x="6801765" y="4751307"/>
            <a:ext cx="4753" cy="1429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H="1">
            <a:off x="6798028" y="4765598"/>
            <a:ext cx="3737" cy="1124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H="1">
            <a:off x="6795759" y="4776840"/>
            <a:ext cx="2269" cy="682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6795759" y="4783660"/>
            <a:ext cx="278" cy="9290"/>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a:off x="6796037" y="4792950"/>
            <a:ext cx="306" cy="1027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6796343" y="4803221"/>
            <a:ext cx="5280" cy="1288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6801623" y="4816104"/>
            <a:ext cx="2645" cy="6452"/>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H="1">
            <a:off x="6802822" y="4822556"/>
            <a:ext cx="1446" cy="379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a:off x="6797785" y="4826350"/>
            <a:ext cx="5037" cy="1320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H="1">
            <a:off x="6794186" y="4839551"/>
            <a:ext cx="3599" cy="677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H="1">
            <a:off x="6788216" y="4846327"/>
            <a:ext cx="5970" cy="1123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H="1">
            <a:off x="6775518" y="4857564"/>
            <a:ext cx="12698" cy="9203"/>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a:off x="6766274" y="4866767"/>
            <a:ext cx="9244" cy="670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H="1">
            <a:off x="6753274" y="4873468"/>
            <a:ext cx="13000" cy="9427"/>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H="1">
            <a:off x="6736299" y="4882895"/>
            <a:ext cx="16975" cy="1230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H="1">
            <a:off x="6732743" y="4895204"/>
            <a:ext cx="3556" cy="6618"/>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H="1">
            <a:off x="6730840" y="4901822"/>
            <a:ext cx="1903" cy="354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H="1">
            <a:off x="6720840" y="4905363"/>
            <a:ext cx="10000" cy="18621"/>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6720840" y="4923984"/>
            <a:ext cx="2446" cy="10544"/>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6723286" y="4934528"/>
            <a:ext cx="1906" cy="8225"/>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H="1">
            <a:off x="6723925" y="4942753"/>
            <a:ext cx="1267" cy="6979"/>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H="1">
            <a:off x="6722167" y="4949732"/>
            <a:ext cx="1758" cy="9956"/>
          </a:xfrm>
          <a:prstGeom prst="line">
            <a:avLst/>
          </a:prstGeom>
          <a:ln w="25400">
            <a:solidFill>
              <a:srgbClr val="CFADF0"/>
            </a:solidFill>
          </a:ln>
        </p:spPr>
        <p:style>
          <a:lnRef idx="2">
            <a:schemeClr val="accent1"/>
          </a:lnRef>
          <a:fillRef idx="0">
            <a:schemeClr val="accent1"/>
          </a:fillRef>
          <a:effectRef idx="1">
            <a:schemeClr val="accent1"/>
          </a:effectRef>
          <a:fontRef idx="minor">
            <a:schemeClr val="tx1"/>
          </a:fontRef>
        </p:style>
      </p:cxnSp>
      <p:sp>
        <p:nvSpPr>
          <p:cNvPr id="201" name="Oval 200"/>
          <p:cNvSpPr/>
          <p:nvPr/>
        </p:nvSpPr>
        <p:spPr>
          <a:xfrm>
            <a:off x="8069114" y="3691216"/>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7993353" y="3688525"/>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7908415" y="3665191"/>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7830442" y="367309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7764017" y="3725125"/>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7717502" y="375847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7538385" y="387878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7461373" y="390487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7380032" y="392252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7329301" y="3976543"/>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7299055" y="404950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7121350" y="4144001"/>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7035011" y="4148867"/>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6967434" y="418920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6919324" y="4263119"/>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6946151" y="434127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6939627" y="4435393"/>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6893316" y="448601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6856777" y="4531167"/>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6826032" y="460112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6799485" y="468087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Oval 221"/>
          <p:cNvSpPr/>
          <p:nvPr/>
        </p:nvSpPr>
        <p:spPr>
          <a:xfrm>
            <a:off x="6772899" y="476080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Oval 222"/>
          <p:cNvSpPr/>
          <p:nvPr/>
        </p:nvSpPr>
        <p:spPr>
          <a:xfrm>
            <a:off x="6765356" y="483470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Oval 223"/>
          <p:cNvSpPr/>
          <p:nvPr/>
        </p:nvSpPr>
        <p:spPr>
          <a:xfrm>
            <a:off x="6700426" y="4911668"/>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5" name="Connector 224"/>
          <p:cNvCxnSpPr/>
          <p:nvPr/>
        </p:nvCxnSpPr>
        <p:spPr>
          <a:xfrm flipH="1" flipV="1">
            <a:off x="10859459" y="3172450"/>
            <a:ext cx="3242" cy="227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H="1" flipV="1">
            <a:off x="10850528" y="3166177"/>
            <a:ext cx="8931" cy="627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H="1" flipV="1">
            <a:off x="10839766" y="3158616"/>
            <a:ext cx="10762" cy="7561"/>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H="1" flipV="1">
            <a:off x="10829734" y="3157486"/>
            <a:ext cx="10032" cy="113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H="1" flipV="1">
            <a:off x="10821997" y="3156613"/>
            <a:ext cx="7737" cy="87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H="1" flipV="1">
            <a:off x="10804920" y="3154689"/>
            <a:ext cx="17077" cy="192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H="1" flipV="1">
            <a:off x="10798211" y="3153934"/>
            <a:ext cx="6709" cy="75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H="1" flipV="1">
            <a:off x="10772208" y="3151007"/>
            <a:ext cx="26003" cy="292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H="1" flipV="1">
            <a:off x="10760999" y="3150540"/>
            <a:ext cx="11209" cy="46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H="1" flipV="1">
            <a:off x="10750877" y="3150120"/>
            <a:ext cx="10122" cy="42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H="1" flipV="1">
            <a:off x="10745222" y="3149885"/>
            <a:ext cx="5655" cy="23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H="1">
            <a:off x="10734432" y="3149885"/>
            <a:ext cx="10790" cy="597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H="1">
            <a:off x="10724935" y="3155859"/>
            <a:ext cx="9497" cy="525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H="1">
            <a:off x="10716270" y="3161116"/>
            <a:ext cx="8665" cy="479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H="1">
            <a:off x="10711114" y="3165914"/>
            <a:ext cx="5156" cy="285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H="1">
            <a:off x="10700779" y="3168769"/>
            <a:ext cx="10335" cy="572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H="1">
            <a:off x="10693717" y="3174493"/>
            <a:ext cx="7062" cy="5049"/>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H="1">
            <a:off x="10684477" y="3179542"/>
            <a:ext cx="9240" cy="660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H="1">
            <a:off x="10676260" y="3186147"/>
            <a:ext cx="8217" cy="587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H="1">
            <a:off x="10663051" y="3192023"/>
            <a:ext cx="13209" cy="944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H="1">
            <a:off x="10658978" y="3201469"/>
            <a:ext cx="4073" cy="291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H="1">
            <a:off x="10647683" y="3204383"/>
            <a:ext cx="11295" cy="808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H="1">
            <a:off x="10640674" y="3212463"/>
            <a:ext cx="7009" cy="501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H="1">
            <a:off x="10636712" y="3217478"/>
            <a:ext cx="3962" cy="283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H="1">
            <a:off x="10623984" y="3220311"/>
            <a:ext cx="12728" cy="186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H="1">
            <a:off x="10612206" y="3222178"/>
            <a:ext cx="11778" cy="172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H="1">
            <a:off x="10600798" y="3223905"/>
            <a:ext cx="11408" cy="167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H="1">
            <a:off x="10590635" y="3225582"/>
            <a:ext cx="10163" cy="281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H="1">
            <a:off x="10576490" y="3228396"/>
            <a:ext cx="14145" cy="178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H="1">
            <a:off x="10564346" y="3230182"/>
            <a:ext cx="12144" cy="153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H="1" flipV="1">
            <a:off x="10557338" y="3231299"/>
            <a:ext cx="7008" cy="41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H="1" flipV="1">
            <a:off x="10545588" y="3230601"/>
            <a:ext cx="11750" cy="69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H="1" flipV="1">
            <a:off x="10534888" y="3229967"/>
            <a:ext cx="10700" cy="63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H="1">
            <a:off x="10527230" y="3229967"/>
            <a:ext cx="7658" cy="304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H="1">
            <a:off x="10512898" y="3233014"/>
            <a:ext cx="14332" cy="570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H="1">
            <a:off x="10503195" y="3238721"/>
            <a:ext cx="9703" cy="386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H="1">
            <a:off x="10492577" y="3242584"/>
            <a:ext cx="10618" cy="422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H="1" flipV="1">
            <a:off x="10482125" y="3246353"/>
            <a:ext cx="10452" cy="459"/>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H="1" flipV="1">
            <a:off x="10469629" y="3245806"/>
            <a:ext cx="12496" cy="54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H="1">
            <a:off x="10458244" y="3245806"/>
            <a:ext cx="11385" cy="98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H="1">
            <a:off x="10447392" y="3246794"/>
            <a:ext cx="10852" cy="94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H="1">
            <a:off x="10438889" y="3247738"/>
            <a:ext cx="8503" cy="74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H="1">
            <a:off x="10428482" y="3248478"/>
            <a:ext cx="10407" cy="90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H="1">
            <a:off x="10416586" y="3249383"/>
            <a:ext cx="11896" cy="2951"/>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H="1">
            <a:off x="10401613" y="3252334"/>
            <a:ext cx="14973" cy="624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H="1">
            <a:off x="10395253" y="3258578"/>
            <a:ext cx="6360" cy="2652"/>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H="1">
            <a:off x="10389921" y="3261230"/>
            <a:ext cx="5332" cy="222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H="1" flipV="1">
            <a:off x="10381171" y="3261848"/>
            <a:ext cx="8750" cy="160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H="1" flipV="1">
            <a:off x="10374743" y="3259862"/>
            <a:ext cx="6428" cy="198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H="1" flipV="1">
            <a:off x="10361978" y="3255921"/>
            <a:ext cx="12765" cy="3941"/>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H="1" flipV="1">
            <a:off x="10348629" y="3251799"/>
            <a:ext cx="13349" cy="4122"/>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H="1" flipV="1">
            <a:off x="10337067" y="3248231"/>
            <a:ext cx="11562" cy="356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H="1" flipV="1">
            <a:off x="10326148" y="3244861"/>
            <a:ext cx="10919" cy="337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H="1" flipV="1">
            <a:off x="10315441" y="3241558"/>
            <a:ext cx="10707" cy="330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H="1" flipV="1">
            <a:off x="10303822" y="3237974"/>
            <a:ext cx="11619" cy="358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H="1" flipV="1">
            <a:off x="10293937" y="3234926"/>
            <a:ext cx="9885" cy="304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H="1" flipV="1">
            <a:off x="10282470" y="3231389"/>
            <a:ext cx="11467" cy="353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H="1" flipV="1">
            <a:off x="10270676" y="3227754"/>
            <a:ext cx="11794" cy="363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H="1" flipV="1">
            <a:off x="10262836" y="3212548"/>
            <a:ext cx="7840" cy="1520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H="1" flipV="1">
            <a:off x="10256690" y="3200628"/>
            <a:ext cx="6146" cy="1192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H="1" flipV="1">
            <a:off x="10252137" y="3191801"/>
            <a:ext cx="4553" cy="882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flipH="1" flipV="1">
            <a:off x="10248367" y="3184491"/>
            <a:ext cx="3770" cy="731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flipH="1" flipV="1">
            <a:off x="10233945" y="3156536"/>
            <a:ext cx="14422" cy="2795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flipH="1" flipV="1">
            <a:off x="10216066" y="3143666"/>
            <a:ext cx="17879" cy="1287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flipH="1" flipV="1">
            <a:off x="10201536" y="3126291"/>
            <a:ext cx="14530" cy="1737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flipH="1" flipV="1">
            <a:off x="10195111" y="3118608"/>
            <a:ext cx="6425" cy="768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H="1" flipV="1">
            <a:off x="10187983" y="3103655"/>
            <a:ext cx="7128" cy="1495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flipH="1" flipV="1">
            <a:off x="10181696" y="3090468"/>
            <a:ext cx="6287" cy="1318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H="1" flipV="1">
            <a:off x="10176913" y="3080435"/>
            <a:ext cx="4783" cy="1003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H="1" flipV="1">
            <a:off x="10173824" y="3073956"/>
            <a:ext cx="3089" cy="6479"/>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H="1" flipV="1">
            <a:off x="10168337" y="3062452"/>
            <a:ext cx="5487" cy="1150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flipV="1">
            <a:off x="10168337" y="3045861"/>
            <a:ext cx="1027" cy="16591"/>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flipV="1">
            <a:off x="10169364" y="3033340"/>
            <a:ext cx="6426" cy="12521"/>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flipV="1">
            <a:off x="10175790" y="3031258"/>
            <a:ext cx="5080" cy="2082"/>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V="1">
            <a:off x="10180870" y="3028798"/>
            <a:ext cx="6002" cy="246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flipV="1">
            <a:off x="10186872" y="3027205"/>
            <a:ext cx="3888" cy="1593"/>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V="1">
            <a:off x="10190760" y="3020833"/>
            <a:ext cx="3619" cy="6372"/>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V="1">
            <a:off x="10194379" y="3013648"/>
            <a:ext cx="4080" cy="718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H="1" flipV="1">
            <a:off x="10196480" y="2997441"/>
            <a:ext cx="1979" cy="16207"/>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H="1" flipV="1">
            <a:off x="10195545" y="2989792"/>
            <a:ext cx="935" cy="7649"/>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H="1" flipV="1">
            <a:off x="10194831" y="2983933"/>
            <a:ext cx="714" cy="5859"/>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H="1" flipV="1">
            <a:off x="10186085" y="2962051"/>
            <a:ext cx="8746" cy="21882"/>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H="1" flipV="1">
            <a:off x="10182203" y="2953770"/>
            <a:ext cx="3882" cy="8281"/>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H="1" flipV="1">
            <a:off x="10177876" y="2944540"/>
            <a:ext cx="4327" cy="923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H="1" flipV="1">
            <a:off x="10172251" y="2932545"/>
            <a:ext cx="5625" cy="1199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H="1" flipV="1">
            <a:off x="10166179" y="2919597"/>
            <a:ext cx="6072" cy="12948"/>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H="1" flipV="1">
            <a:off x="10162954" y="2912723"/>
            <a:ext cx="3225" cy="687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H="1" flipV="1">
            <a:off x="10156243" y="2898417"/>
            <a:ext cx="6711" cy="14306"/>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H="1" flipV="1">
            <a:off x="10150632" y="2886457"/>
            <a:ext cx="5611" cy="1196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10150632" y="2879033"/>
            <a:ext cx="2692" cy="742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flipV="1">
            <a:off x="10153324" y="2872009"/>
            <a:ext cx="2546" cy="702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flipV="1">
            <a:off x="10155870" y="2860809"/>
            <a:ext cx="4061" cy="11200"/>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flipV="1">
            <a:off x="10159931" y="2854334"/>
            <a:ext cx="2348" cy="6475"/>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sp>
        <p:nvSpPr>
          <p:cNvPr id="318" name="Oval 317"/>
          <p:cNvSpPr/>
          <p:nvPr/>
        </p:nvSpPr>
        <p:spPr>
          <a:xfrm>
            <a:off x="10839841" y="3151867"/>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10749348" y="3128147"/>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10677919" y="3151633"/>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10613852" y="3197451"/>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10522728" y="3207741"/>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10435384" y="3223934"/>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10358311" y="3238988"/>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10271077" y="3212066"/>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10193206" y="3120806"/>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7" name="Oval 326"/>
          <p:cNvSpPr/>
          <p:nvPr/>
        </p:nvSpPr>
        <p:spPr>
          <a:xfrm>
            <a:off x="10146504" y="3023001"/>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Oval 327"/>
          <p:cNvSpPr/>
          <p:nvPr/>
        </p:nvSpPr>
        <p:spPr>
          <a:xfrm>
            <a:off x="10172685" y="2966932"/>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9" name="Oval 328"/>
          <p:cNvSpPr/>
          <p:nvPr/>
        </p:nvSpPr>
        <p:spPr>
          <a:xfrm>
            <a:off x="10133383" y="2875557"/>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0" name="Connector 329"/>
          <p:cNvCxnSpPr/>
          <p:nvPr/>
        </p:nvCxnSpPr>
        <p:spPr>
          <a:xfrm flipH="1">
            <a:off x="11288859" y="2318935"/>
            <a:ext cx="3981" cy="762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H="1">
            <a:off x="11282033" y="2326556"/>
            <a:ext cx="6826" cy="947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H="1">
            <a:off x="11278432" y="2336031"/>
            <a:ext cx="3601" cy="500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H="1">
            <a:off x="11275345" y="2341031"/>
            <a:ext cx="3087" cy="428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H="1">
            <a:off x="11274709" y="2345316"/>
            <a:ext cx="636" cy="541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H="1">
            <a:off x="11273630" y="2350728"/>
            <a:ext cx="1079" cy="918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H="1">
            <a:off x="11272623" y="2359915"/>
            <a:ext cx="1007" cy="8569"/>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H="1">
            <a:off x="11271010" y="2368484"/>
            <a:ext cx="1613" cy="1372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H="1">
            <a:off x="11269485" y="2382209"/>
            <a:ext cx="1525" cy="1299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H="1">
            <a:off x="11268570" y="2395199"/>
            <a:ext cx="915" cy="779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H="1">
            <a:off x="11267353" y="2402990"/>
            <a:ext cx="1217" cy="1036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H="1">
            <a:off x="11266226" y="2413352"/>
            <a:ext cx="1127" cy="960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H="1">
            <a:off x="11265248" y="2422959"/>
            <a:ext cx="978" cy="832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H="1">
            <a:off x="11264056" y="2431284"/>
            <a:ext cx="1192" cy="1014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11264056" y="2441432"/>
            <a:ext cx="1357" cy="9106"/>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11265413" y="2450538"/>
            <a:ext cx="1835" cy="1232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11267248" y="2462859"/>
            <a:ext cx="1322" cy="886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11268570" y="2471723"/>
            <a:ext cx="1635" cy="1095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a:off x="11270205" y="2482681"/>
            <a:ext cx="1612" cy="1082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a:off x="11271817" y="2493505"/>
            <a:ext cx="735" cy="494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a:off x="11272552" y="2498447"/>
            <a:ext cx="957" cy="642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H="1">
            <a:off x="11269207" y="2504867"/>
            <a:ext cx="4302" cy="1642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H="1">
            <a:off x="11266593" y="2521292"/>
            <a:ext cx="2614" cy="998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H="1">
            <a:off x="11264969" y="2531276"/>
            <a:ext cx="1624" cy="619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H="1">
            <a:off x="11262369" y="2537474"/>
            <a:ext cx="2600" cy="993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H="1">
            <a:off x="11260817" y="2547406"/>
            <a:ext cx="1552" cy="592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H="1">
            <a:off x="11256895" y="2553328"/>
            <a:ext cx="3922" cy="1498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flipH="1">
            <a:off x="11253838" y="2568313"/>
            <a:ext cx="3057" cy="1166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flipH="1">
            <a:off x="11250598" y="2579981"/>
            <a:ext cx="3240" cy="1239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flipH="1">
            <a:off x="11248039" y="2592373"/>
            <a:ext cx="2559" cy="977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flipH="1">
            <a:off x="11243990" y="2602145"/>
            <a:ext cx="4049" cy="1547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flipH="1">
            <a:off x="11241451" y="2617623"/>
            <a:ext cx="2539" cy="970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flipH="1">
            <a:off x="11239401" y="2627325"/>
            <a:ext cx="2050" cy="7836"/>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flipH="1">
            <a:off x="11236738" y="2635161"/>
            <a:ext cx="2663" cy="1017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flipH="1">
            <a:off x="11226150" y="2645339"/>
            <a:ext cx="10588" cy="949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flipH="1">
            <a:off x="11216188" y="2654830"/>
            <a:ext cx="9962" cy="893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flipH="1">
            <a:off x="11193689" y="2663761"/>
            <a:ext cx="22499" cy="2017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flipH="1">
            <a:off x="11182672" y="2683935"/>
            <a:ext cx="11017" cy="988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flipH="1">
            <a:off x="11171367" y="2693815"/>
            <a:ext cx="11305" cy="1014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flipH="1">
            <a:off x="11163917" y="2703958"/>
            <a:ext cx="7450" cy="552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flipH="1">
            <a:off x="11156723" y="2709479"/>
            <a:ext cx="7194" cy="533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flipH="1">
            <a:off x="11146798" y="2714811"/>
            <a:ext cx="9925" cy="7359"/>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flipH="1">
            <a:off x="11135948" y="2722170"/>
            <a:ext cx="10850" cy="3489"/>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H="1">
            <a:off x="11128060" y="2725659"/>
            <a:ext cx="7888" cy="253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flipH="1">
            <a:off x="11118279" y="2728196"/>
            <a:ext cx="9781" cy="314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H="1">
            <a:off x="11105365" y="2731343"/>
            <a:ext cx="12914" cy="415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flipH="1">
            <a:off x="11098506" y="2735498"/>
            <a:ext cx="6859" cy="7266"/>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flipH="1">
            <a:off x="11089458" y="2742764"/>
            <a:ext cx="9048" cy="958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flipH="1">
            <a:off x="11083801" y="2752349"/>
            <a:ext cx="5657" cy="599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flipH="1">
            <a:off x="11077940" y="2758344"/>
            <a:ext cx="5861" cy="621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flipH="1">
            <a:off x="11070655" y="2764557"/>
            <a:ext cx="7285" cy="772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H="1">
            <a:off x="11058590" y="2772278"/>
            <a:ext cx="12065" cy="377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flipH="1">
            <a:off x="11044125" y="2776051"/>
            <a:ext cx="14465" cy="452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flipH="1" flipV="1">
            <a:off x="11034837" y="2779852"/>
            <a:ext cx="9288" cy="726"/>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flipH="1" flipV="1">
            <a:off x="11024811" y="2779067"/>
            <a:ext cx="10026" cy="78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flipH="1" flipV="1">
            <a:off x="11011172" y="2778001"/>
            <a:ext cx="13639" cy="1066"/>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flipH="1">
            <a:off x="11005143" y="2778001"/>
            <a:ext cx="6029" cy="234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H="1">
            <a:off x="11001421" y="2780349"/>
            <a:ext cx="3722" cy="145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flipH="1">
            <a:off x="10997749" y="2781799"/>
            <a:ext cx="3672" cy="686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flipH="1">
            <a:off x="10996161" y="2788661"/>
            <a:ext cx="1588" cy="2966"/>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H="1">
            <a:off x="10989334" y="2791627"/>
            <a:ext cx="6827" cy="1276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H="1">
            <a:off x="10989121" y="2804388"/>
            <a:ext cx="213" cy="1586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a:off x="10987108" y="2820249"/>
            <a:ext cx="2013" cy="1545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flipH="1">
            <a:off x="10985387" y="2835702"/>
            <a:ext cx="1721" cy="1321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flipH="1">
            <a:off x="10980306" y="2848920"/>
            <a:ext cx="5081" cy="1724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flipH="1">
            <a:off x="10977150" y="2866167"/>
            <a:ext cx="3156" cy="1071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flipH="1">
            <a:off x="10975421" y="2876882"/>
            <a:ext cx="1729" cy="586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flipH="1">
            <a:off x="10967092" y="2882750"/>
            <a:ext cx="8329" cy="7149"/>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flipH="1">
            <a:off x="10959098" y="2889899"/>
            <a:ext cx="7994" cy="686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flipH="1">
            <a:off x="10949167" y="2896760"/>
            <a:ext cx="9931" cy="852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flipH="1">
            <a:off x="10944238" y="2905284"/>
            <a:ext cx="4929" cy="423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flipH="1">
            <a:off x="10930679" y="2909516"/>
            <a:ext cx="13559" cy="1164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flipH="1">
            <a:off x="10929704" y="2921158"/>
            <a:ext cx="975" cy="1753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10929704" y="2938690"/>
            <a:ext cx="6674" cy="1182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H="1">
            <a:off x="10935858" y="2950517"/>
            <a:ext cx="520" cy="731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H="1">
            <a:off x="10921553" y="2957834"/>
            <a:ext cx="14305" cy="1849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H="1">
            <a:off x="10917736" y="2976325"/>
            <a:ext cx="3817" cy="493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H="1">
            <a:off x="10913001" y="2981258"/>
            <a:ext cx="4735" cy="612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H="1">
            <a:off x="10909538" y="2987382"/>
            <a:ext cx="3463" cy="447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H="1">
            <a:off x="10905847" y="2991860"/>
            <a:ext cx="3691" cy="477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H="1">
            <a:off x="10902834" y="2996632"/>
            <a:ext cx="3013" cy="389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flipH="1">
            <a:off x="10900179" y="3000529"/>
            <a:ext cx="2655" cy="243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flipH="1">
            <a:off x="10890237" y="3002960"/>
            <a:ext cx="9942" cy="909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H="1">
            <a:off x="10880328" y="3012052"/>
            <a:ext cx="9909" cy="906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flipH="1">
            <a:off x="10873357" y="3021116"/>
            <a:ext cx="6971" cy="637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H="1">
            <a:off x="10866683" y="3027494"/>
            <a:ext cx="6674" cy="887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H="1">
            <a:off x="10859490" y="3036367"/>
            <a:ext cx="7193" cy="9562"/>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H="1">
            <a:off x="10853664" y="3045929"/>
            <a:ext cx="5826" cy="7749"/>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H="1">
            <a:off x="10847347" y="3053678"/>
            <a:ext cx="6317" cy="1590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10847347" y="3069578"/>
            <a:ext cx="5451" cy="11040"/>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10852798" y="3080618"/>
            <a:ext cx="3369" cy="681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10856167" y="3087436"/>
            <a:ext cx="7310" cy="494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a:off x="10863477" y="3092380"/>
            <a:ext cx="3314" cy="224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10866791" y="3094624"/>
            <a:ext cx="7408" cy="5011"/>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10874199" y="3099635"/>
            <a:ext cx="9345" cy="6324"/>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10883544" y="3105959"/>
            <a:ext cx="5888" cy="3985"/>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10889432" y="3109944"/>
            <a:ext cx="9905" cy="965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10899337" y="3119597"/>
            <a:ext cx="4897" cy="4773"/>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a:off x="10904234" y="3124370"/>
            <a:ext cx="12080" cy="11777"/>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10916314" y="3136147"/>
            <a:ext cx="10" cy="6388"/>
          </a:xfrm>
          <a:prstGeom prst="line">
            <a:avLst/>
          </a:prstGeom>
          <a:ln w="25400">
            <a:solidFill>
              <a:srgbClr val="DFAFD2"/>
            </a:solidFill>
          </a:ln>
        </p:spPr>
        <p:style>
          <a:lnRef idx="2">
            <a:schemeClr val="accent1"/>
          </a:lnRef>
          <a:fillRef idx="0">
            <a:schemeClr val="accent1"/>
          </a:fillRef>
          <a:effectRef idx="1">
            <a:schemeClr val="accent1"/>
          </a:effectRef>
          <a:fontRef idx="minor">
            <a:schemeClr val="tx1"/>
          </a:fontRef>
        </p:style>
      </p:cxnSp>
      <p:sp>
        <p:nvSpPr>
          <p:cNvPr id="430" name="Oval 429"/>
          <p:cNvSpPr/>
          <p:nvPr/>
        </p:nvSpPr>
        <p:spPr>
          <a:xfrm>
            <a:off x="11269980" y="2296075"/>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11248150" y="2359349"/>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11244388" y="2439999"/>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11242109" y="2514614"/>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11218591" y="2604465"/>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11141057" y="2686619"/>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11066598" y="2729489"/>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10988312" y="2755141"/>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10962527" y="2826060"/>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10907819" y="2898298"/>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Oval 439"/>
          <p:cNvSpPr/>
          <p:nvPr/>
        </p:nvSpPr>
        <p:spPr>
          <a:xfrm>
            <a:off x="10882987" y="2973772"/>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Oval 440"/>
          <p:cNvSpPr/>
          <p:nvPr/>
        </p:nvSpPr>
        <p:spPr>
          <a:xfrm>
            <a:off x="10830804" y="3030818"/>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Oval 441"/>
          <p:cNvSpPr/>
          <p:nvPr/>
        </p:nvSpPr>
        <p:spPr>
          <a:xfrm>
            <a:off x="10866572" y="3087084"/>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3" name="Connector 442"/>
          <p:cNvCxnSpPr/>
          <p:nvPr/>
        </p:nvCxnSpPr>
        <p:spPr>
          <a:xfrm flipH="1" flipV="1">
            <a:off x="9658829" y="3129984"/>
            <a:ext cx="4586" cy="537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9654428" y="3124831"/>
            <a:ext cx="4401" cy="515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9647491" y="3116709"/>
            <a:ext cx="6937" cy="812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9643176" y="3111656"/>
            <a:ext cx="4315" cy="505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9637685" y="3110469"/>
            <a:ext cx="5491" cy="118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9628662" y="3108521"/>
            <a:ext cx="9023" cy="194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9620682" y="3106798"/>
            <a:ext cx="7980" cy="172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9612464" y="3105024"/>
            <a:ext cx="8218" cy="177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a:off x="9602903" y="3105024"/>
            <a:ext cx="9561" cy="332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a:off x="9593433" y="3108346"/>
            <a:ext cx="9470" cy="329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H="1">
            <a:off x="9582471" y="3111636"/>
            <a:ext cx="10962" cy="381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H="1">
            <a:off x="9572381" y="3115447"/>
            <a:ext cx="10090" cy="350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H="1">
            <a:off x="9562936" y="3118953"/>
            <a:ext cx="9445" cy="328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H="1">
            <a:off x="9552249" y="3122237"/>
            <a:ext cx="10687" cy="371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H="1">
            <a:off x="9542031" y="3125953"/>
            <a:ext cx="10218" cy="241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H="1">
            <a:off x="9529533" y="3128363"/>
            <a:ext cx="12498" cy="294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H="1">
            <a:off x="9517715" y="3131309"/>
            <a:ext cx="11818" cy="278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H="1" flipV="1">
            <a:off x="9509110" y="3130299"/>
            <a:ext cx="8605" cy="379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H="1" flipV="1">
            <a:off x="9497680" y="3125254"/>
            <a:ext cx="11430" cy="504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H="1" flipV="1">
            <a:off x="9484345" y="3119371"/>
            <a:ext cx="13335" cy="588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H="1" flipV="1">
            <a:off x="9480083" y="3117491"/>
            <a:ext cx="4262" cy="188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H="1" flipV="1">
            <a:off x="9470111" y="3115385"/>
            <a:ext cx="9972" cy="210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H="1" flipV="1">
            <a:off x="9449927" y="3111121"/>
            <a:ext cx="20184" cy="426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H="1" flipV="1">
            <a:off x="9439231" y="3108862"/>
            <a:ext cx="10696" cy="225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H="1" flipV="1">
            <a:off x="9430929" y="3107111"/>
            <a:ext cx="8302" cy="175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H="1" flipV="1">
            <a:off x="9421719" y="3105167"/>
            <a:ext cx="9210" cy="194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flipH="1" flipV="1">
            <a:off x="9411553" y="3103022"/>
            <a:ext cx="10166" cy="214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flipH="1" flipV="1">
            <a:off x="9405136" y="3101668"/>
            <a:ext cx="6417" cy="135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flipH="1" flipV="1">
            <a:off x="9394238" y="3099370"/>
            <a:ext cx="10898" cy="229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flipH="1" flipV="1">
            <a:off x="9381733" y="3094010"/>
            <a:ext cx="12505" cy="536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H="1" flipV="1">
            <a:off x="9378419" y="3083426"/>
            <a:ext cx="3314" cy="1058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9378404" y="3076347"/>
            <a:ext cx="15" cy="707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H="1" flipV="1">
            <a:off x="9378375" y="3063042"/>
            <a:ext cx="29" cy="1330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9378355" y="3054200"/>
            <a:ext cx="20" cy="884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9378339" y="3046095"/>
            <a:ext cx="16" cy="810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flipV="1">
            <a:off x="9378309" y="3033277"/>
            <a:ext cx="30" cy="1281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flipV="1">
            <a:off x="9378278" y="3018378"/>
            <a:ext cx="31" cy="1489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flipH="1" flipV="1">
            <a:off x="9369882" y="3009526"/>
            <a:ext cx="8396" cy="885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9364327" y="3003671"/>
            <a:ext cx="5555" cy="585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9351180" y="2989813"/>
            <a:ext cx="13147" cy="1385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9343760" y="2981994"/>
            <a:ext cx="7420" cy="781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9334684" y="2972431"/>
            <a:ext cx="9076" cy="956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flipH="1" flipV="1">
            <a:off x="9328322" y="2969861"/>
            <a:ext cx="6362" cy="257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flipV="1">
            <a:off x="9315353" y="2964625"/>
            <a:ext cx="12969" cy="523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flipV="1">
            <a:off x="9302358" y="2959377"/>
            <a:ext cx="12995" cy="524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flipV="1">
            <a:off x="9290057" y="2954413"/>
            <a:ext cx="12301" cy="496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flipV="1">
            <a:off x="9281299" y="2950878"/>
            <a:ext cx="8758" cy="353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H="1" flipV="1">
            <a:off x="9267935" y="2945485"/>
            <a:ext cx="13364" cy="539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flipV="1">
            <a:off x="9258561" y="2941703"/>
            <a:ext cx="9374" cy="378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flipH="1" flipV="1">
            <a:off x="9253962" y="2939849"/>
            <a:ext cx="4599" cy="185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flipH="1">
            <a:off x="9248359" y="2939849"/>
            <a:ext cx="5603" cy="150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9239834" y="2941357"/>
            <a:ext cx="8525" cy="229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flipH="1">
            <a:off x="9232727" y="2943653"/>
            <a:ext cx="7107" cy="191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9219625" y="2945567"/>
            <a:ext cx="13102" cy="353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flipH="1">
            <a:off x="9207483" y="2949098"/>
            <a:ext cx="12142" cy="327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flipH="1">
            <a:off x="9195843" y="2952370"/>
            <a:ext cx="11640" cy="313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flipH="1">
            <a:off x="9193378" y="2955507"/>
            <a:ext cx="2465" cy="66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flipH="1">
            <a:off x="9187876" y="2956172"/>
            <a:ext cx="5502" cy="148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flipH="1">
            <a:off x="9184168" y="2957656"/>
            <a:ext cx="3708" cy="48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flipH="1">
            <a:off x="9179563" y="2958137"/>
            <a:ext cx="4605" cy="59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flipH="1">
            <a:off x="9167809" y="2958734"/>
            <a:ext cx="11754" cy="152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flipH="1">
            <a:off x="9153939" y="2960256"/>
            <a:ext cx="13870" cy="180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flipH="1">
            <a:off x="9140065" y="2962058"/>
            <a:ext cx="13874" cy="180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flipH="1">
            <a:off x="9132345" y="2963860"/>
            <a:ext cx="7720" cy="100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flipH="1">
            <a:off x="9127353" y="2964862"/>
            <a:ext cx="4992" cy="64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flipH="1">
            <a:off x="9119161" y="2965511"/>
            <a:ext cx="8192" cy="106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flipH="1">
            <a:off x="9111640" y="2966576"/>
            <a:ext cx="7521" cy="97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H="1">
            <a:off x="9105424" y="2967554"/>
            <a:ext cx="6216" cy="80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flipH="1">
            <a:off x="9089795" y="2968362"/>
            <a:ext cx="15629" cy="203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flipH="1">
            <a:off x="9075418" y="2970395"/>
            <a:ext cx="14377" cy="187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flipH="1">
            <a:off x="9062602" y="2972266"/>
            <a:ext cx="12816" cy="167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flipH="1">
            <a:off x="9053476" y="2973936"/>
            <a:ext cx="9126" cy="119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H="1">
            <a:off x="9043968" y="2975126"/>
            <a:ext cx="9508" cy="123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flipH="1">
            <a:off x="9034770" y="2976365"/>
            <a:ext cx="9198" cy="120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a:off x="9028997" y="2977565"/>
            <a:ext cx="5773" cy="456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a:off x="9021652" y="2982125"/>
            <a:ext cx="7345" cy="580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H="1">
            <a:off x="9011765" y="2987929"/>
            <a:ext cx="9887" cy="781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a:off x="9003525" y="2995740"/>
            <a:ext cx="8240" cy="341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a:off x="8986917" y="2999150"/>
            <a:ext cx="16608" cy="687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a:off x="8975572" y="3006022"/>
            <a:ext cx="11345" cy="219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H="1" flipV="1">
            <a:off x="8960892" y="3003153"/>
            <a:ext cx="14680" cy="506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flipH="1" flipV="1">
            <a:off x="8946479" y="2998186"/>
            <a:ext cx="14413" cy="496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H="1" flipV="1">
            <a:off x="8940923" y="2996271"/>
            <a:ext cx="5556" cy="191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H="1" flipV="1">
            <a:off x="8933355" y="2993664"/>
            <a:ext cx="7568" cy="260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H="1">
            <a:off x="8923560" y="2993664"/>
            <a:ext cx="9795" cy="119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a:off x="8915433" y="2994863"/>
            <a:ext cx="8127" cy="99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a:off x="8902450" y="2995858"/>
            <a:ext cx="12983" cy="389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a:off x="8889899" y="2999750"/>
            <a:ext cx="12551" cy="376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flipH="1">
            <a:off x="8883238" y="3003513"/>
            <a:ext cx="6661" cy="199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flipH="1">
            <a:off x="8870755" y="3005510"/>
            <a:ext cx="12483" cy="374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a:off x="8859001" y="3009255"/>
            <a:ext cx="11754" cy="352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H="1">
            <a:off x="8854186" y="3012782"/>
            <a:ext cx="4815" cy="144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flipH="1">
            <a:off x="8843138" y="3014227"/>
            <a:ext cx="11048" cy="331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flipH="1">
            <a:off x="8835411" y="3017542"/>
            <a:ext cx="7727" cy="232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flipH="1">
            <a:off x="8827268" y="3019863"/>
            <a:ext cx="8143" cy="244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H="1">
            <a:off x="8817385" y="3022307"/>
            <a:ext cx="9883" cy="296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flipH="1">
            <a:off x="8802928" y="3025274"/>
            <a:ext cx="14457" cy="434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H="1">
            <a:off x="8792439" y="3029617"/>
            <a:ext cx="10489" cy="315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H="1">
            <a:off x="8783381" y="3032768"/>
            <a:ext cx="9058" cy="272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H="1">
            <a:off x="8772937" y="3035490"/>
            <a:ext cx="10444" cy="313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H="1">
            <a:off x="8762583" y="3038629"/>
            <a:ext cx="10354" cy="128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flipH="1">
            <a:off x="8748138" y="3039914"/>
            <a:ext cx="14445" cy="179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flipH="1">
            <a:off x="8739671" y="3041706"/>
            <a:ext cx="8467" cy="105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flipH="1">
            <a:off x="8734886" y="3042759"/>
            <a:ext cx="4785" cy="290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flipH="1">
            <a:off x="8729043" y="3045668"/>
            <a:ext cx="5843" cy="355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flipH="1">
            <a:off x="8723901" y="3049218"/>
            <a:ext cx="5142" cy="365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flipH="1">
            <a:off x="8717650" y="3052874"/>
            <a:ext cx="6251" cy="444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H="1">
            <a:off x="8706376" y="3057320"/>
            <a:ext cx="11274" cy="801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flipH="1">
            <a:off x="8697820" y="3065337"/>
            <a:ext cx="8556" cy="608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flipH="1">
            <a:off x="8687662" y="3071424"/>
            <a:ext cx="10158" cy="722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flipH="1">
            <a:off x="8680570" y="3078650"/>
            <a:ext cx="7092" cy="504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flipH="1">
            <a:off x="8674942" y="3083695"/>
            <a:ext cx="5628" cy="400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flipH="1">
            <a:off x="8668399" y="3087702"/>
            <a:ext cx="6543" cy="465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flipH="1">
            <a:off x="8657767" y="3092356"/>
            <a:ext cx="10632" cy="756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flipH="1">
            <a:off x="8650091" y="3099924"/>
            <a:ext cx="7676" cy="546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H="1">
            <a:off x="8638857" y="3105386"/>
            <a:ext cx="11234" cy="800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flipH="1">
            <a:off x="8631016" y="3113386"/>
            <a:ext cx="7841" cy="558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flipH="1">
            <a:off x="8623743" y="3118969"/>
            <a:ext cx="7273" cy="517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flipH="1">
            <a:off x="8618566" y="3124147"/>
            <a:ext cx="5177" cy="368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flipH="1">
            <a:off x="8615265" y="3127834"/>
            <a:ext cx="3301" cy="334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flipH="1">
            <a:off x="8611626" y="3131174"/>
            <a:ext cx="3639" cy="368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flipH="1">
            <a:off x="8600643" y="3134858"/>
            <a:ext cx="10983" cy="1111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flipH="1">
            <a:off x="8595368" y="3145976"/>
            <a:ext cx="5275" cy="533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flipH="1">
            <a:off x="8589977" y="3151315"/>
            <a:ext cx="5391" cy="545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H="1">
            <a:off x="8582904" y="3156774"/>
            <a:ext cx="7073" cy="716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flipH="1">
            <a:off x="8572783" y="3163934"/>
            <a:ext cx="10121" cy="778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flipH="1">
            <a:off x="8565469" y="3171722"/>
            <a:ext cx="7314" cy="752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flipH="1">
            <a:off x="8555699" y="3179246"/>
            <a:ext cx="9770" cy="1270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flipH="1">
            <a:off x="8549801" y="3191947"/>
            <a:ext cx="5898" cy="605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flipH="1">
            <a:off x="8544400" y="3198001"/>
            <a:ext cx="5401" cy="554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flipH="1">
            <a:off x="8538793" y="3203545"/>
            <a:ext cx="5607" cy="575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flipH="1">
            <a:off x="8537575" y="3209302"/>
            <a:ext cx="1218" cy="718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flipH="1">
            <a:off x="8535213" y="3216489"/>
            <a:ext cx="2362" cy="1394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flipH="1">
            <a:off x="8532793" y="3230433"/>
            <a:ext cx="2420" cy="1428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flipH="1">
            <a:off x="8527925" y="3244717"/>
            <a:ext cx="4868" cy="2875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flipH="1">
            <a:off x="8526452" y="3273468"/>
            <a:ext cx="1473" cy="870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flipH="1">
            <a:off x="8522113" y="3282175"/>
            <a:ext cx="4339" cy="547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H="1">
            <a:off x="8512193" y="3287647"/>
            <a:ext cx="9920" cy="1251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H="1">
            <a:off x="8506400" y="3300162"/>
            <a:ext cx="5793" cy="730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flipH="1">
            <a:off x="8496151" y="3307470"/>
            <a:ext cx="10249" cy="1293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H="1">
            <a:off x="8489934" y="3320403"/>
            <a:ext cx="6217" cy="784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flipH="1">
            <a:off x="8480253" y="3328248"/>
            <a:ext cx="9681" cy="1221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H="1">
            <a:off x="8466212" y="3340466"/>
            <a:ext cx="14041" cy="281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H="1">
            <a:off x="8455950" y="3343276"/>
            <a:ext cx="10262" cy="205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flipH="1">
            <a:off x="8443283" y="3345331"/>
            <a:ext cx="12667" cy="253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flipH="1">
            <a:off x="8436208" y="3347867"/>
            <a:ext cx="7075" cy="141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flipH="1">
            <a:off x="8425357" y="3349284"/>
            <a:ext cx="10851" cy="217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flipH="1">
            <a:off x="8414772" y="3351458"/>
            <a:ext cx="10585" cy="212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flipH="1">
            <a:off x="8402703" y="3353579"/>
            <a:ext cx="12069" cy="242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flipH="1">
            <a:off x="8396018" y="3355999"/>
            <a:ext cx="6685" cy="134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flipH="1">
            <a:off x="8389589" y="3357339"/>
            <a:ext cx="6429" cy="541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flipH="1">
            <a:off x="8379103" y="3362758"/>
            <a:ext cx="10486" cy="884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flipH="1">
            <a:off x="8371529" y="3371598"/>
            <a:ext cx="7574" cy="638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flipH="1">
            <a:off x="8362518" y="3377984"/>
            <a:ext cx="9011" cy="760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flipH="1">
            <a:off x="8355029" y="3385584"/>
            <a:ext cx="7489" cy="631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flipH="1">
            <a:off x="8345343" y="3391899"/>
            <a:ext cx="9686" cy="817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flipH="1">
            <a:off x="8338105" y="3400069"/>
            <a:ext cx="7238" cy="6106"/>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flipH="1">
            <a:off x="8329293" y="3406175"/>
            <a:ext cx="8812" cy="743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flipH="1">
            <a:off x="8322042" y="3413610"/>
            <a:ext cx="7251" cy="611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flipH="1">
            <a:off x="8314500" y="3419728"/>
            <a:ext cx="7542" cy="636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flipH="1">
            <a:off x="8308276" y="3426091"/>
            <a:ext cx="6224" cy="525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flipH="1">
            <a:off x="8303582" y="3431345"/>
            <a:ext cx="4694" cy="396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flipH="1">
            <a:off x="8297754" y="3435307"/>
            <a:ext cx="5828" cy="492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flipH="1">
            <a:off x="8289496" y="3440227"/>
            <a:ext cx="8258" cy="992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flipH="1">
            <a:off x="8283918" y="3450156"/>
            <a:ext cx="5578" cy="671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flipH="1">
            <a:off x="8278997" y="3456866"/>
            <a:ext cx="4921" cy="5921"/>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flipH="1">
            <a:off x="8270805" y="3462787"/>
            <a:ext cx="8192" cy="985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flipH="1">
            <a:off x="8266792" y="3472641"/>
            <a:ext cx="4013" cy="4828"/>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flipH="1">
            <a:off x="8257069" y="3477469"/>
            <a:ext cx="9723" cy="1169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flipH="1">
            <a:off x="8253949" y="3489168"/>
            <a:ext cx="3120" cy="375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flipH="1">
            <a:off x="8248267" y="3492923"/>
            <a:ext cx="5682" cy="683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flipH="1">
            <a:off x="8247536" y="3499760"/>
            <a:ext cx="731" cy="440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flipH="1">
            <a:off x="8246108" y="3504164"/>
            <a:ext cx="1428" cy="859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flipH="1">
            <a:off x="8244802" y="3512761"/>
            <a:ext cx="1306" cy="786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flipH="1">
            <a:off x="8242631" y="3520623"/>
            <a:ext cx="2171" cy="1308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flipH="1">
            <a:off x="8240836" y="3533706"/>
            <a:ext cx="1795" cy="1081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flipH="1">
            <a:off x="8239507" y="3544523"/>
            <a:ext cx="1329" cy="801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flipH="1">
            <a:off x="8238419" y="3552533"/>
            <a:ext cx="1088" cy="656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flipH="1">
            <a:off x="8237217" y="3559093"/>
            <a:ext cx="1202" cy="724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flipH="1">
            <a:off x="8235477" y="3566335"/>
            <a:ext cx="1740" cy="1048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flipH="1">
            <a:off x="8233200" y="3576820"/>
            <a:ext cx="2277" cy="1372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flipH="1">
            <a:off x="8230797" y="3590545"/>
            <a:ext cx="2403" cy="1449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flipH="1">
            <a:off x="8228511" y="3605040"/>
            <a:ext cx="2286" cy="1377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H="1">
            <a:off x="8225977" y="3618819"/>
            <a:ext cx="2534" cy="1528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flipH="1">
            <a:off x="8223430" y="3634106"/>
            <a:ext cx="2547" cy="15367"/>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flipH="1">
            <a:off x="8220755" y="3649473"/>
            <a:ext cx="2675" cy="16130"/>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flipH="1">
            <a:off x="8219127" y="3665603"/>
            <a:ext cx="1628" cy="9824"/>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flipH="1">
            <a:off x="8217088" y="3675427"/>
            <a:ext cx="2039" cy="1230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flipH="1">
            <a:off x="8215462" y="3687730"/>
            <a:ext cx="1626" cy="981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flipH="1">
            <a:off x="8213951" y="3697545"/>
            <a:ext cx="1511" cy="911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flipH="1">
            <a:off x="8212595" y="3706664"/>
            <a:ext cx="1356" cy="8193"/>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flipH="1">
            <a:off x="8211018" y="3714857"/>
            <a:ext cx="1577" cy="9519"/>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5" name="Connector 634"/>
          <p:cNvCxnSpPr/>
          <p:nvPr/>
        </p:nvCxnSpPr>
        <p:spPr>
          <a:xfrm flipH="1">
            <a:off x="8208026" y="3724376"/>
            <a:ext cx="2992" cy="8322"/>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flipH="1">
            <a:off x="8204734" y="3732698"/>
            <a:ext cx="3292" cy="915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flipH="1">
            <a:off x="8201360" y="3741853"/>
            <a:ext cx="3374" cy="9385"/>
          </a:xfrm>
          <a:prstGeom prst="line">
            <a:avLst/>
          </a:prstGeom>
          <a:ln w="25400">
            <a:solidFill>
              <a:srgbClr val="F6F0FC"/>
            </a:solidFill>
          </a:ln>
        </p:spPr>
        <p:style>
          <a:lnRef idx="2">
            <a:schemeClr val="accent1"/>
          </a:lnRef>
          <a:fillRef idx="0">
            <a:schemeClr val="accent1"/>
          </a:fillRef>
          <a:effectRef idx="1">
            <a:schemeClr val="accent1"/>
          </a:effectRef>
          <a:fontRef idx="minor">
            <a:schemeClr val="tx1"/>
          </a:fontRef>
        </p:style>
      </p:cxnSp>
      <p:sp>
        <p:nvSpPr>
          <p:cNvPr id="638" name="Oval 637"/>
          <p:cNvSpPr/>
          <p:nvPr/>
        </p:nvSpPr>
        <p:spPr>
          <a:xfrm>
            <a:off x="9640555" y="311249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9589604" y="3082164"/>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9506673" y="3108449"/>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9416371" y="3086002"/>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9355544" y="305348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9328320" y="2966953"/>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9245075" y="2922625"/>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9172983" y="293264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9109485" y="2942002"/>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9030616" y="2952266"/>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8952712" y="2985354"/>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Oval 648"/>
          <p:cNvSpPr/>
          <p:nvPr/>
        </p:nvSpPr>
        <p:spPr>
          <a:xfrm>
            <a:off x="8867039" y="2980653"/>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Oval 649"/>
          <p:cNvSpPr/>
          <p:nvPr/>
        </p:nvSpPr>
        <p:spPr>
          <a:xfrm>
            <a:off x="8794525" y="3002414"/>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Oval 650"/>
          <p:cNvSpPr/>
          <p:nvPr/>
        </p:nvSpPr>
        <p:spPr>
          <a:xfrm>
            <a:off x="8712026" y="3022808"/>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8652082" y="3064842"/>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8592405" y="3108314"/>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8532839" y="316908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8503592" y="3259315"/>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8433090" y="3322471"/>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8356243" y="3348738"/>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8291640" y="3403231"/>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8243932" y="3454609"/>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Oval 659"/>
          <p:cNvSpPr/>
          <p:nvPr/>
        </p:nvSpPr>
        <p:spPr>
          <a:xfrm>
            <a:off x="8217976" y="3521663"/>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Oval 660"/>
          <p:cNvSpPr/>
          <p:nvPr/>
        </p:nvSpPr>
        <p:spPr>
          <a:xfrm>
            <a:off x="8203117" y="3611246"/>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Oval 661"/>
          <p:cNvSpPr/>
          <p:nvPr/>
        </p:nvSpPr>
        <p:spPr>
          <a:xfrm>
            <a:off x="8188158" y="3701516"/>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TextBox 662"/>
          <p:cNvSpPr txBox="1"/>
          <p:nvPr/>
        </p:nvSpPr>
        <p:spPr>
          <a:xfrm>
            <a:off x="6675120" y="5449824"/>
            <a:ext cx="46634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LOFOTEN / 4 IMPORTED ROUTES</a:t>
            </a:r>
          </a:p>
        </p:txBody>
      </p:sp>
      <p:sp>
        <p:nvSpPr>
          <p:cNvPr id="664" name="Rectangle 663"/>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Rectangle 664"/>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TextBox 665"/>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Current position: a working local investigation platform with a clear path to field validation.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01 / EXECUTIVE POSITION</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The foundation is built. Field validation is the next gate.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Progress spans capture, asset context, investigation and exploratory analytics.</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docs/map-app.md · docs/masts.md · docs/event-ml.md · recorded DB snapshot</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02</a:t>
            </a:r>
          </a:p>
        </p:txBody>
      </p:sp>
      <p:sp>
        <p:nvSpPr>
          <p:cNvPr id="10" name="Rectangle 9"/>
          <p:cNvSpPr/>
          <p:nvPr/>
        </p:nvSpPr>
        <p:spPr>
          <a:xfrm>
            <a:off x="502920" y="2039112"/>
            <a:ext cx="3602736" cy="210312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39112"/>
            <a:ext cx="360273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21992"/>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BUILT</a:t>
            </a:r>
          </a:p>
        </p:txBody>
      </p:sp>
      <p:sp>
        <p:nvSpPr>
          <p:cNvPr id="13" name="TextBox 12"/>
          <p:cNvSpPr txBox="1"/>
          <p:nvPr/>
        </p:nvSpPr>
        <p:spPr>
          <a:xfrm>
            <a:off x="685800" y="2560320"/>
            <a:ext cx="3236976"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Evidence workspace</a:t>
            </a:r>
          </a:p>
        </p:txBody>
      </p:sp>
      <p:sp>
        <p:nvSpPr>
          <p:cNvPr id="14" name="TextBox 13"/>
          <p:cNvSpPr txBox="1"/>
          <p:nvPr/>
        </p:nvSpPr>
        <p:spPr>
          <a:xfrm>
            <a:off x="685800" y="3127756"/>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Map assets, inspect raw</a:t>
            </a:r>
          </a:p>
          <a:p>
            <a:pPr>
              <a:lnSpc>
                <a:spcPts val="2074"/>
              </a:lnSpc>
              <a:spcBef>
                <a:spcPts val="0"/>
              </a:spcBef>
              <a:spcAft>
                <a:spcPts val="0"/>
              </a:spcAft>
              <a:defRPr sz="1700" b="0">
                <a:solidFill>
                  <a:srgbClr val="BAA9CB"/>
                </a:solidFill>
                <a:latin typeface="IBM Plex Sans"/>
              </a:defRPr>
            </a:pPr>
            <a:r>
              <a:t>windows, replay recordings and</a:t>
            </a:r>
          </a:p>
          <a:p>
            <a:pPr>
              <a:lnSpc>
                <a:spcPts val="2074"/>
              </a:lnSpc>
              <a:spcBef>
                <a:spcPts val="0"/>
              </a:spcBef>
              <a:spcAft>
                <a:spcPts val="0"/>
              </a:spcAft>
              <a:defRPr sz="1700" b="0">
                <a:solidFill>
                  <a:srgbClr val="BAA9CB"/>
                </a:solidFill>
                <a:latin typeface="IBM Plex Sans"/>
              </a:defRPr>
            </a:pPr>
            <a:r>
              <a:t>record classification reviews.</a:t>
            </a:r>
          </a:p>
        </p:txBody>
      </p:sp>
      <p:sp>
        <p:nvSpPr>
          <p:cNvPr id="15" name="Rectangle 14"/>
          <p:cNvSpPr/>
          <p:nvPr/>
        </p:nvSpPr>
        <p:spPr>
          <a:xfrm>
            <a:off x="4288536" y="2039112"/>
            <a:ext cx="3602736" cy="210312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88536" y="2039112"/>
            <a:ext cx="360273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221992"/>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DEMONSTRATED</a:t>
            </a:r>
          </a:p>
        </p:txBody>
      </p:sp>
      <p:sp>
        <p:nvSpPr>
          <p:cNvPr id="18" name="TextBox 17"/>
          <p:cNvSpPr txBox="1"/>
          <p:nvPr/>
        </p:nvSpPr>
        <p:spPr>
          <a:xfrm>
            <a:off x="4471416" y="2560320"/>
            <a:ext cx="3236976"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Discovery workflow</a:t>
            </a:r>
          </a:p>
        </p:txBody>
      </p:sp>
      <p:sp>
        <p:nvSpPr>
          <p:cNvPr id="19" name="TextBox 18"/>
          <p:cNvSpPr txBox="1"/>
          <p:nvPr/>
        </p:nvSpPr>
        <p:spPr>
          <a:xfrm>
            <a:off x="4471416" y="3127756"/>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A bounded archive pilot extracts</a:t>
            </a:r>
          </a:p>
          <a:p>
            <a:pPr>
              <a:lnSpc>
                <a:spcPts val="2074"/>
              </a:lnSpc>
              <a:spcBef>
                <a:spcPts val="0"/>
              </a:spcBef>
              <a:spcAft>
                <a:spcPts val="0"/>
              </a:spcAft>
              <a:defRPr sz="1700" b="0">
                <a:solidFill>
                  <a:srgbClr val="BAA9CB"/>
                </a:solidFill>
                <a:latin typeface="IBM Plex Sans"/>
              </a:defRPr>
            </a:pPr>
            <a:r>
              <a:t>features and ranks candidate</a:t>
            </a:r>
          </a:p>
          <a:p>
            <a:pPr>
              <a:lnSpc>
                <a:spcPts val="2074"/>
              </a:lnSpc>
              <a:spcBef>
                <a:spcPts val="0"/>
              </a:spcBef>
              <a:spcAft>
                <a:spcPts val="0"/>
              </a:spcAft>
              <a:defRPr sz="1700" b="0">
                <a:solidFill>
                  <a:srgbClr val="BAA9CB"/>
                </a:solidFill>
                <a:latin typeface="IBM Plex Sans"/>
              </a:defRPr>
            </a:pPr>
            <a:r>
              <a:t>windows for expert review.</a:t>
            </a:r>
          </a:p>
        </p:txBody>
      </p:sp>
      <p:sp>
        <p:nvSpPr>
          <p:cNvPr id="20" name="Rectangle 19"/>
          <p:cNvSpPr/>
          <p:nvPr/>
        </p:nvSpPr>
        <p:spPr>
          <a:xfrm>
            <a:off x="8074152" y="2039112"/>
            <a:ext cx="3611880" cy="210312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4152" y="2039112"/>
            <a:ext cx="361188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221992"/>
            <a:ext cx="32461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NEXT</a:t>
            </a:r>
          </a:p>
        </p:txBody>
      </p:sp>
      <p:sp>
        <p:nvSpPr>
          <p:cNvPr id="23" name="TextBox 22"/>
          <p:cNvSpPr txBox="1"/>
          <p:nvPr/>
        </p:nvSpPr>
        <p:spPr>
          <a:xfrm>
            <a:off x="8257031" y="2560320"/>
            <a:ext cx="324612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Validated detection</a:t>
            </a:r>
          </a:p>
        </p:txBody>
      </p:sp>
      <p:sp>
        <p:nvSpPr>
          <p:cNvPr id="24" name="TextBox 23"/>
          <p:cNvSpPr txBox="1"/>
          <p:nvPr/>
        </p:nvSpPr>
        <p:spPr>
          <a:xfrm>
            <a:off x="8257031" y="3127756"/>
            <a:ext cx="324612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Verify timing and geography;</a:t>
            </a:r>
          </a:p>
          <a:p>
            <a:pPr>
              <a:lnSpc>
                <a:spcPts val="2074"/>
              </a:lnSpc>
              <a:spcBef>
                <a:spcPts val="0"/>
              </a:spcBef>
              <a:spcAft>
                <a:spcPts val="0"/>
              </a:spcAft>
              <a:defRPr sz="1700" b="0">
                <a:solidFill>
                  <a:srgbClr val="BAA9CB"/>
                </a:solidFill>
                <a:latin typeface="IBM Plex Sans"/>
              </a:defRPr>
            </a:pPr>
            <a:r>
              <a:t>collect independent labels;</a:t>
            </a:r>
          </a:p>
          <a:p>
            <a:pPr>
              <a:lnSpc>
                <a:spcPts val="2074"/>
              </a:lnSpc>
              <a:spcBef>
                <a:spcPts val="0"/>
              </a:spcBef>
              <a:spcAft>
                <a:spcPts val="0"/>
              </a:spcAft>
              <a:defRPr sz="1700" b="0">
                <a:solidFill>
                  <a:srgbClr val="BAA9CB"/>
                </a:solidFill>
                <a:latin typeface="IBM Plex Sans"/>
              </a:defRPr>
            </a:pPr>
            <a:r>
              <a:t>evaluate by incident and season.</a:t>
            </a:r>
          </a:p>
        </p:txBody>
      </p:sp>
      <p:sp>
        <p:nvSpPr>
          <p:cNvPr id="25" name="TextBox 24"/>
          <p:cNvSpPr txBox="1"/>
          <p:nvPr/>
        </p:nvSpPr>
        <p:spPr>
          <a:xfrm>
            <a:off x="685800" y="4434840"/>
            <a:ext cx="237744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579</a:t>
            </a:r>
          </a:p>
        </p:txBody>
      </p:sp>
      <p:sp>
        <p:nvSpPr>
          <p:cNvPr id="26" name="TextBox 25"/>
          <p:cNvSpPr txBox="1"/>
          <p:nvPr/>
        </p:nvSpPr>
        <p:spPr>
          <a:xfrm>
            <a:off x="685800" y="5157216"/>
            <a:ext cx="237744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imported masts</a:t>
            </a:r>
          </a:p>
        </p:txBody>
      </p:sp>
      <p:sp>
        <p:nvSpPr>
          <p:cNvPr id="27" name="TextBox 26"/>
          <p:cNvSpPr txBox="1"/>
          <p:nvPr/>
        </p:nvSpPr>
        <p:spPr>
          <a:xfrm>
            <a:off x="3529584" y="4434840"/>
            <a:ext cx="237744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575</a:t>
            </a:r>
          </a:p>
        </p:txBody>
      </p:sp>
      <p:sp>
        <p:nvSpPr>
          <p:cNvPr id="28" name="TextBox 27"/>
          <p:cNvSpPr txBox="1"/>
          <p:nvPr/>
        </p:nvSpPr>
        <p:spPr>
          <a:xfrm>
            <a:off x="3529584" y="5157216"/>
            <a:ext cx="237744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inferred connections</a:t>
            </a:r>
          </a:p>
        </p:txBody>
      </p:sp>
      <p:sp>
        <p:nvSpPr>
          <p:cNvPr id="29" name="TextBox 28"/>
          <p:cNvSpPr txBox="1"/>
          <p:nvPr/>
        </p:nvSpPr>
        <p:spPr>
          <a:xfrm>
            <a:off x="6373368" y="4434840"/>
            <a:ext cx="237744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115,847</a:t>
            </a:r>
          </a:p>
        </p:txBody>
      </p:sp>
      <p:sp>
        <p:nvSpPr>
          <p:cNvPr id="30" name="TextBox 29"/>
          <p:cNvSpPr txBox="1"/>
          <p:nvPr/>
        </p:nvSpPr>
        <p:spPr>
          <a:xfrm>
            <a:off x="6373368" y="5157216"/>
            <a:ext cx="237744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legacy RMS event records</a:t>
            </a:r>
          </a:p>
        </p:txBody>
      </p:sp>
      <p:sp>
        <p:nvSpPr>
          <p:cNvPr id="31" name="TextBox 30"/>
          <p:cNvSpPr txBox="1"/>
          <p:nvPr/>
        </p:nvSpPr>
        <p:spPr>
          <a:xfrm>
            <a:off x="9308592" y="4434840"/>
            <a:ext cx="237744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4</a:t>
            </a:r>
          </a:p>
        </p:txBody>
      </p:sp>
      <p:sp>
        <p:nvSpPr>
          <p:cNvPr id="32" name="TextBox 31"/>
          <p:cNvSpPr txBox="1"/>
          <p:nvPr/>
        </p:nvSpPr>
        <p:spPr>
          <a:xfrm>
            <a:off x="9308592" y="5157216"/>
            <a:ext cx="237744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target event classes</a:t>
            </a:r>
          </a:p>
        </p:txBody>
      </p:sp>
      <p:sp>
        <p:nvSpPr>
          <p:cNvPr id="33" name="Rectangle 32"/>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A strong software foundation; classification accuracy and operational benefit remain to be measured.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02 / PRODUCT INTENT</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Turn distributed measurements into actionable evidence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The intended operator outcome: find where to investigate, why it matters and what supports the decision.</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AGENTS.md · docs/event-ml.md; operational outcomes are project goals</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03</a:t>
            </a:r>
          </a:p>
        </p:txBody>
      </p:sp>
      <p:sp>
        <p:nvSpPr>
          <p:cNvPr id="10" name="Rectangle 9"/>
          <p:cNvSpPr/>
          <p:nvPr/>
        </p:nvSpPr>
        <p:spPr>
          <a:xfrm>
            <a:off x="502920" y="2066543"/>
            <a:ext cx="2651760" cy="269748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66543"/>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49424"/>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TARGET CLASS 01</a:t>
            </a:r>
          </a:p>
        </p:txBody>
      </p:sp>
      <p:sp>
        <p:nvSpPr>
          <p:cNvPr id="13" name="TextBox 12"/>
          <p:cNvSpPr txBox="1"/>
          <p:nvPr/>
        </p:nvSpPr>
        <p:spPr>
          <a:xfrm>
            <a:off x="685800" y="2587751"/>
            <a:ext cx="2286000" cy="869695"/>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Normal</a:t>
            </a:r>
          </a:p>
          <a:p>
            <a:pPr>
              <a:lnSpc>
                <a:spcPts val="3172"/>
              </a:lnSpc>
              <a:spcBef>
                <a:spcPts val="0"/>
              </a:spcBef>
              <a:spcAft>
                <a:spcPts val="0"/>
              </a:spcAft>
              <a:defRPr sz="2600" b="1">
                <a:solidFill>
                  <a:srgbClr val="F6F0FC"/>
                </a:solidFill>
                <a:latin typeface="IBM Plex Sans Condensed"/>
              </a:defRPr>
            </a:pPr>
            <a:r>
              <a:t>Operations</a:t>
            </a:r>
          </a:p>
        </p:txBody>
      </p:sp>
      <p:sp>
        <p:nvSpPr>
          <p:cNvPr id="14" name="TextBox 13"/>
          <p:cNvSpPr txBox="1"/>
          <p:nvPr/>
        </p:nvSpPr>
        <p:spPr>
          <a:xfrm>
            <a:off x="685800" y="3558032"/>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Establish the range of</a:t>
            </a:r>
          </a:p>
          <a:p>
            <a:pPr>
              <a:lnSpc>
                <a:spcPts val="2074"/>
              </a:lnSpc>
              <a:spcBef>
                <a:spcPts val="0"/>
              </a:spcBef>
              <a:spcAft>
                <a:spcPts val="0"/>
              </a:spcAft>
              <a:defRPr sz="1700" b="0">
                <a:solidFill>
                  <a:srgbClr val="BAA9CB"/>
                </a:solidFill>
                <a:latin typeface="IBM Plex Sans"/>
              </a:defRPr>
            </a:pPr>
            <a:r>
              <a:t>normal behaviour,</a:t>
            </a:r>
          </a:p>
          <a:p>
            <a:pPr>
              <a:lnSpc>
                <a:spcPts val="2074"/>
              </a:lnSpc>
              <a:spcBef>
                <a:spcPts val="0"/>
              </a:spcBef>
              <a:spcAft>
                <a:spcPts val="0"/>
              </a:spcAft>
              <a:defRPr sz="1700" b="0">
                <a:solidFill>
                  <a:srgbClr val="BAA9CB"/>
                </a:solidFill>
                <a:latin typeface="IBM Plex Sans"/>
              </a:defRPr>
            </a:pPr>
            <a:r>
              <a:t>including wind.</a:t>
            </a:r>
          </a:p>
        </p:txBody>
      </p:sp>
      <p:sp>
        <p:nvSpPr>
          <p:cNvPr id="15" name="Rectangle 14"/>
          <p:cNvSpPr/>
          <p:nvPr/>
        </p:nvSpPr>
        <p:spPr>
          <a:xfrm>
            <a:off x="3346704" y="2066543"/>
            <a:ext cx="2651760" cy="269748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6704" y="2066543"/>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249424"/>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TARGET CLASS 02</a:t>
            </a:r>
          </a:p>
        </p:txBody>
      </p:sp>
      <p:sp>
        <p:nvSpPr>
          <p:cNvPr id="18" name="TextBox 17"/>
          <p:cNvSpPr txBox="1"/>
          <p:nvPr/>
        </p:nvSpPr>
        <p:spPr>
          <a:xfrm>
            <a:off x="3529584" y="2587751"/>
            <a:ext cx="2286000" cy="869695"/>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Ice</a:t>
            </a:r>
          </a:p>
          <a:p>
            <a:pPr>
              <a:lnSpc>
                <a:spcPts val="3172"/>
              </a:lnSpc>
              <a:spcBef>
                <a:spcPts val="0"/>
              </a:spcBef>
              <a:spcAft>
                <a:spcPts val="0"/>
              </a:spcAft>
              <a:defRPr sz="2600" b="1">
                <a:solidFill>
                  <a:srgbClr val="F6F0FC"/>
                </a:solidFill>
                <a:latin typeface="IBM Plex Sans Condensed"/>
              </a:defRPr>
            </a:pPr>
            <a:r>
              <a:t>Loading</a:t>
            </a:r>
          </a:p>
        </p:txBody>
      </p:sp>
      <p:sp>
        <p:nvSpPr>
          <p:cNvPr id="19" name="TextBox 18"/>
          <p:cNvSpPr txBox="1"/>
          <p:nvPr/>
        </p:nvSpPr>
        <p:spPr>
          <a:xfrm>
            <a:off x="3529584" y="3558032"/>
            <a:ext cx="2286000"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Test whether signal</a:t>
            </a:r>
          </a:p>
          <a:p>
            <a:pPr>
              <a:lnSpc>
                <a:spcPts val="2074"/>
              </a:lnSpc>
              <a:spcBef>
                <a:spcPts val="0"/>
              </a:spcBef>
              <a:spcAft>
                <a:spcPts val="0"/>
              </a:spcAft>
              <a:defRPr sz="1700" b="0">
                <a:solidFill>
                  <a:srgbClr val="BAA9CB"/>
                </a:solidFill>
                <a:latin typeface="IBM Plex Sans"/>
              </a:defRPr>
            </a:pPr>
            <a:r>
              <a:t>changes can</a:t>
            </a:r>
          </a:p>
          <a:p>
            <a:pPr>
              <a:lnSpc>
                <a:spcPts val="2074"/>
              </a:lnSpc>
              <a:spcBef>
                <a:spcPts val="0"/>
              </a:spcBef>
              <a:spcAft>
                <a:spcPts val="0"/>
              </a:spcAft>
              <a:defRPr sz="1700" b="0">
                <a:solidFill>
                  <a:srgbClr val="BAA9CB"/>
                </a:solidFill>
                <a:latin typeface="IBM Plex Sans"/>
              </a:defRPr>
            </a:pPr>
            <a:r>
              <a:t>distinguish ice-related</a:t>
            </a:r>
          </a:p>
          <a:p>
            <a:pPr>
              <a:lnSpc>
                <a:spcPts val="2074"/>
              </a:lnSpc>
              <a:spcBef>
                <a:spcPts val="0"/>
              </a:spcBef>
              <a:spcAft>
                <a:spcPts val="0"/>
              </a:spcAft>
              <a:defRPr sz="1700" b="0">
                <a:solidFill>
                  <a:srgbClr val="BAA9CB"/>
                </a:solidFill>
                <a:latin typeface="IBM Plex Sans"/>
              </a:defRPr>
            </a:pPr>
            <a:r>
              <a:t>conditions.</a:t>
            </a:r>
          </a:p>
        </p:txBody>
      </p:sp>
      <p:sp>
        <p:nvSpPr>
          <p:cNvPr id="20" name="Rectangle 19"/>
          <p:cNvSpPr/>
          <p:nvPr/>
        </p:nvSpPr>
        <p:spPr>
          <a:xfrm>
            <a:off x="6190488" y="2066543"/>
            <a:ext cx="2651760" cy="269748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2066543"/>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249424"/>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TARGET CLASS 03</a:t>
            </a:r>
          </a:p>
        </p:txBody>
      </p:sp>
      <p:sp>
        <p:nvSpPr>
          <p:cNvPr id="23" name="TextBox 22"/>
          <p:cNvSpPr txBox="1"/>
          <p:nvPr/>
        </p:nvSpPr>
        <p:spPr>
          <a:xfrm>
            <a:off x="6373368" y="2587751"/>
            <a:ext cx="2286000" cy="869695"/>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Wind</a:t>
            </a:r>
          </a:p>
          <a:p>
            <a:pPr>
              <a:lnSpc>
                <a:spcPts val="3172"/>
              </a:lnSpc>
              <a:spcBef>
                <a:spcPts val="0"/>
              </a:spcBef>
              <a:spcAft>
                <a:spcPts val="0"/>
              </a:spcAft>
              <a:defRPr sz="2600" b="1">
                <a:solidFill>
                  <a:srgbClr val="F6F0FC"/>
                </a:solidFill>
                <a:latin typeface="IBM Plex Sans Condensed"/>
              </a:defRPr>
            </a:pPr>
            <a:r>
              <a:t>Galloping</a:t>
            </a:r>
          </a:p>
        </p:txBody>
      </p:sp>
      <p:sp>
        <p:nvSpPr>
          <p:cNvPr id="24" name="TextBox 23"/>
          <p:cNvSpPr txBox="1"/>
          <p:nvPr/>
        </p:nvSpPr>
        <p:spPr>
          <a:xfrm>
            <a:off x="6373368" y="3558032"/>
            <a:ext cx="2286000"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Validate sustained</a:t>
            </a:r>
          </a:p>
          <a:p>
            <a:pPr>
              <a:lnSpc>
                <a:spcPts val="2074"/>
              </a:lnSpc>
              <a:spcBef>
                <a:spcPts val="0"/>
              </a:spcBef>
              <a:spcAft>
                <a:spcPts val="0"/>
              </a:spcAft>
              <a:defRPr sz="1700" b="0">
                <a:solidFill>
                  <a:srgbClr val="BAA9CB"/>
                </a:solidFill>
                <a:latin typeface="IBM Plex Sans"/>
              </a:defRPr>
            </a:pPr>
            <a:r>
              <a:t>motion patterns</a:t>
            </a:r>
          </a:p>
          <a:p>
            <a:pPr>
              <a:lnSpc>
                <a:spcPts val="2074"/>
              </a:lnSpc>
              <a:spcBef>
                <a:spcPts val="0"/>
              </a:spcBef>
              <a:spcAft>
                <a:spcPts val="0"/>
              </a:spcAft>
              <a:defRPr sz="1700" b="0">
                <a:solidFill>
                  <a:srgbClr val="BAA9CB"/>
                </a:solidFill>
                <a:latin typeface="IBM Plex Sans"/>
              </a:defRPr>
            </a:pPr>
            <a:r>
              <a:t>against field</a:t>
            </a:r>
          </a:p>
          <a:p>
            <a:pPr>
              <a:lnSpc>
                <a:spcPts val="2074"/>
              </a:lnSpc>
              <a:spcBef>
                <a:spcPts val="0"/>
              </a:spcBef>
              <a:spcAft>
                <a:spcPts val="0"/>
              </a:spcAft>
              <a:defRPr sz="1700" b="0">
                <a:solidFill>
                  <a:srgbClr val="BAA9CB"/>
                </a:solidFill>
                <a:latin typeface="IBM Plex Sans"/>
              </a:defRPr>
            </a:pPr>
            <a:r>
              <a:t>observations.</a:t>
            </a:r>
          </a:p>
        </p:txBody>
      </p:sp>
      <p:sp>
        <p:nvSpPr>
          <p:cNvPr id="25" name="Rectangle 24"/>
          <p:cNvSpPr/>
          <p:nvPr/>
        </p:nvSpPr>
        <p:spPr>
          <a:xfrm>
            <a:off x="9034272" y="2066543"/>
            <a:ext cx="2651760" cy="269748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34272" y="2066543"/>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2249424"/>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TARGET CLASS 04</a:t>
            </a:r>
          </a:p>
        </p:txBody>
      </p:sp>
      <p:sp>
        <p:nvSpPr>
          <p:cNvPr id="28" name="TextBox 27"/>
          <p:cNvSpPr txBox="1"/>
          <p:nvPr/>
        </p:nvSpPr>
        <p:spPr>
          <a:xfrm>
            <a:off x="9217152" y="2587751"/>
            <a:ext cx="2286000" cy="869695"/>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External</a:t>
            </a:r>
          </a:p>
          <a:p>
            <a:pPr>
              <a:lnSpc>
                <a:spcPts val="3172"/>
              </a:lnSpc>
              <a:spcBef>
                <a:spcPts val="0"/>
              </a:spcBef>
              <a:spcAft>
                <a:spcPts val="0"/>
              </a:spcAft>
              <a:defRPr sz="2600" b="1">
                <a:solidFill>
                  <a:srgbClr val="F6F0FC"/>
                </a:solidFill>
                <a:latin typeface="IBM Plex Sans Condensed"/>
              </a:defRPr>
            </a:pPr>
            <a:r>
              <a:t>Interference</a:t>
            </a:r>
          </a:p>
        </p:txBody>
      </p:sp>
      <p:sp>
        <p:nvSpPr>
          <p:cNvPr id="29" name="TextBox 28"/>
          <p:cNvSpPr txBox="1"/>
          <p:nvPr/>
        </p:nvSpPr>
        <p:spPr>
          <a:xfrm>
            <a:off x="9217152" y="3558032"/>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Review strikes,</a:t>
            </a:r>
          </a:p>
          <a:p>
            <a:pPr>
              <a:lnSpc>
                <a:spcPts val="2074"/>
              </a:lnSpc>
              <a:spcBef>
                <a:spcPts val="0"/>
              </a:spcBef>
              <a:spcAft>
                <a:spcPts val="0"/>
              </a:spcAft>
              <a:defRPr sz="1700" b="0">
                <a:solidFill>
                  <a:srgbClr val="BAA9CB"/>
                </a:solidFill>
                <a:latin typeface="IBM Plex Sans"/>
              </a:defRPr>
            </a:pPr>
            <a:r>
              <a:t>vegetation contact and</a:t>
            </a:r>
          </a:p>
          <a:p>
            <a:pPr>
              <a:lnSpc>
                <a:spcPts val="2074"/>
              </a:lnSpc>
              <a:spcBef>
                <a:spcPts val="0"/>
              </a:spcBef>
              <a:spcAft>
                <a:spcPts val="0"/>
              </a:spcAft>
              <a:defRPr sz="1700" b="0">
                <a:solidFill>
                  <a:srgbClr val="BAA9CB"/>
                </a:solidFill>
                <a:latin typeface="IBM Plex Sans"/>
              </a:defRPr>
            </a:pPr>
            <a:r>
              <a:t>other disturbances.</a:t>
            </a:r>
          </a:p>
        </p:txBody>
      </p:sp>
      <p:sp>
        <p:nvSpPr>
          <p:cNvPr id="30" name="TextBox 29"/>
          <p:cNvSpPr txBox="1"/>
          <p:nvPr/>
        </p:nvSpPr>
        <p:spPr>
          <a:xfrm>
            <a:off x="667512" y="5193792"/>
            <a:ext cx="178308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CFADF0"/>
                </a:solidFill>
                <a:latin typeface="IBM Plex Mono"/>
              </a:defRPr>
            </a:pPr>
            <a:r>
              <a:t>MEASURE</a:t>
            </a:r>
          </a:p>
        </p:txBody>
      </p:sp>
      <p:sp>
        <p:nvSpPr>
          <p:cNvPr id="31" name="TextBox 30"/>
          <p:cNvSpPr txBox="1"/>
          <p:nvPr/>
        </p:nvSpPr>
        <p:spPr>
          <a:xfrm>
            <a:off x="2633472" y="5102352"/>
            <a:ext cx="365760" cy="466852"/>
          </a:xfrm>
          <a:prstGeom prst="rect">
            <a:avLst/>
          </a:prstGeom>
          <a:noFill/>
        </p:spPr>
        <p:txBody>
          <a:bodyPr wrap="none" lIns="0" rIns="0" tIns="0" bIns="0">
            <a:spAutoFit/>
          </a:bodyPr>
          <a:lstStyle/>
          <a:p>
            <a:pPr>
              <a:lnSpc>
                <a:spcPts val="3172"/>
              </a:lnSpc>
              <a:spcBef>
                <a:spcPts val="0"/>
              </a:spcBef>
              <a:spcAft>
                <a:spcPts val="0"/>
              </a:spcAft>
              <a:defRPr sz="2600" b="0">
                <a:solidFill>
                  <a:srgbClr val="9D6BD0"/>
                </a:solidFill>
                <a:latin typeface="IBM Plex Sans"/>
              </a:defRPr>
            </a:pPr>
            <a:r>
              <a:t>&gt;</a:t>
            </a:r>
          </a:p>
        </p:txBody>
      </p:sp>
      <p:sp>
        <p:nvSpPr>
          <p:cNvPr id="32" name="TextBox 31"/>
          <p:cNvSpPr txBox="1"/>
          <p:nvPr/>
        </p:nvSpPr>
        <p:spPr>
          <a:xfrm>
            <a:off x="3227832" y="5193792"/>
            <a:ext cx="178308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CFADF0"/>
                </a:solidFill>
                <a:latin typeface="IBM Plex Mono"/>
              </a:defRPr>
            </a:pPr>
            <a:r>
              <a:t>LOCATE</a:t>
            </a:r>
          </a:p>
        </p:txBody>
      </p:sp>
      <p:sp>
        <p:nvSpPr>
          <p:cNvPr id="33" name="TextBox 32"/>
          <p:cNvSpPr txBox="1"/>
          <p:nvPr/>
        </p:nvSpPr>
        <p:spPr>
          <a:xfrm>
            <a:off x="5184648" y="5102352"/>
            <a:ext cx="365760" cy="466852"/>
          </a:xfrm>
          <a:prstGeom prst="rect">
            <a:avLst/>
          </a:prstGeom>
          <a:noFill/>
        </p:spPr>
        <p:txBody>
          <a:bodyPr wrap="none" lIns="0" rIns="0" tIns="0" bIns="0">
            <a:spAutoFit/>
          </a:bodyPr>
          <a:lstStyle/>
          <a:p>
            <a:pPr>
              <a:lnSpc>
                <a:spcPts val="3172"/>
              </a:lnSpc>
              <a:spcBef>
                <a:spcPts val="0"/>
              </a:spcBef>
              <a:spcAft>
                <a:spcPts val="0"/>
              </a:spcAft>
              <a:defRPr sz="2600" b="0">
                <a:solidFill>
                  <a:srgbClr val="9D6BD0"/>
                </a:solidFill>
                <a:latin typeface="IBM Plex Sans"/>
              </a:defRPr>
            </a:pPr>
            <a:r>
              <a:t>&gt;</a:t>
            </a:r>
          </a:p>
        </p:txBody>
      </p:sp>
      <p:sp>
        <p:nvSpPr>
          <p:cNvPr id="34" name="TextBox 33"/>
          <p:cNvSpPr txBox="1"/>
          <p:nvPr/>
        </p:nvSpPr>
        <p:spPr>
          <a:xfrm>
            <a:off x="5833872" y="5193792"/>
            <a:ext cx="173736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CFADF0"/>
                </a:solidFill>
                <a:latin typeface="IBM Plex Mono"/>
              </a:defRPr>
            </a:pPr>
            <a:r>
              <a:t>REVIEW</a:t>
            </a:r>
          </a:p>
        </p:txBody>
      </p:sp>
      <p:sp>
        <p:nvSpPr>
          <p:cNvPr id="35" name="TextBox 34"/>
          <p:cNvSpPr txBox="1"/>
          <p:nvPr/>
        </p:nvSpPr>
        <p:spPr>
          <a:xfrm>
            <a:off x="7754112" y="5102352"/>
            <a:ext cx="365760" cy="466852"/>
          </a:xfrm>
          <a:prstGeom prst="rect">
            <a:avLst/>
          </a:prstGeom>
          <a:noFill/>
        </p:spPr>
        <p:txBody>
          <a:bodyPr wrap="none" lIns="0" rIns="0" tIns="0" bIns="0">
            <a:spAutoFit/>
          </a:bodyPr>
          <a:lstStyle/>
          <a:p>
            <a:pPr>
              <a:lnSpc>
                <a:spcPts val="3172"/>
              </a:lnSpc>
              <a:spcBef>
                <a:spcPts val="0"/>
              </a:spcBef>
              <a:spcAft>
                <a:spcPts val="0"/>
              </a:spcAft>
              <a:defRPr sz="2600" b="0">
                <a:solidFill>
                  <a:srgbClr val="9D6BD0"/>
                </a:solidFill>
                <a:latin typeface="IBM Plex Sans"/>
              </a:defRPr>
            </a:pPr>
            <a:r>
              <a:t>&gt;</a:t>
            </a:r>
          </a:p>
        </p:txBody>
      </p:sp>
      <p:sp>
        <p:nvSpPr>
          <p:cNvPr id="36" name="TextBox 35"/>
          <p:cNvSpPr txBox="1"/>
          <p:nvPr/>
        </p:nvSpPr>
        <p:spPr>
          <a:xfrm>
            <a:off x="8321040" y="5193792"/>
            <a:ext cx="292608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CFADF0"/>
                </a:solidFill>
                <a:latin typeface="IBM Plex Mono"/>
              </a:defRPr>
            </a:pPr>
            <a:r>
              <a:t>PRIORITISE ACTION</a:t>
            </a:r>
          </a:p>
        </p:txBody>
      </p:sp>
      <p:sp>
        <p:nvSpPr>
          <p:cNvPr id="37" name="Rectangle 36"/>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Proposed value: earlier investigation and better maintenance prioritisation, measured during the pilot.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03 / SYSTEM ARCHITECTURE</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One evidence chain connects signals, assets and review</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HDF5 stores the signal; PostgreSQL stores context; the API serves bounded analysis to the browser.</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docs/map-app.md · src/Mapui/{api,signals,metrics,live}.py</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04</a:t>
            </a:r>
          </a:p>
        </p:txBody>
      </p:sp>
      <p:sp>
        <p:nvSpPr>
          <p:cNvPr id="10" name="Rectangle 9"/>
          <p:cNvSpPr/>
          <p:nvPr/>
        </p:nvSpPr>
        <p:spPr>
          <a:xfrm>
            <a:off x="502920" y="2057400"/>
            <a:ext cx="2377440" cy="2487168"/>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57400"/>
            <a:ext cx="237744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40280"/>
            <a:ext cx="201168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INPUT</a:t>
            </a:r>
          </a:p>
        </p:txBody>
      </p:sp>
      <p:sp>
        <p:nvSpPr>
          <p:cNvPr id="13" name="TextBox 12"/>
          <p:cNvSpPr txBox="1"/>
          <p:nvPr/>
        </p:nvSpPr>
        <p:spPr>
          <a:xfrm>
            <a:off x="685800" y="2578608"/>
            <a:ext cx="2011680" cy="451358"/>
          </a:xfrm>
          <a:prstGeom prst="rect">
            <a:avLst/>
          </a:prstGeom>
          <a:noFill/>
        </p:spPr>
        <p:txBody>
          <a:bodyPr wrap="none" lIns="0" rIns="0" tIns="0" bIns="0">
            <a:spAutoFit/>
          </a:bodyPr>
          <a:lstStyle/>
          <a:p>
            <a:pPr>
              <a:lnSpc>
                <a:spcPts val="3050"/>
              </a:lnSpc>
              <a:spcBef>
                <a:spcPts val="0"/>
              </a:spcBef>
              <a:spcAft>
                <a:spcPts val="0"/>
              </a:spcAft>
              <a:defRPr sz="2500" b="1">
                <a:solidFill>
                  <a:srgbClr val="F6F0FC"/>
                </a:solidFill>
                <a:latin typeface="IBM Plex Sans Condensed"/>
              </a:defRPr>
            </a:pPr>
            <a:r>
              <a:t>DAS archive</a:t>
            </a:r>
          </a:p>
        </p:txBody>
      </p:sp>
      <p:sp>
        <p:nvSpPr>
          <p:cNvPr id="14" name="TextBox 13"/>
          <p:cNvSpPr txBox="1"/>
          <p:nvPr/>
        </p:nvSpPr>
        <p:spPr>
          <a:xfrm>
            <a:off x="685800" y="3130550"/>
            <a:ext cx="2011680"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Interrogator</a:t>
            </a:r>
          </a:p>
          <a:p>
            <a:pPr>
              <a:lnSpc>
                <a:spcPts val="2074"/>
              </a:lnSpc>
              <a:spcBef>
                <a:spcPts val="0"/>
              </a:spcBef>
              <a:spcAft>
                <a:spcPts val="0"/>
              </a:spcAft>
              <a:defRPr sz="1700" b="0">
                <a:solidFill>
                  <a:srgbClr val="BAA9CB"/>
                </a:solidFill>
                <a:latin typeface="IBM Plex Sans"/>
              </a:defRPr>
            </a:pPr>
            <a:r>
              <a:t>Completed HDF5</a:t>
            </a:r>
          </a:p>
          <a:p>
            <a:pPr>
              <a:lnSpc>
                <a:spcPts val="2074"/>
              </a:lnSpc>
              <a:spcBef>
                <a:spcPts val="0"/>
              </a:spcBef>
              <a:spcAft>
                <a:spcPts val="0"/>
              </a:spcAft>
              <a:defRPr sz="1700" b="0">
                <a:solidFill>
                  <a:srgbClr val="BAA9CB"/>
                </a:solidFill>
                <a:latin typeface="IBM Plex Sans"/>
              </a:defRPr>
            </a:pPr>
            <a:r>
              <a:t>files</a:t>
            </a:r>
          </a:p>
          <a:p>
            <a:pPr>
              <a:lnSpc>
                <a:spcPts val="2074"/>
              </a:lnSpc>
              <a:spcBef>
                <a:spcPts val="0"/>
              </a:spcBef>
              <a:spcAft>
                <a:spcPts val="0"/>
              </a:spcAft>
              <a:defRPr sz="1700" b="0">
                <a:solidFill>
                  <a:srgbClr val="BAA9CB"/>
                </a:solidFill>
                <a:latin typeface="IBM Plex Sans"/>
              </a:defRPr>
            </a:pPr>
            <a:r>
              <a:t>Explicit channel IDs</a:t>
            </a:r>
          </a:p>
        </p:txBody>
      </p:sp>
      <p:sp>
        <p:nvSpPr>
          <p:cNvPr id="15" name="Rectangle 14"/>
          <p:cNvSpPr/>
          <p:nvPr/>
        </p:nvSpPr>
        <p:spPr>
          <a:xfrm>
            <a:off x="3319272" y="2057400"/>
            <a:ext cx="2450592" cy="2487168"/>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2057400"/>
            <a:ext cx="2450592"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2240280"/>
            <a:ext cx="208483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PROCESSING</a:t>
            </a:r>
          </a:p>
        </p:txBody>
      </p:sp>
      <p:sp>
        <p:nvSpPr>
          <p:cNvPr id="18" name="TextBox 17"/>
          <p:cNvSpPr txBox="1"/>
          <p:nvPr/>
        </p:nvSpPr>
        <p:spPr>
          <a:xfrm>
            <a:off x="3502152" y="2578608"/>
            <a:ext cx="2084832" cy="838708"/>
          </a:xfrm>
          <a:prstGeom prst="rect">
            <a:avLst/>
          </a:prstGeom>
          <a:noFill/>
        </p:spPr>
        <p:txBody>
          <a:bodyPr wrap="none" lIns="0" rIns="0" tIns="0" bIns="0">
            <a:spAutoFit/>
          </a:bodyPr>
          <a:lstStyle/>
          <a:p>
            <a:pPr>
              <a:lnSpc>
                <a:spcPts val="3050"/>
              </a:lnSpc>
              <a:spcBef>
                <a:spcPts val="0"/>
              </a:spcBef>
              <a:spcAft>
                <a:spcPts val="0"/>
              </a:spcAft>
              <a:defRPr sz="2500" b="1">
                <a:solidFill>
                  <a:srgbClr val="F6F0FC"/>
                </a:solidFill>
                <a:latin typeface="IBM Plex Sans Condensed"/>
              </a:defRPr>
            </a:pPr>
            <a:r>
              <a:t>Bounded</a:t>
            </a:r>
          </a:p>
          <a:p>
            <a:pPr>
              <a:lnSpc>
                <a:spcPts val="3050"/>
              </a:lnSpc>
              <a:spcBef>
                <a:spcPts val="0"/>
              </a:spcBef>
              <a:spcAft>
                <a:spcPts val="0"/>
              </a:spcAft>
              <a:defRPr sz="2500" b="1">
                <a:solidFill>
                  <a:srgbClr val="F6F0FC"/>
                </a:solidFill>
                <a:latin typeface="IBM Plex Sans Condensed"/>
              </a:defRPr>
            </a:pPr>
            <a:r>
              <a:t>analysis</a:t>
            </a:r>
          </a:p>
        </p:txBody>
      </p:sp>
      <p:sp>
        <p:nvSpPr>
          <p:cNvPr id="19" name="TextBox 18"/>
          <p:cNvSpPr txBox="1"/>
          <p:nvPr/>
        </p:nvSpPr>
        <p:spPr>
          <a:xfrm>
            <a:off x="3502152" y="3517900"/>
            <a:ext cx="2084832"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Python / h5py</a:t>
            </a:r>
          </a:p>
          <a:p>
            <a:pPr>
              <a:lnSpc>
                <a:spcPts val="2074"/>
              </a:lnSpc>
              <a:spcBef>
                <a:spcPts val="0"/>
              </a:spcBef>
              <a:spcAft>
                <a:spcPts val="0"/>
              </a:spcAft>
              <a:defRPr sz="1700" b="0">
                <a:solidFill>
                  <a:srgbClr val="BAA9CB"/>
                </a:solidFill>
                <a:latin typeface="IBM Plex Sans"/>
              </a:defRPr>
            </a:pPr>
            <a:r>
              <a:t>Fixed-frame metrics</a:t>
            </a:r>
          </a:p>
          <a:p>
            <a:pPr>
              <a:lnSpc>
                <a:spcPts val="2074"/>
              </a:lnSpc>
              <a:spcBef>
                <a:spcPts val="0"/>
              </a:spcBef>
              <a:spcAft>
                <a:spcPts val="0"/>
              </a:spcAft>
              <a:defRPr sz="1700" b="0">
                <a:solidFill>
                  <a:srgbClr val="BAA9CB"/>
                </a:solidFill>
                <a:latin typeface="IBM Plex Sans"/>
              </a:defRPr>
            </a:pPr>
            <a:r>
              <a:t>Replay + file</a:t>
            </a:r>
          </a:p>
          <a:p>
            <a:pPr>
              <a:lnSpc>
                <a:spcPts val="2074"/>
              </a:lnSpc>
              <a:spcBef>
                <a:spcPts val="0"/>
              </a:spcBef>
              <a:spcAft>
                <a:spcPts val="0"/>
              </a:spcAft>
              <a:defRPr sz="1700" b="0">
                <a:solidFill>
                  <a:srgbClr val="BAA9CB"/>
                </a:solidFill>
                <a:latin typeface="IBM Plex Sans"/>
              </a:defRPr>
            </a:pPr>
            <a:r>
              <a:t>snapshots</a:t>
            </a:r>
          </a:p>
        </p:txBody>
      </p:sp>
      <p:sp>
        <p:nvSpPr>
          <p:cNvPr id="20" name="Rectangle 19"/>
          <p:cNvSpPr/>
          <p:nvPr/>
        </p:nvSpPr>
        <p:spPr>
          <a:xfrm>
            <a:off x="6217920" y="2057400"/>
            <a:ext cx="2450592" cy="2487168"/>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17920" y="2057400"/>
            <a:ext cx="2450592"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0" y="2240280"/>
            <a:ext cx="208483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SERVICE</a:t>
            </a:r>
          </a:p>
        </p:txBody>
      </p:sp>
      <p:sp>
        <p:nvSpPr>
          <p:cNvPr id="23" name="TextBox 22"/>
          <p:cNvSpPr txBox="1"/>
          <p:nvPr/>
        </p:nvSpPr>
        <p:spPr>
          <a:xfrm>
            <a:off x="6400800" y="2578608"/>
            <a:ext cx="2084832" cy="451358"/>
          </a:xfrm>
          <a:prstGeom prst="rect">
            <a:avLst/>
          </a:prstGeom>
          <a:noFill/>
        </p:spPr>
        <p:txBody>
          <a:bodyPr wrap="none" lIns="0" rIns="0" tIns="0" bIns="0">
            <a:spAutoFit/>
          </a:bodyPr>
          <a:lstStyle/>
          <a:p>
            <a:pPr>
              <a:lnSpc>
                <a:spcPts val="3050"/>
              </a:lnSpc>
              <a:spcBef>
                <a:spcPts val="0"/>
              </a:spcBef>
              <a:spcAft>
                <a:spcPts val="0"/>
              </a:spcAft>
              <a:defRPr sz="2500" b="1">
                <a:solidFill>
                  <a:srgbClr val="F6F0FC"/>
                </a:solidFill>
                <a:latin typeface="IBM Plex Sans Condensed"/>
              </a:defRPr>
            </a:pPr>
            <a:r>
              <a:t>FastAPI</a:t>
            </a:r>
          </a:p>
        </p:txBody>
      </p:sp>
      <p:sp>
        <p:nvSpPr>
          <p:cNvPr id="24" name="TextBox 23"/>
          <p:cNvSpPr txBox="1"/>
          <p:nvPr/>
        </p:nvSpPr>
        <p:spPr>
          <a:xfrm>
            <a:off x="6400800" y="3130550"/>
            <a:ext cx="2084832"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Signal windows</a:t>
            </a:r>
          </a:p>
          <a:p>
            <a:pPr>
              <a:lnSpc>
                <a:spcPts val="2074"/>
              </a:lnSpc>
              <a:spcBef>
                <a:spcPts val="0"/>
              </a:spcBef>
              <a:spcAft>
                <a:spcPts val="0"/>
              </a:spcAft>
              <a:defRPr sz="1700" b="0">
                <a:solidFill>
                  <a:srgbClr val="BAA9CB"/>
                </a:solidFill>
                <a:latin typeface="IBM Plex Sans"/>
              </a:defRPr>
            </a:pPr>
            <a:r>
              <a:t>Asset geometry</a:t>
            </a:r>
          </a:p>
          <a:p>
            <a:pPr>
              <a:lnSpc>
                <a:spcPts val="2074"/>
              </a:lnSpc>
              <a:spcBef>
                <a:spcPts val="0"/>
              </a:spcBef>
              <a:spcAft>
                <a:spcPts val="0"/>
              </a:spcAft>
              <a:defRPr sz="1700" b="0">
                <a:solidFill>
                  <a:srgbClr val="BAA9CB"/>
                </a:solidFill>
                <a:latin typeface="IBM Plex Sans"/>
              </a:defRPr>
            </a:pPr>
            <a:r>
              <a:t>Events and review</a:t>
            </a:r>
          </a:p>
          <a:p>
            <a:pPr>
              <a:lnSpc>
                <a:spcPts val="2074"/>
              </a:lnSpc>
              <a:spcBef>
                <a:spcPts val="0"/>
              </a:spcBef>
              <a:spcAft>
                <a:spcPts val="0"/>
              </a:spcAft>
              <a:defRPr sz="1700" b="0">
                <a:solidFill>
                  <a:srgbClr val="BAA9CB"/>
                </a:solidFill>
                <a:latin typeface="IBM Plex Sans"/>
              </a:defRPr>
            </a:pPr>
            <a:r>
              <a:t>API</a:t>
            </a:r>
          </a:p>
        </p:txBody>
      </p:sp>
      <p:sp>
        <p:nvSpPr>
          <p:cNvPr id="25" name="Rectangle 24"/>
          <p:cNvSpPr/>
          <p:nvPr/>
        </p:nvSpPr>
        <p:spPr>
          <a:xfrm>
            <a:off x="9116568" y="2057400"/>
            <a:ext cx="2569464" cy="2487168"/>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16568" y="2057400"/>
            <a:ext cx="2569464"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9448" y="2240280"/>
            <a:ext cx="2203704"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OPERATOR</a:t>
            </a:r>
          </a:p>
        </p:txBody>
      </p:sp>
      <p:sp>
        <p:nvSpPr>
          <p:cNvPr id="28" name="TextBox 27"/>
          <p:cNvSpPr txBox="1"/>
          <p:nvPr/>
        </p:nvSpPr>
        <p:spPr>
          <a:xfrm>
            <a:off x="9299448" y="2578608"/>
            <a:ext cx="2203704" cy="838708"/>
          </a:xfrm>
          <a:prstGeom prst="rect">
            <a:avLst/>
          </a:prstGeom>
          <a:noFill/>
        </p:spPr>
        <p:txBody>
          <a:bodyPr wrap="none" lIns="0" rIns="0" tIns="0" bIns="0">
            <a:spAutoFit/>
          </a:bodyPr>
          <a:lstStyle/>
          <a:p>
            <a:pPr>
              <a:lnSpc>
                <a:spcPts val="3050"/>
              </a:lnSpc>
              <a:spcBef>
                <a:spcPts val="0"/>
              </a:spcBef>
              <a:spcAft>
                <a:spcPts val="0"/>
              </a:spcAft>
              <a:defRPr sz="2500" b="1">
                <a:solidFill>
                  <a:srgbClr val="F6F0FC"/>
                </a:solidFill>
                <a:latin typeface="IBM Plex Sans Condensed"/>
              </a:defRPr>
            </a:pPr>
            <a:r>
              <a:t>Cable</a:t>
            </a:r>
          </a:p>
          <a:p>
            <a:pPr>
              <a:lnSpc>
                <a:spcPts val="3050"/>
              </a:lnSpc>
              <a:spcBef>
                <a:spcPts val="0"/>
              </a:spcBef>
              <a:spcAft>
                <a:spcPts val="0"/>
              </a:spcAft>
              <a:defRPr sz="2500" b="1">
                <a:solidFill>
                  <a:srgbClr val="F6F0FC"/>
                </a:solidFill>
                <a:latin typeface="IBM Plex Sans Condensed"/>
              </a:defRPr>
            </a:pPr>
            <a:r>
              <a:t>Observatory</a:t>
            </a:r>
          </a:p>
        </p:txBody>
      </p:sp>
      <p:sp>
        <p:nvSpPr>
          <p:cNvPr id="29" name="TextBox 28"/>
          <p:cNvSpPr txBox="1"/>
          <p:nvPr/>
        </p:nvSpPr>
        <p:spPr>
          <a:xfrm>
            <a:off x="9299448" y="3517900"/>
            <a:ext cx="2203704"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React / MapLibre</a:t>
            </a:r>
          </a:p>
          <a:p>
            <a:pPr>
              <a:lnSpc>
                <a:spcPts val="2074"/>
              </a:lnSpc>
              <a:spcBef>
                <a:spcPts val="0"/>
              </a:spcBef>
              <a:spcAft>
                <a:spcPts val="0"/>
              </a:spcAft>
              <a:defRPr sz="1700" b="0">
                <a:solidFill>
                  <a:srgbClr val="BAA9CB"/>
                </a:solidFill>
                <a:latin typeface="IBM Plex Sans"/>
              </a:defRPr>
            </a:pPr>
            <a:r>
              <a:t>Plotly signal review</a:t>
            </a:r>
          </a:p>
          <a:p>
            <a:pPr>
              <a:lnSpc>
                <a:spcPts val="2074"/>
              </a:lnSpc>
              <a:spcBef>
                <a:spcPts val="0"/>
              </a:spcBef>
              <a:spcAft>
                <a:spcPts val="0"/>
              </a:spcAft>
              <a:defRPr sz="1700" b="0">
                <a:solidFill>
                  <a:srgbClr val="BAA9CB"/>
                </a:solidFill>
                <a:latin typeface="IBM Plex Sans"/>
              </a:defRPr>
            </a:pPr>
            <a:r>
              <a:t>Classification history</a:t>
            </a:r>
          </a:p>
        </p:txBody>
      </p:sp>
      <p:sp>
        <p:nvSpPr>
          <p:cNvPr id="30" name="TextBox 29"/>
          <p:cNvSpPr txBox="1"/>
          <p:nvPr/>
        </p:nvSpPr>
        <p:spPr>
          <a:xfrm>
            <a:off x="2953512" y="2990088"/>
            <a:ext cx="365760" cy="466852"/>
          </a:xfrm>
          <a:prstGeom prst="rect">
            <a:avLst/>
          </a:prstGeom>
          <a:noFill/>
        </p:spPr>
        <p:txBody>
          <a:bodyPr wrap="none" lIns="0" rIns="0" tIns="0" bIns="0">
            <a:spAutoFit/>
          </a:bodyPr>
          <a:lstStyle/>
          <a:p>
            <a:pPr>
              <a:lnSpc>
                <a:spcPts val="3172"/>
              </a:lnSpc>
              <a:spcBef>
                <a:spcPts val="0"/>
              </a:spcBef>
              <a:spcAft>
                <a:spcPts val="0"/>
              </a:spcAft>
              <a:defRPr sz="2600" b="0">
                <a:solidFill>
                  <a:srgbClr val="9D6BD0"/>
                </a:solidFill>
                <a:latin typeface="IBM Plex Sans"/>
              </a:defRPr>
            </a:pPr>
            <a:r>
              <a:t>&gt;</a:t>
            </a:r>
          </a:p>
        </p:txBody>
      </p:sp>
      <p:sp>
        <p:nvSpPr>
          <p:cNvPr id="31" name="TextBox 30"/>
          <p:cNvSpPr txBox="1"/>
          <p:nvPr/>
        </p:nvSpPr>
        <p:spPr>
          <a:xfrm>
            <a:off x="5861304" y="2990088"/>
            <a:ext cx="365760" cy="466852"/>
          </a:xfrm>
          <a:prstGeom prst="rect">
            <a:avLst/>
          </a:prstGeom>
          <a:noFill/>
        </p:spPr>
        <p:txBody>
          <a:bodyPr wrap="none" lIns="0" rIns="0" tIns="0" bIns="0">
            <a:spAutoFit/>
          </a:bodyPr>
          <a:lstStyle/>
          <a:p>
            <a:pPr>
              <a:lnSpc>
                <a:spcPts val="3172"/>
              </a:lnSpc>
              <a:spcBef>
                <a:spcPts val="0"/>
              </a:spcBef>
              <a:spcAft>
                <a:spcPts val="0"/>
              </a:spcAft>
              <a:defRPr sz="2600" b="0">
                <a:solidFill>
                  <a:srgbClr val="9D6BD0"/>
                </a:solidFill>
                <a:latin typeface="IBM Plex Sans"/>
              </a:defRPr>
            </a:pPr>
            <a:r>
              <a:t>&gt;</a:t>
            </a:r>
          </a:p>
        </p:txBody>
      </p:sp>
      <p:sp>
        <p:nvSpPr>
          <p:cNvPr id="32" name="TextBox 31"/>
          <p:cNvSpPr txBox="1"/>
          <p:nvPr/>
        </p:nvSpPr>
        <p:spPr>
          <a:xfrm>
            <a:off x="8750808" y="2990088"/>
            <a:ext cx="365760" cy="466852"/>
          </a:xfrm>
          <a:prstGeom prst="rect">
            <a:avLst/>
          </a:prstGeom>
          <a:noFill/>
        </p:spPr>
        <p:txBody>
          <a:bodyPr wrap="none" lIns="0" rIns="0" tIns="0" bIns="0">
            <a:spAutoFit/>
          </a:bodyPr>
          <a:lstStyle/>
          <a:p>
            <a:pPr>
              <a:lnSpc>
                <a:spcPts val="3172"/>
              </a:lnSpc>
              <a:spcBef>
                <a:spcPts val="0"/>
              </a:spcBef>
              <a:spcAft>
                <a:spcPts val="0"/>
              </a:spcAft>
              <a:defRPr sz="2600" b="0">
                <a:solidFill>
                  <a:srgbClr val="9D6BD0"/>
                </a:solidFill>
                <a:latin typeface="IBM Plex Sans"/>
              </a:defRPr>
            </a:pPr>
            <a:r>
              <a:t>&gt;</a:t>
            </a:r>
          </a:p>
        </p:txBody>
      </p:sp>
      <p:sp>
        <p:nvSpPr>
          <p:cNvPr id="33" name="Rectangle 32"/>
          <p:cNvSpPr/>
          <p:nvPr/>
        </p:nvSpPr>
        <p:spPr>
          <a:xfrm>
            <a:off x="3319272" y="4873752"/>
            <a:ext cx="8366760" cy="5943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511296" y="5038344"/>
            <a:ext cx="7955279"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CFADF0"/>
                </a:solidFill>
                <a:latin typeface="IBM Plex Mono"/>
              </a:defRPr>
            </a:pPr>
            <a:r>
              <a:t>POSTGRESQL / assets · events · weather · recording references · review history</a:t>
            </a:r>
          </a:p>
        </p:txBody>
      </p:sp>
      <p:cxnSp>
        <p:nvCxnSpPr>
          <p:cNvPr id="35" name="Connector 34"/>
          <p:cNvCxnSpPr/>
          <p:nvPr/>
        </p:nvCxnSpPr>
        <p:spPr>
          <a:xfrm>
            <a:off x="7443216" y="4544568"/>
            <a:ext cx="0" cy="329184"/>
          </a:xfrm>
          <a:prstGeom prst="line">
            <a:avLst/>
          </a:prstGeom>
          <a:ln w="25400">
            <a:solidFill>
              <a:srgbClr val="9D6BD0"/>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The local investigation workflow is implemented; verified live capture and production rollout are separate gates.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04 / GEOGRAPHIC FOUNDATION</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579 masts anchor the asset view across four routes</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Workbook provenance and channel references are retained for every imported mast.</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results/masts/masts.csv · results/masts/spans.csv · docs/masts.md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05</a:t>
            </a:r>
          </a:p>
        </p:txBody>
      </p:sp>
      <p:sp>
        <p:nvSpPr>
          <p:cNvPr id="10" name="Rectangle 9"/>
          <p:cNvSpPr/>
          <p:nvPr/>
        </p:nvSpPr>
        <p:spPr>
          <a:xfrm>
            <a:off x="502920" y="2048256"/>
            <a:ext cx="6510528" cy="361188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flipH="1">
            <a:off x="2745433" y="3728192"/>
            <a:ext cx="9618" cy="91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2734405" y="3729103"/>
            <a:ext cx="11028" cy="104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2723466" y="3730149"/>
            <a:ext cx="10939" cy="103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2714705" y="3730143"/>
            <a:ext cx="8761" cy="104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2705483" y="3729042"/>
            <a:ext cx="9222" cy="110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2696506" y="3727973"/>
            <a:ext cx="8977" cy="106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2685459" y="3726657"/>
            <a:ext cx="11047" cy="131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2674252" y="3725322"/>
            <a:ext cx="11207" cy="133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2664885" y="3724207"/>
            <a:ext cx="9367" cy="111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2655315" y="3723068"/>
            <a:ext cx="9570" cy="113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2634185" y="3716390"/>
            <a:ext cx="21130" cy="667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2619939" y="3711889"/>
            <a:ext cx="14246" cy="450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2612708" y="3709605"/>
            <a:ext cx="7231" cy="228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04089" y="3706883"/>
            <a:ext cx="8619" cy="272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592466" y="3703214"/>
            <a:ext cx="11623" cy="366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583666" y="3700436"/>
            <a:ext cx="8800" cy="277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578087" y="3698674"/>
            <a:ext cx="5579" cy="176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565992" y="3694857"/>
            <a:ext cx="12095" cy="381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549841" y="3685457"/>
            <a:ext cx="16151" cy="940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2537153" y="3685457"/>
            <a:ext cx="12688" cy="28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2530537" y="3685737"/>
            <a:ext cx="6616" cy="396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2519539" y="3689698"/>
            <a:ext cx="10998" cy="658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2506924" y="3696283"/>
            <a:ext cx="12615" cy="755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2500509" y="3703838"/>
            <a:ext cx="6415" cy="502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2491896" y="3708860"/>
            <a:ext cx="8613" cy="674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2485388" y="3715604"/>
            <a:ext cx="6508" cy="509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2476796" y="3720700"/>
            <a:ext cx="8592" cy="672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2469932" y="3727429"/>
            <a:ext cx="6864" cy="537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2461041" y="3732804"/>
            <a:ext cx="8891" cy="696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2452498" y="3739769"/>
            <a:ext cx="8543" cy="669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2444926" y="3746463"/>
            <a:ext cx="7572" cy="593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2429666" y="3752397"/>
            <a:ext cx="15260" cy="1195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2423766" y="3764355"/>
            <a:ext cx="5900" cy="462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2419363" y="3768979"/>
            <a:ext cx="4403" cy="345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2415097" y="3772430"/>
            <a:ext cx="4266" cy="334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2410118" y="3775773"/>
            <a:ext cx="4979" cy="343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2404109" y="3779203"/>
            <a:ext cx="6009" cy="414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2393801" y="3783344"/>
            <a:ext cx="10308" cy="710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2386220" y="3790449"/>
            <a:ext cx="7581" cy="522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2380058" y="3795673"/>
            <a:ext cx="6162" cy="424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2378873" y="3799920"/>
            <a:ext cx="1185" cy="304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2375163" y="3802961"/>
            <a:ext cx="3710" cy="952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2371441" y="3812488"/>
            <a:ext cx="3722" cy="955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2220685" y="3822046"/>
            <a:ext cx="150756" cy="9052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2213304" y="3912570"/>
            <a:ext cx="7381" cy="365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2203470" y="3916220"/>
            <a:ext cx="9834" cy="486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2196218" y="3921086"/>
            <a:ext cx="7252" cy="358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2189031" y="3924672"/>
            <a:ext cx="7187" cy="355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a:off x="2180467" y="3928230"/>
            <a:ext cx="8564" cy="423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a:off x="2168264" y="3932467"/>
            <a:ext cx="12203" cy="603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a:off x="2158419" y="3938506"/>
            <a:ext cx="9845" cy="486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a:off x="2147616" y="3943374"/>
            <a:ext cx="10803" cy="265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2136526" y="3946032"/>
            <a:ext cx="11090" cy="273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2126231" y="3948762"/>
            <a:ext cx="10295" cy="253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2115752" y="3951296"/>
            <a:ext cx="10479" cy="258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2106897" y="3953876"/>
            <a:ext cx="8855" cy="218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2095057" y="3956057"/>
            <a:ext cx="11840" cy="291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2087379" y="3958972"/>
            <a:ext cx="7678" cy="238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2080771" y="3961356"/>
            <a:ext cx="6608" cy="205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2073812" y="3963410"/>
            <a:ext cx="6959" cy="131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2058839" y="3964725"/>
            <a:ext cx="14973" cy="283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2046311" y="3967557"/>
            <a:ext cx="12528" cy="237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2034803" y="3969927"/>
            <a:ext cx="11508" cy="217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2020148" y="3972104"/>
            <a:ext cx="14655" cy="277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2014637" y="3974879"/>
            <a:ext cx="5511" cy="944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2008949" y="3984326"/>
            <a:ext cx="5688" cy="974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a:off x="2004239" y="3994075"/>
            <a:ext cx="4710" cy="807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a:off x="1999939" y="4002152"/>
            <a:ext cx="4300" cy="737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a:off x="1990439" y="4009525"/>
            <a:ext cx="9500" cy="643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1982338" y="4015962"/>
            <a:ext cx="8101" cy="548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1974270" y="4021450"/>
            <a:ext cx="8068" cy="546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1966043" y="4026916"/>
            <a:ext cx="8227" cy="557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1962166" y="4032492"/>
            <a:ext cx="3877" cy="1285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1959780" y="4045347"/>
            <a:ext cx="2386" cy="790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1957367" y="4053253"/>
            <a:ext cx="2413" cy="800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1954384" y="4061255"/>
            <a:ext cx="2983" cy="989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1951287" y="4071148"/>
            <a:ext cx="3097" cy="1026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1947870" y="4081414"/>
            <a:ext cx="3417" cy="1133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1944965" y="4092745"/>
            <a:ext cx="2905" cy="963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1933786" y="4102384"/>
            <a:ext cx="11179" cy="791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1924214" y="4110300"/>
            <a:ext cx="9572" cy="678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H="1">
            <a:off x="1915104" y="4117081"/>
            <a:ext cx="9110" cy="645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H="1">
            <a:off x="1906144" y="4123534"/>
            <a:ext cx="8960" cy="634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H="1">
            <a:off x="1900346" y="4129883"/>
            <a:ext cx="5798" cy="410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891145" y="4133990"/>
            <a:ext cx="9201" cy="157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1760320" y="4135569"/>
            <a:ext cx="130825" cy="7544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1753821" y="4211013"/>
            <a:ext cx="6499" cy="2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744264" y="4211041"/>
            <a:ext cx="9557" cy="4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1732435" y="4211085"/>
            <a:ext cx="11829" cy="5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1723603" y="4211137"/>
            <a:ext cx="8832" cy="4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713100" y="4211177"/>
            <a:ext cx="10503" cy="4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705028" y="4211225"/>
            <a:ext cx="8072" cy="66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1694000" y="4211893"/>
            <a:ext cx="11028" cy="91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677549" y="4212806"/>
            <a:ext cx="16451" cy="136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669570" y="4214169"/>
            <a:ext cx="7979" cy="66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1652184" y="4214832"/>
            <a:ext cx="17386" cy="144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1641751" y="4216275"/>
            <a:ext cx="10433" cy="86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a:off x="1632074" y="4217140"/>
            <a:ext cx="9677" cy="80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a:off x="1619929" y="4217946"/>
            <a:ext cx="12145" cy="484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a:off x="1610325" y="4222793"/>
            <a:ext cx="9604" cy="383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a:off x="1596168" y="4226630"/>
            <a:ext cx="14157" cy="565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a:off x="1590673" y="4232281"/>
            <a:ext cx="5495" cy="924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a:off x="1585307" y="4241526"/>
            <a:ext cx="5366" cy="902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1580114" y="4250551"/>
            <a:ext cx="5193" cy="873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1575000" y="4259290"/>
            <a:ext cx="5114" cy="860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569357" y="4267894"/>
            <a:ext cx="5643" cy="857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563960" y="4276469"/>
            <a:ext cx="5397" cy="820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557219" y="4284672"/>
            <a:ext cx="6741" cy="1024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550371" y="4294921"/>
            <a:ext cx="6848" cy="1040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1542468" y="4305330"/>
            <a:ext cx="7903" cy="1201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1535554" y="4317347"/>
            <a:ext cx="6914" cy="1051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1528805" y="4327859"/>
            <a:ext cx="6749" cy="1026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528805" y="4338124"/>
            <a:ext cx="248" cy="1362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529053" y="4351746"/>
            <a:ext cx="246" cy="1347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529299" y="4365217"/>
            <a:ext cx="4616" cy="809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533915" y="4373312"/>
            <a:ext cx="3942" cy="691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a:off x="1537857" y="4380230"/>
            <a:ext cx="4405" cy="772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a:off x="1542262" y="4387955"/>
            <a:ext cx="4677" cy="1034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a:off x="1546939" y="4398301"/>
            <a:ext cx="4400" cy="973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a:off x="1551339" y="4408033"/>
            <a:ext cx="6077" cy="1344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a:off x="1557416" y="4421474"/>
            <a:ext cx="245" cy="1164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a:off x="1557661" y="4433121"/>
            <a:ext cx="201" cy="950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a:off x="1557862" y="4442622"/>
            <a:ext cx="274" cy="1307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a:off x="1558136" y="4455701"/>
            <a:ext cx="217" cy="1025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a:off x="1558353" y="4465958"/>
            <a:ext cx="294" cy="1397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a:off x="1558647" y="4479930"/>
            <a:ext cx="424" cy="2019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a:off x="1559071" y="4500129"/>
            <a:ext cx="88" cy="830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H="1">
            <a:off x="1550458" y="4508431"/>
            <a:ext cx="8701" cy="1342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H="1">
            <a:off x="1545190" y="4521854"/>
            <a:ext cx="5268" cy="812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H="1">
            <a:off x="1539537" y="4529982"/>
            <a:ext cx="5653" cy="872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H="1">
            <a:off x="1534002" y="4538706"/>
            <a:ext cx="5535" cy="854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H="1">
            <a:off x="1529602" y="4547247"/>
            <a:ext cx="4400" cy="679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H="1">
            <a:off x="1524796" y="4554038"/>
            <a:ext cx="4806" cy="489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H="1">
            <a:off x="1517140" y="4558932"/>
            <a:ext cx="7656" cy="780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H="1">
            <a:off x="1513086" y="4566733"/>
            <a:ext cx="4054" cy="412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H="1">
            <a:off x="1501067" y="4570862"/>
            <a:ext cx="12019" cy="497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H="1">
            <a:off x="1489327" y="4575836"/>
            <a:ext cx="11740" cy="485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H="1">
            <a:off x="1485950" y="4580693"/>
            <a:ext cx="3377" cy="239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H="1">
            <a:off x="1481733" y="4583090"/>
            <a:ext cx="4217" cy="299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H="1">
            <a:off x="1477412" y="4586080"/>
            <a:ext cx="4321" cy="834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H="1">
            <a:off x="1471439" y="4594421"/>
            <a:ext cx="5973" cy="1153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H="1">
            <a:off x="1468110" y="4605958"/>
            <a:ext cx="3329" cy="642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H="1">
            <a:off x="1465191" y="4612385"/>
            <a:ext cx="2919" cy="563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H="1">
            <a:off x="1462098" y="4618022"/>
            <a:ext cx="3093" cy="597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H="1">
            <a:off x="1458247" y="4623996"/>
            <a:ext cx="3851" cy="744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H="1">
            <a:off x="1454059" y="4631438"/>
            <a:ext cx="4188" cy="808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H="1">
            <a:off x="1450207" y="4639527"/>
            <a:ext cx="3852" cy="744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H="1">
            <a:off x="1445964" y="4646967"/>
            <a:ext cx="4243" cy="819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H="1">
            <a:off x="1439834" y="4655165"/>
            <a:ext cx="6130" cy="1184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H="1">
            <a:off x="1436726" y="4667009"/>
            <a:ext cx="3108" cy="932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H="1">
            <a:off x="1432603" y="4676338"/>
            <a:ext cx="4123" cy="1237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H="1">
            <a:off x="1429309" y="4688717"/>
            <a:ext cx="3294" cy="988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H="1">
            <a:off x="1424250" y="4698605"/>
            <a:ext cx="5059" cy="1519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H="1">
            <a:off x="1422230" y="4713796"/>
            <a:ext cx="2020" cy="606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H="1">
            <a:off x="1418975" y="4719861"/>
            <a:ext cx="3255" cy="977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H="1">
            <a:off x="1415265" y="4729640"/>
            <a:ext cx="3710" cy="1114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H="1">
            <a:off x="1411578" y="4740785"/>
            <a:ext cx="3687" cy="1107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H="1">
            <a:off x="1407061" y="4751863"/>
            <a:ext cx="4517" cy="13570"/>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H="1">
            <a:off x="1404707" y="4765433"/>
            <a:ext cx="2354" cy="707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H="1">
            <a:off x="1400997" y="4772505"/>
            <a:ext cx="3710" cy="1114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H="1">
            <a:off x="1398657" y="4783654"/>
            <a:ext cx="2340" cy="703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H="1">
            <a:off x="1392997" y="4790686"/>
            <a:ext cx="5660" cy="1701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H="1">
            <a:off x="1389844" y="4807698"/>
            <a:ext cx="3153" cy="947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H="1">
            <a:off x="1387293" y="4817173"/>
            <a:ext cx="2551" cy="767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H="1">
            <a:off x="1384118" y="4824846"/>
            <a:ext cx="3175" cy="954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H="1">
            <a:off x="1379049" y="4834395"/>
            <a:ext cx="5069" cy="1524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H="1">
            <a:off x="1375062" y="4849636"/>
            <a:ext cx="3987" cy="1198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H="1">
            <a:off x="1372643" y="4861625"/>
            <a:ext cx="2419" cy="727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a:off x="1372643" y="4868899"/>
            <a:ext cx="297" cy="990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a:off x="1372940" y="4878807"/>
            <a:ext cx="325" cy="1095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a:off x="1373265" y="4889761"/>
            <a:ext cx="5632" cy="1373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a:off x="1378897" y="4903500"/>
            <a:ext cx="2820" cy="6881"/>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H="1">
            <a:off x="1380175" y="4910381"/>
            <a:ext cx="1542" cy="404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H="1">
            <a:off x="1374804" y="4914427"/>
            <a:ext cx="5371" cy="1407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H="1">
            <a:off x="1370965" y="4928506"/>
            <a:ext cx="3839" cy="7227"/>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H="1">
            <a:off x="1364598" y="4935733"/>
            <a:ext cx="6367" cy="1198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H="1">
            <a:off x="1351056" y="4947717"/>
            <a:ext cx="13542" cy="9815"/>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H="1">
            <a:off x="1341197" y="4957532"/>
            <a:ext cx="9859" cy="714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H="1">
            <a:off x="1327333" y="4964678"/>
            <a:ext cx="13864" cy="10054"/>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H="1">
            <a:off x="1309229" y="4974732"/>
            <a:ext cx="18104" cy="1312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H="1">
            <a:off x="1305436" y="4987860"/>
            <a:ext cx="3793" cy="705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H="1">
            <a:off x="1303407" y="4994918"/>
            <a:ext cx="2029" cy="377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H="1">
            <a:off x="1292742" y="4998694"/>
            <a:ext cx="10665" cy="19859"/>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292742" y="5018553"/>
            <a:ext cx="2608" cy="11246"/>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295350" y="5029799"/>
            <a:ext cx="2033" cy="8772"/>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H="1">
            <a:off x="1296033" y="5038571"/>
            <a:ext cx="1350" cy="7443"/>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H="1">
            <a:off x="1294158" y="5046014"/>
            <a:ext cx="1875" cy="10618"/>
          </a:xfrm>
          <a:prstGeom prst="line">
            <a:avLst/>
          </a:prstGeom>
          <a:ln w="21590">
            <a:solidFill>
              <a:srgbClr val="CFADF0"/>
            </a:solidFill>
          </a:ln>
        </p:spPr>
        <p:style>
          <a:lnRef idx="2">
            <a:schemeClr val="accent1"/>
          </a:lnRef>
          <a:fillRef idx="0">
            <a:schemeClr val="accent1"/>
          </a:fillRef>
          <a:effectRef idx="1">
            <a:schemeClr val="accent1"/>
          </a:effectRef>
          <a:fontRef idx="minor">
            <a:schemeClr val="tx1"/>
          </a:fontRef>
        </p:style>
      </p:cxnSp>
      <p:sp>
        <p:nvSpPr>
          <p:cNvPr id="198" name="Oval 197"/>
          <p:cNvSpPr/>
          <p:nvPr/>
        </p:nvSpPr>
        <p:spPr>
          <a:xfrm>
            <a:off x="2732191" y="370533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Oval 198"/>
          <p:cNvSpPr/>
          <p:nvPr/>
        </p:nvSpPr>
        <p:spPr>
          <a:xfrm>
            <a:off x="2651392" y="370246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Oval 199"/>
          <p:cNvSpPr/>
          <p:nvPr/>
        </p:nvSpPr>
        <p:spPr>
          <a:xfrm>
            <a:off x="2560806" y="3677576"/>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Oval 200"/>
          <p:cNvSpPr/>
          <p:nvPr/>
        </p:nvSpPr>
        <p:spPr>
          <a:xfrm>
            <a:off x="2477649" y="368600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Oval 201"/>
          <p:cNvSpPr/>
          <p:nvPr/>
        </p:nvSpPr>
        <p:spPr>
          <a:xfrm>
            <a:off x="2406806" y="3741495"/>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Oval 202"/>
          <p:cNvSpPr/>
          <p:nvPr/>
        </p:nvSpPr>
        <p:spPr>
          <a:xfrm>
            <a:off x="2357198" y="377706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Oval 203"/>
          <p:cNvSpPr/>
          <p:nvPr/>
        </p:nvSpPr>
        <p:spPr>
          <a:xfrm>
            <a:off x="2166171" y="390537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Oval 204"/>
          <p:cNvSpPr/>
          <p:nvPr/>
        </p:nvSpPr>
        <p:spPr>
          <a:xfrm>
            <a:off x="2084037" y="3933197"/>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Oval 205"/>
          <p:cNvSpPr/>
          <p:nvPr/>
        </p:nvSpPr>
        <p:spPr>
          <a:xfrm>
            <a:off x="1997288" y="3952019"/>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Oval 206"/>
          <p:cNvSpPr/>
          <p:nvPr/>
        </p:nvSpPr>
        <p:spPr>
          <a:xfrm>
            <a:off x="1943183" y="4009632"/>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Oval 207"/>
          <p:cNvSpPr/>
          <p:nvPr/>
        </p:nvSpPr>
        <p:spPr>
          <a:xfrm>
            <a:off x="1910926" y="408744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Oval 208"/>
          <p:cNvSpPr/>
          <p:nvPr/>
        </p:nvSpPr>
        <p:spPr>
          <a:xfrm>
            <a:off x="1721404" y="4188225"/>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Oval 209"/>
          <p:cNvSpPr/>
          <p:nvPr/>
        </p:nvSpPr>
        <p:spPr>
          <a:xfrm>
            <a:off x="1629324" y="4193415"/>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Oval 210"/>
          <p:cNvSpPr/>
          <p:nvPr/>
        </p:nvSpPr>
        <p:spPr>
          <a:xfrm>
            <a:off x="1557254" y="4236430"/>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Oval 211"/>
          <p:cNvSpPr/>
          <p:nvPr/>
        </p:nvSpPr>
        <p:spPr>
          <a:xfrm>
            <a:off x="1505945" y="431526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Oval 212"/>
          <p:cNvSpPr/>
          <p:nvPr/>
        </p:nvSpPr>
        <p:spPr>
          <a:xfrm>
            <a:off x="1534556" y="439861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Oval 213"/>
          <p:cNvSpPr/>
          <p:nvPr/>
        </p:nvSpPr>
        <p:spPr>
          <a:xfrm>
            <a:off x="1527598" y="449899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Oval 214"/>
          <p:cNvSpPr/>
          <p:nvPr/>
        </p:nvSpPr>
        <p:spPr>
          <a:xfrm>
            <a:off x="1478207" y="4552976"/>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Oval 215"/>
          <p:cNvSpPr/>
          <p:nvPr/>
        </p:nvSpPr>
        <p:spPr>
          <a:xfrm>
            <a:off x="1439238" y="4601136"/>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Oval 216"/>
          <p:cNvSpPr/>
          <p:nvPr/>
        </p:nvSpPr>
        <p:spPr>
          <a:xfrm>
            <a:off x="1406449" y="4675745"/>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 name="Oval 217"/>
          <p:cNvSpPr/>
          <p:nvPr/>
        </p:nvSpPr>
        <p:spPr>
          <a:xfrm>
            <a:off x="1378137" y="4760794"/>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Oval 218"/>
          <p:cNvSpPr/>
          <p:nvPr/>
        </p:nvSpPr>
        <p:spPr>
          <a:xfrm>
            <a:off x="1349783" y="4846039"/>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Oval 219"/>
          <p:cNvSpPr/>
          <p:nvPr/>
        </p:nvSpPr>
        <p:spPr>
          <a:xfrm>
            <a:off x="1341738" y="4924857"/>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Oval 220"/>
          <p:cNvSpPr/>
          <p:nvPr/>
        </p:nvSpPr>
        <p:spPr>
          <a:xfrm>
            <a:off x="1272490" y="5006939"/>
            <a:ext cx="45720" cy="45720"/>
          </a:xfrm>
          <a:prstGeom prst="ellipse">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22" name="Connector 221"/>
          <p:cNvCxnSpPr/>
          <p:nvPr/>
        </p:nvCxnSpPr>
        <p:spPr>
          <a:xfrm flipH="1" flipV="1">
            <a:off x="5706562" y="3150549"/>
            <a:ext cx="3458" cy="242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flipH="1" flipV="1">
            <a:off x="5697038" y="3143859"/>
            <a:ext cx="9524" cy="669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flipH="1" flipV="1">
            <a:off x="5685560" y="3135796"/>
            <a:ext cx="11478" cy="806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flipH="1" flipV="1">
            <a:off x="5674861" y="3134590"/>
            <a:ext cx="10699" cy="120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flipH="1" flipV="1">
            <a:off x="5666609" y="3133659"/>
            <a:ext cx="8252" cy="93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flipH="1" flipV="1">
            <a:off x="5648398" y="3131608"/>
            <a:ext cx="18211" cy="205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flipH="1" flipV="1">
            <a:off x="5641242" y="3130802"/>
            <a:ext cx="7156" cy="80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flipH="1" flipV="1">
            <a:off x="5613510" y="3127681"/>
            <a:ext cx="27732" cy="312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flipH="1" flipV="1">
            <a:off x="5601556" y="3127183"/>
            <a:ext cx="11954" cy="49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flipH="1" flipV="1">
            <a:off x="5590761" y="3126735"/>
            <a:ext cx="10795" cy="44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flipH="1" flipV="1">
            <a:off x="5584730" y="3126484"/>
            <a:ext cx="6031" cy="25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flipH="1">
            <a:off x="5573222" y="3126484"/>
            <a:ext cx="11508" cy="637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flipH="1">
            <a:off x="5563093" y="3132855"/>
            <a:ext cx="10129" cy="560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flipH="1">
            <a:off x="5553853" y="3138462"/>
            <a:ext cx="9240" cy="511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flipH="1">
            <a:off x="5548354" y="3143578"/>
            <a:ext cx="5499" cy="304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flipH="1">
            <a:off x="5537331" y="3146624"/>
            <a:ext cx="11023" cy="610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flipH="1">
            <a:off x="5529799" y="3152728"/>
            <a:ext cx="7532" cy="5385"/>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flipH="1">
            <a:off x="5519945" y="3158113"/>
            <a:ext cx="9854" cy="704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flipH="1">
            <a:off x="5511182" y="3165157"/>
            <a:ext cx="8763" cy="626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flipH="1">
            <a:off x="5497095" y="3171424"/>
            <a:ext cx="14087" cy="1007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flipH="1">
            <a:off x="5492750" y="3181498"/>
            <a:ext cx="4345" cy="310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flipH="1">
            <a:off x="5480704" y="3184606"/>
            <a:ext cx="12046" cy="861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flipH="1">
            <a:off x="5473229" y="3193224"/>
            <a:ext cx="7475" cy="534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flipH="1">
            <a:off x="5469004" y="3198571"/>
            <a:ext cx="4225" cy="3022"/>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flipH="1">
            <a:off x="5455430" y="3201593"/>
            <a:ext cx="13574" cy="1992"/>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flipH="1">
            <a:off x="5442868" y="3203585"/>
            <a:ext cx="12562" cy="1842"/>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flipH="1">
            <a:off x="5430702" y="3205427"/>
            <a:ext cx="12166" cy="178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flipH="1">
            <a:off x="5419863" y="3207215"/>
            <a:ext cx="10839" cy="300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H="1">
            <a:off x="5404778" y="3210215"/>
            <a:ext cx="15085" cy="1905"/>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H="1">
            <a:off x="5391826" y="3212120"/>
            <a:ext cx="12952" cy="163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H="1" flipV="1">
            <a:off x="5384352" y="3213312"/>
            <a:ext cx="7474" cy="44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H="1" flipV="1">
            <a:off x="5371821" y="3212568"/>
            <a:ext cx="12531" cy="74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H="1" flipV="1">
            <a:off x="5360409" y="3211892"/>
            <a:ext cx="11412" cy="67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H="1">
            <a:off x="5352242" y="3211892"/>
            <a:ext cx="8167" cy="324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H="1">
            <a:off x="5336957" y="3215141"/>
            <a:ext cx="15285" cy="608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H="1">
            <a:off x="5326609" y="3221227"/>
            <a:ext cx="10348" cy="412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H="1">
            <a:off x="5315285" y="3225347"/>
            <a:ext cx="11324" cy="450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H="1" flipV="1">
            <a:off x="5304138" y="3229367"/>
            <a:ext cx="11147" cy="48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H="1" flipV="1">
            <a:off x="5290811" y="3228783"/>
            <a:ext cx="13327" cy="58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H="1">
            <a:off x="5278669" y="3228783"/>
            <a:ext cx="12142" cy="105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H="1">
            <a:off x="5267095" y="3229837"/>
            <a:ext cx="11574" cy="100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H="1">
            <a:off x="5258026" y="3230844"/>
            <a:ext cx="9069" cy="78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H="1">
            <a:off x="5246928" y="3231633"/>
            <a:ext cx="11098" cy="96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H="1">
            <a:off x="5234240" y="3232599"/>
            <a:ext cx="12688" cy="314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H="1">
            <a:off x="5218272" y="3235746"/>
            <a:ext cx="15968" cy="665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H="1">
            <a:off x="5211489" y="3242405"/>
            <a:ext cx="6783" cy="282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H="1">
            <a:off x="5205802" y="3245233"/>
            <a:ext cx="5687" cy="237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H="1" flipV="1">
            <a:off x="5196470" y="3245893"/>
            <a:ext cx="9332" cy="171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H="1" flipV="1">
            <a:off x="5189615" y="3243774"/>
            <a:ext cx="6855" cy="211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H="1" flipV="1">
            <a:off x="5176001" y="3239571"/>
            <a:ext cx="13614" cy="420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H="1" flipV="1">
            <a:off x="5161765" y="3235175"/>
            <a:ext cx="14236" cy="439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H="1" flipV="1">
            <a:off x="5149434" y="3231370"/>
            <a:ext cx="12331" cy="3805"/>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H="1" flipV="1">
            <a:off x="5137789" y="3227776"/>
            <a:ext cx="11645" cy="359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H="1" flipV="1">
            <a:off x="5126370" y="3224253"/>
            <a:ext cx="11419" cy="352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H="1" flipV="1">
            <a:off x="5113978" y="3220430"/>
            <a:ext cx="12392" cy="382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H="1" flipV="1">
            <a:off x="5103436" y="3217180"/>
            <a:ext cx="10542" cy="325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H="1" flipV="1">
            <a:off x="5091207" y="3213408"/>
            <a:ext cx="12229" cy="3772"/>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H="1" flipV="1">
            <a:off x="5078628" y="3209531"/>
            <a:ext cx="12579" cy="387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H="1" flipV="1">
            <a:off x="5070267" y="3193314"/>
            <a:ext cx="8361" cy="1621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H="1" flipV="1">
            <a:off x="5063712" y="3180601"/>
            <a:ext cx="6555" cy="1271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H="1" flipV="1">
            <a:off x="5058856" y="3171187"/>
            <a:ext cx="4856" cy="941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H="1" flipV="1">
            <a:off x="5054836" y="3163391"/>
            <a:ext cx="4020" cy="779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H="1" flipV="1">
            <a:off x="5039455" y="3133577"/>
            <a:ext cx="15381" cy="2981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H="1" flipV="1">
            <a:off x="5020387" y="3119852"/>
            <a:ext cx="19068" cy="13725"/>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flipH="1" flipV="1">
            <a:off x="5004891" y="3101321"/>
            <a:ext cx="15496" cy="1853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flipH="1" flipV="1">
            <a:off x="4998038" y="3093127"/>
            <a:ext cx="6853" cy="819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flipH="1" flipV="1">
            <a:off x="4990436" y="3077180"/>
            <a:ext cx="7602" cy="1594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flipH="1" flipV="1">
            <a:off x="4983732" y="3063116"/>
            <a:ext cx="6704" cy="1406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flipH="1" flipV="1">
            <a:off x="4978630" y="3052416"/>
            <a:ext cx="5102" cy="1070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flipH="1" flipV="1">
            <a:off x="4975336" y="3045506"/>
            <a:ext cx="3294" cy="691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flipH="1" flipV="1">
            <a:off x="4969484" y="3033237"/>
            <a:ext cx="5852" cy="12269"/>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flipV="1">
            <a:off x="4969484" y="3015543"/>
            <a:ext cx="1095" cy="1769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flipV="1">
            <a:off x="4970579" y="3002189"/>
            <a:ext cx="6853" cy="1335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flipV="1">
            <a:off x="4977432" y="2999969"/>
            <a:ext cx="5418" cy="222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flipV="1">
            <a:off x="4982850" y="2997345"/>
            <a:ext cx="6401" cy="262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flipV="1">
            <a:off x="4989251" y="2995647"/>
            <a:ext cx="4147" cy="169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flipV="1">
            <a:off x="4993398" y="2988851"/>
            <a:ext cx="3860" cy="679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flipV="1">
            <a:off x="4997258" y="2981188"/>
            <a:ext cx="4351" cy="7663"/>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flipH="1" flipV="1">
            <a:off x="4999499" y="2963903"/>
            <a:ext cx="2110" cy="17285"/>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flipH="1" flipV="1">
            <a:off x="4998502" y="2955746"/>
            <a:ext cx="997" cy="8157"/>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flipH="1" flipV="1">
            <a:off x="4997739" y="2949496"/>
            <a:ext cx="763" cy="6250"/>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flipH="1" flipV="1">
            <a:off x="4988412" y="2926160"/>
            <a:ext cx="9327" cy="2333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flipH="1" flipV="1">
            <a:off x="4984272" y="2917329"/>
            <a:ext cx="4140" cy="8831"/>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flipH="1" flipV="1">
            <a:off x="4979657" y="2907485"/>
            <a:ext cx="4615" cy="984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flipH="1" flipV="1">
            <a:off x="4973658" y="2894691"/>
            <a:ext cx="5999" cy="1279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flipH="1" flipV="1">
            <a:off x="4967182" y="2880883"/>
            <a:ext cx="6476" cy="1380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flipH="1" flipV="1">
            <a:off x="4963744" y="2873551"/>
            <a:ext cx="3438" cy="7332"/>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flipH="1" flipV="1">
            <a:off x="4956585" y="2858295"/>
            <a:ext cx="7159" cy="1525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flipH="1" flipV="1">
            <a:off x="4950602" y="2845540"/>
            <a:ext cx="5983" cy="12755"/>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flipV="1">
            <a:off x="4950602" y="2837622"/>
            <a:ext cx="2870" cy="7918"/>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flipV="1">
            <a:off x="4953472" y="2830130"/>
            <a:ext cx="2716" cy="7492"/>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flipV="1">
            <a:off x="4956188" y="2818186"/>
            <a:ext cx="4331" cy="11944"/>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flipV="1">
            <a:off x="4960519" y="2811280"/>
            <a:ext cx="2504" cy="6906"/>
          </a:xfrm>
          <a:prstGeom prst="line">
            <a:avLst/>
          </a:prstGeom>
          <a:ln w="21590">
            <a:solidFill>
              <a:srgbClr val="9D6BD0"/>
            </a:solidFill>
          </a:ln>
        </p:spPr>
        <p:style>
          <a:lnRef idx="2">
            <a:schemeClr val="accent1"/>
          </a:lnRef>
          <a:fillRef idx="0">
            <a:schemeClr val="accent1"/>
          </a:fillRef>
          <a:effectRef idx="1">
            <a:schemeClr val="accent1"/>
          </a:effectRef>
          <a:fontRef idx="minor">
            <a:schemeClr val="tx1"/>
          </a:fontRef>
        </p:style>
      </p:cxnSp>
      <p:sp>
        <p:nvSpPr>
          <p:cNvPr id="315" name="Oval 314"/>
          <p:cNvSpPr/>
          <p:nvPr/>
        </p:nvSpPr>
        <p:spPr>
          <a:xfrm>
            <a:off x="5687160" y="3130118"/>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Oval 315"/>
          <p:cNvSpPr/>
          <p:nvPr/>
        </p:nvSpPr>
        <p:spPr>
          <a:xfrm>
            <a:off x="5590650" y="3104821"/>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Oval 316"/>
          <p:cNvSpPr/>
          <p:nvPr/>
        </p:nvSpPr>
        <p:spPr>
          <a:xfrm>
            <a:off x="5514471" y="3129868"/>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Oval 317"/>
          <p:cNvSpPr/>
          <p:nvPr/>
        </p:nvSpPr>
        <p:spPr>
          <a:xfrm>
            <a:off x="5446144" y="3178733"/>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Oval 318"/>
          <p:cNvSpPr/>
          <p:nvPr/>
        </p:nvSpPr>
        <p:spPr>
          <a:xfrm>
            <a:off x="5348961" y="3189708"/>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Oval 319"/>
          <p:cNvSpPr/>
          <p:nvPr/>
        </p:nvSpPr>
        <p:spPr>
          <a:xfrm>
            <a:off x="5255809" y="3206977"/>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Oval 320"/>
          <p:cNvSpPr/>
          <p:nvPr/>
        </p:nvSpPr>
        <p:spPr>
          <a:xfrm>
            <a:off x="5173610" y="3223033"/>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Oval 321"/>
          <p:cNvSpPr/>
          <p:nvPr/>
        </p:nvSpPr>
        <p:spPr>
          <a:xfrm>
            <a:off x="5080576" y="3194320"/>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3" name="Oval 322"/>
          <p:cNvSpPr/>
          <p:nvPr/>
        </p:nvSpPr>
        <p:spPr>
          <a:xfrm>
            <a:off x="4997527" y="3096992"/>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4" name="Oval 323"/>
          <p:cNvSpPr/>
          <p:nvPr/>
        </p:nvSpPr>
        <p:spPr>
          <a:xfrm>
            <a:off x="4947719" y="2992683"/>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5" name="Oval 324"/>
          <p:cNvSpPr/>
          <p:nvPr/>
        </p:nvSpPr>
        <p:spPr>
          <a:xfrm>
            <a:off x="4975642" y="2932886"/>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6" name="Oval 325"/>
          <p:cNvSpPr/>
          <p:nvPr/>
        </p:nvSpPr>
        <p:spPr>
          <a:xfrm>
            <a:off x="4933725" y="2835435"/>
            <a:ext cx="45720" cy="45720"/>
          </a:xfrm>
          <a:prstGeom prst="ellipse">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27" name="Connector 326"/>
          <p:cNvCxnSpPr/>
          <p:nvPr/>
        </p:nvCxnSpPr>
        <p:spPr>
          <a:xfrm flipH="1">
            <a:off x="6164516" y="2240280"/>
            <a:ext cx="4245" cy="812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H="1">
            <a:off x="6157236" y="2248407"/>
            <a:ext cx="7280" cy="1010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H="1">
            <a:off x="6153396" y="2258513"/>
            <a:ext cx="3840" cy="533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H="1">
            <a:off x="6150103" y="2263844"/>
            <a:ext cx="3293" cy="4570"/>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H="1">
            <a:off x="6149425" y="2268414"/>
            <a:ext cx="678" cy="577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H="1">
            <a:off x="6148274" y="2274186"/>
            <a:ext cx="1151" cy="979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H="1">
            <a:off x="6147200" y="2283984"/>
            <a:ext cx="1074" cy="913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H="1">
            <a:off x="6145480" y="2293123"/>
            <a:ext cx="1720" cy="1463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H="1">
            <a:off x="6143854" y="2307761"/>
            <a:ext cx="1626" cy="1385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H="1">
            <a:off x="6142878" y="2321614"/>
            <a:ext cx="976" cy="830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H="1">
            <a:off x="6141581" y="2329923"/>
            <a:ext cx="1297" cy="1105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H="1">
            <a:off x="6140378" y="2340974"/>
            <a:ext cx="1203" cy="1024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H="1">
            <a:off x="6139336" y="2351220"/>
            <a:ext cx="1042" cy="887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H="1">
            <a:off x="6138064" y="2360099"/>
            <a:ext cx="1272" cy="1082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a:off x="6138064" y="2370922"/>
            <a:ext cx="1447" cy="971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a:off x="6139511" y="2380634"/>
            <a:ext cx="1957" cy="1313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a:off x="6141468" y="2393773"/>
            <a:ext cx="1410" cy="945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a:off x="6142878" y="2403227"/>
            <a:ext cx="1744" cy="1168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a:off x="6144622" y="2414914"/>
            <a:ext cx="1719" cy="1154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a:off x="6146341" y="2426457"/>
            <a:ext cx="783" cy="527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a:off x="6147124" y="2431728"/>
            <a:ext cx="1022" cy="684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H="1">
            <a:off x="6143558" y="2438575"/>
            <a:ext cx="4588" cy="1751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H="1">
            <a:off x="6140769" y="2456092"/>
            <a:ext cx="2789" cy="1064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H="1">
            <a:off x="6139038" y="2466740"/>
            <a:ext cx="1731" cy="661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H="1">
            <a:off x="6136265" y="2473351"/>
            <a:ext cx="2773" cy="1059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H="1">
            <a:off x="6134609" y="2483942"/>
            <a:ext cx="1656" cy="631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H="1">
            <a:off x="6130427" y="2490258"/>
            <a:ext cx="4182" cy="1598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H="1">
            <a:off x="6127166" y="2506240"/>
            <a:ext cx="3261" cy="1244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H="1">
            <a:off x="6123710" y="2518684"/>
            <a:ext cx="3456" cy="1321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H="1">
            <a:off x="6120982" y="2531899"/>
            <a:ext cx="2728" cy="1042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flipH="1">
            <a:off x="6116663" y="2542322"/>
            <a:ext cx="4319" cy="1650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flipH="1">
            <a:off x="6113956" y="2558829"/>
            <a:ext cx="2707" cy="1034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flipH="1">
            <a:off x="6111770" y="2569176"/>
            <a:ext cx="2186" cy="835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flipH="1">
            <a:off x="6108930" y="2577533"/>
            <a:ext cx="2840" cy="1085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flipH="1">
            <a:off x="6097637" y="2588388"/>
            <a:ext cx="11293" cy="1012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flipH="1">
            <a:off x="6087013" y="2598510"/>
            <a:ext cx="10624" cy="952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flipH="1">
            <a:off x="6063018" y="2608035"/>
            <a:ext cx="23995" cy="2151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flipH="1">
            <a:off x="6051268" y="2629550"/>
            <a:ext cx="11750" cy="1053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flipH="1">
            <a:off x="6039211" y="2640088"/>
            <a:ext cx="12057" cy="1081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flipH="1">
            <a:off x="6031266" y="2650904"/>
            <a:ext cx="7945" cy="588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flipH="1">
            <a:off x="6023594" y="2656793"/>
            <a:ext cx="7672" cy="568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flipH="1">
            <a:off x="6013009" y="2662480"/>
            <a:ext cx="10585" cy="784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flipH="1">
            <a:off x="6001437" y="2670328"/>
            <a:ext cx="11572" cy="372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flipH="1">
            <a:off x="5993025" y="2674049"/>
            <a:ext cx="8412" cy="270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flipH="1">
            <a:off x="5982593" y="2676755"/>
            <a:ext cx="10432" cy="335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flipH="1">
            <a:off x="5968821" y="2680111"/>
            <a:ext cx="13772" cy="443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flipH="1">
            <a:off x="5961506" y="2684542"/>
            <a:ext cx="7315" cy="7750"/>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flipH="1">
            <a:off x="5951856" y="2692292"/>
            <a:ext cx="9650" cy="1022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flipH="1">
            <a:off x="5945823" y="2702514"/>
            <a:ext cx="6033" cy="639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flipH="1">
            <a:off x="5939572" y="2708908"/>
            <a:ext cx="6251" cy="662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flipH="1">
            <a:off x="5931803" y="2715533"/>
            <a:ext cx="7769" cy="823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flipH="1">
            <a:off x="5918935" y="2723768"/>
            <a:ext cx="12868" cy="402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flipH="1">
            <a:off x="5903508" y="2727792"/>
            <a:ext cx="15427" cy="482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flipH="1" flipV="1">
            <a:off x="5893603" y="2731845"/>
            <a:ext cx="9905" cy="77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flipH="1" flipV="1">
            <a:off x="5882910" y="2731008"/>
            <a:ext cx="10693" cy="83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flipH="1" flipV="1">
            <a:off x="5868364" y="2729872"/>
            <a:ext cx="14546" cy="113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flipH="1">
            <a:off x="5861934" y="2729872"/>
            <a:ext cx="6430" cy="250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flipH="1">
            <a:off x="5857964" y="2732376"/>
            <a:ext cx="3970" cy="154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flipH="1">
            <a:off x="5854048" y="2733922"/>
            <a:ext cx="3916" cy="731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flipH="1">
            <a:off x="5852355" y="2741240"/>
            <a:ext cx="1693" cy="316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flipH="1">
            <a:off x="5845074" y="2744404"/>
            <a:ext cx="7281" cy="1360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flipH="1">
            <a:off x="5844846" y="2758013"/>
            <a:ext cx="228" cy="1691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flipH="1">
            <a:off x="5842700" y="2774929"/>
            <a:ext cx="2146" cy="16480"/>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H="1">
            <a:off x="5840865" y="2791409"/>
            <a:ext cx="1835" cy="1409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H="1">
            <a:off x="5835446" y="2805506"/>
            <a:ext cx="5419" cy="1839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a:off x="5832080" y="2823900"/>
            <a:ext cx="3366" cy="1142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flipH="1">
            <a:off x="5830236" y="2835327"/>
            <a:ext cx="1844" cy="625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flipH="1">
            <a:off x="5821352" y="2841585"/>
            <a:ext cx="8884" cy="762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flipH="1">
            <a:off x="5812828" y="2849210"/>
            <a:ext cx="8524" cy="731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flipH="1">
            <a:off x="5802236" y="2856527"/>
            <a:ext cx="10592" cy="909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flipH="1">
            <a:off x="5796979" y="2865618"/>
            <a:ext cx="5257" cy="451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flipH="1">
            <a:off x="5782519" y="2870131"/>
            <a:ext cx="14460" cy="1241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flipH="1">
            <a:off x="5781478" y="2882548"/>
            <a:ext cx="1041" cy="1869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5781478" y="2901246"/>
            <a:ext cx="7118" cy="1261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1" name="Connector 400"/>
          <p:cNvCxnSpPr/>
          <p:nvPr/>
        </p:nvCxnSpPr>
        <p:spPr>
          <a:xfrm flipH="1">
            <a:off x="5788042" y="2913859"/>
            <a:ext cx="554" cy="780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2" name="Connector 401"/>
          <p:cNvCxnSpPr/>
          <p:nvPr/>
        </p:nvCxnSpPr>
        <p:spPr>
          <a:xfrm flipH="1">
            <a:off x="5772786" y="2921662"/>
            <a:ext cx="15256" cy="1972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H="1">
            <a:off x="5768715" y="2941383"/>
            <a:ext cx="4071" cy="526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H="1">
            <a:off x="5763665" y="2946644"/>
            <a:ext cx="5050" cy="653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H="1">
            <a:off x="5759972" y="2953175"/>
            <a:ext cx="3693" cy="477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H="1">
            <a:off x="5756035" y="2957951"/>
            <a:ext cx="3937" cy="5090"/>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H="1">
            <a:off x="5752822" y="2963041"/>
            <a:ext cx="3213" cy="415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H="1">
            <a:off x="5749990" y="2967197"/>
            <a:ext cx="2832" cy="259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H="1">
            <a:off x="5739387" y="2969789"/>
            <a:ext cx="10603" cy="9696"/>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H="1">
            <a:off x="5728820" y="2979485"/>
            <a:ext cx="10567" cy="9668"/>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flipH="1">
            <a:off x="5721385" y="2989153"/>
            <a:ext cx="7435" cy="680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flipH="1">
            <a:off x="5714268" y="2995955"/>
            <a:ext cx="7117" cy="946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H="1">
            <a:off x="5706596" y="3005417"/>
            <a:ext cx="7672" cy="1019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flipH="1">
            <a:off x="5700382" y="3015616"/>
            <a:ext cx="6214" cy="826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H="1">
            <a:off x="5693645" y="3023880"/>
            <a:ext cx="6737" cy="16957"/>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a:off x="5693645" y="3040837"/>
            <a:ext cx="5814" cy="1177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a:off x="5699459" y="3052611"/>
            <a:ext cx="3593" cy="727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a:off x="5703052" y="3059882"/>
            <a:ext cx="7796" cy="527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a:off x="5710848" y="3065156"/>
            <a:ext cx="3534" cy="2393"/>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5714382" y="3067549"/>
            <a:ext cx="7901" cy="5344"/>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a:off x="5722283" y="3072893"/>
            <a:ext cx="9967" cy="674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a:off x="5732250" y="3079638"/>
            <a:ext cx="6279" cy="4249"/>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a:off x="5738529" y="3083887"/>
            <a:ext cx="10563" cy="10295"/>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a:off x="5749092" y="3094182"/>
            <a:ext cx="5223" cy="5090"/>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a:off x="5754315" y="3099272"/>
            <a:ext cx="12884" cy="12561"/>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5767199" y="3111833"/>
            <a:ext cx="10" cy="6812"/>
          </a:xfrm>
          <a:prstGeom prst="line">
            <a:avLst/>
          </a:prstGeom>
          <a:ln w="21590">
            <a:solidFill>
              <a:srgbClr val="DFAFD2"/>
            </a:solidFill>
          </a:ln>
        </p:spPr>
        <p:style>
          <a:lnRef idx="2">
            <a:schemeClr val="accent1"/>
          </a:lnRef>
          <a:fillRef idx="0">
            <a:schemeClr val="accent1"/>
          </a:fillRef>
          <a:effectRef idx="1">
            <a:schemeClr val="accent1"/>
          </a:effectRef>
          <a:fontRef idx="minor">
            <a:schemeClr val="tx1"/>
          </a:fontRef>
        </p:style>
      </p:cxnSp>
      <p:sp>
        <p:nvSpPr>
          <p:cNvPr id="427" name="Oval 426"/>
          <p:cNvSpPr/>
          <p:nvPr/>
        </p:nvSpPr>
        <p:spPr>
          <a:xfrm>
            <a:off x="6145901" y="2217420"/>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Oval 427"/>
          <p:cNvSpPr/>
          <p:nvPr/>
        </p:nvSpPr>
        <p:spPr>
          <a:xfrm>
            <a:off x="6122620" y="2284901"/>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Oval 428"/>
          <p:cNvSpPr/>
          <p:nvPr/>
        </p:nvSpPr>
        <p:spPr>
          <a:xfrm>
            <a:off x="6118608" y="2370913"/>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Oval 429"/>
          <p:cNvSpPr/>
          <p:nvPr/>
        </p:nvSpPr>
        <p:spPr>
          <a:xfrm>
            <a:off x="6116178" y="2450491"/>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Oval 430"/>
          <p:cNvSpPr/>
          <p:nvPr/>
        </p:nvSpPr>
        <p:spPr>
          <a:xfrm>
            <a:off x="6091096" y="2546316"/>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Oval 431"/>
          <p:cNvSpPr/>
          <p:nvPr/>
        </p:nvSpPr>
        <p:spPr>
          <a:xfrm>
            <a:off x="6008406" y="2633933"/>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Oval 432"/>
          <p:cNvSpPr/>
          <p:nvPr/>
        </p:nvSpPr>
        <p:spPr>
          <a:xfrm>
            <a:off x="5928996" y="2679654"/>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Oval 433"/>
          <p:cNvSpPr/>
          <p:nvPr/>
        </p:nvSpPr>
        <p:spPr>
          <a:xfrm>
            <a:off x="5845504" y="2707012"/>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Oval 434"/>
          <p:cNvSpPr/>
          <p:nvPr/>
        </p:nvSpPr>
        <p:spPr>
          <a:xfrm>
            <a:off x="5818005" y="2782646"/>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Oval 435"/>
          <p:cNvSpPr/>
          <p:nvPr/>
        </p:nvSpPr>
        <p:spPr>
          <a:xfrm>
            <a:off x="5759659" y="2859688"/>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Oval 436"/>
          <p:cNvSpPr/>
          <p:nvPr/>
        </p:nvSpPr>
        <p:spPr>
          <a:xfrm>
            <a:off x="5733175" y="2940181"/>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Oval 437"/>
          <p:cNvSpPr/>
          <p:nvPr/>
        </p:nvSpPr>
        <p:spPr>
          <a:xfrm>
            <a:off x="5677522" y="3001020"/>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Oval 438"/>
          <p:cNvSpPr/>
          <p:nvPr/>
        </p:nvSpPr>
        <p:spPr>
          <a:xfrm>
            <a:off x="5715669" y="3061027"/>
            <a:ext cx="45720" cy="45720"/>
          </a:xfrm>
          <a:prstGeom prst="ellipse">
            <a:avLst/>
          </a:prstGeom>
          <a:solidFill>
            <a:srgbClr val="DFAF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0" name="Connector 439"/>
          <p:cNvCxnSpPr/>
          <p:nvPr/>
        </p:nvCxnSpPr>
        <p:spPr>
          <a:xfrm flipH="1" flipV="1">
            <a:off x="4426096" y="3105260"/>
            <a:ext cx="4891" cy="57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H="1" flipV="1">
            <a:off x="4421402" y="3099764"/>
            <a:ext cx="4694" cy="549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H="1" flipV="1">
            <a:off x="4414004" y="3091102"/>
            <a:ext cx="7398" cy="866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4409402" y="3085713"/>
            <a:ext cx="4602" cy="538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4403546" y="3084447"/>
            <a:ext cx="5856" cy="126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4393923" y="3082370"/>
            <a:ext cx="9623" cy="207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4385412" y="3080532"/>
            <a:ext cx="8511" cy="183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4376647" y="3078640"/>
            <a:ext cx="8765" cy="189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a:off x="4366451" y="3078640"/>
            <a:ext cx="10196" cy="354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a:off x="4356351" y="3082183"/>
            <a:ext cx="10100" cy="350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a:off x="4344660" y="3085692"/>
            <a:ext cx="11691" cy="406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a:off x="4333899" y="3089756"/>
            <a:ext cx="10761" cy="373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a:off x="4323826" y="3093495"/>
            <a:ext cx="10073" cy="350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H="1">
            <a:off x="4312429" y="3096998"/>
            <a:ext cx="11397" cy="396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H="1">
            <a:off x="4301531" y="3100961"/>
            <a:ext cx="10898" cy="257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H="1">
            <a:off x="4288203" y="3103531"/>
            <a:ext cx="13328" cy="314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H="1">
            <a:off x="4275598" y="3106673"/>
            <a:ext cx="12605" cy="297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H="1" flipV="1">
            <a:off x="4266421" y="3105595"/>
            <a:ext cx="9177" cy="405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H="1" flipV="1">
            <a:off x="4254231" y="3100216"/>
            <a:ext cx="12190" cy="537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H="1" flipV="1">
            <a:off x="4240009" y="3093941"/>
            <a:ext cx="14222" cy="627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H="1" flipV="1">
            <a:off x="4235464" y="3091937"/>
            <a:ext cx="4545" cy="200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H="1" flipV="1">
            <a:off x="4224829" y="3089690"/>
            <a:ext cx="10635" cy="224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H="1" flipV="1">
            <a:off x="4203303" y="3085143"/>
            <a:ext cx="21526" cy="454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H="1" flipV="1">
            <a:off x="4191895" y="3082733"/>
            <a:ext cx="11408" cy="241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H="1" flipV="1">
            <a:off x="4183041" y="3080865"/>
            <a:ext cx="8854" cy="186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H="1" flipV="1">
            <a:off x="4173219" y="3078792"/>
            <a:ext cx="9822" cy="207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H="1" flipV="1">
            <a:off x="4162377" y="3076504"/>
            <a:ext cx="10842" cy="228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H="1" flipV="1">
            <a:off x="4155533" y="3075061"/>
            <a:ext cx="6844" cy="144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H="1" flipV="1">
            <a:off x="4143910" y="3072610"/>
            <a:ext cx="11623" cy="245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flipH="1" flipV="1">
            <a:off x="4130574" y="3066894"/>
            <a:ext cx="13336" cy="571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flipH="1" flipV="1">
            <a:off x="4127040" y="3055605"/>
            <a:ext cx="3534" cy="1128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flipH="1" flipV="1">
            <a:off x="4127024" y="3048056"/>
            <a:ext cx="16" cy="754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flipH="1" flipV="1">
            <a:off x="4126993" y="3033866"/>
            <a:ext cx="31" cy="1419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H="1" flipV="1">
            <a:off x="4126971" y="3024436"/>
            <a:ext cx="22" cy="94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4126954" y="3015792"/>
            <a:ext cx="17" cy="864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H="1" flipV="1">
            <a:off x="4126923" y="3002122"/>
            <a:ext cx="31" cy="1367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4126889" y="2986233"/>
            <a:ext cx="34" cy="1588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117935" y="2976792"/>
            <a:ext cx="8954" cy="944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flipV="1">
            <a:off x="4112011" y="2970548"/>
            <a:ext cx="5924" cy="624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flipV="1">
            <a:off x="4097989" y="2955768"/>
            <a:ext cx="14022" cy="1478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flipH="1" flipV="1">
            <a:off x="4090076" y="2947429"/>
            <a:ext cx="7913" cy="833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080396" y="2937230"/>
            <a:ext cx="9680" cy="1019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073612" y="2934490"/>
            <a:ext cx="6784" cy="274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059780" y="2928905"/>
            <a:ext cx="13832" cy="558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045921" y="2923308"/>
            <a:ext cx="13859" cy="559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flipH="1" flipV="1">
            <a:off x="4032802" y="2918014"/>
            <a:ext cx="13119" cy="529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flipV="1">
            <a:off x="4023461" y="2914243"/>
            <a:ext cx="9341" cy="377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flipV="1">
            <a:off x="4009209" y="2908492"/>
            <a:ext cx="14252" cy="575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flipV="1">
            <a:off x="3999211" y="2904459"/>
            <a:ext cx="9998" cy="403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flipV="1">
            <a:off x="3994307" y="2902481"/>
            <a:ext cx="4904" cy="197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flipH="1">
            <a:off x="3988331" y="2902481"/>
            <a:ext cx="5976" cy="160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979239" y="2904090"/>
            <a:ext cx="9092" cy="244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flipH="1">
            <a:off x="3971659" y="2906538"/>
            <a:ext cx="7580" cy="204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flipH="1">
            <a:off x="3957686" y="2908580"/>
            <a:ext cx="13973" cy="376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3944737" y="2912345"/>
            <a:ext cx="12949" cy="349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flipH="1">
            <a:off x="3932323" y="2915835"/>
            <a:ext cx="12414" cy="334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929694" y="2919181"/>
            <a:ext cx="2629" cy="70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flipH="1">
            <a:off x="3923826" y="2919890"/>
            <a:ext cx="5868" cy="158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flipH="1">
            <a:off x="3919872" y="2921473"/>
            <a:ext cx="3954" cy="51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499" name="Connector 498"/>
          <p:cNvCxnSpPr/>
          <p:nvPr/>
        </p:nvCxnSpPr>
        <p:spPr>
          <a:xfrm flipH="1">
            <a:off x="3914960" y="2921985"/>
            <a:ext cx="4912" cy="63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0" name="Connector 499"/>
          <p:cNvCxnSpPr/>
          <p:nvPr/>
        </p:nvCxnSpPr>
        <p:spPr>
          <a:xfrm flipH="1">
            <a:off x="3902425" y="2922622"/>
            <a:ext cx="12535" cy="162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1" name="Connector 500"/>
          <p:cNvCxnSpPr/>
          <p:nvPr/>
        </p:nvCxnSpPr>
        <p:spPr>
          <a:xfrm flipH="1">
            <a:off x="3887633" y="2924246"/>
            <a:ext cx="14792" cy="192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2" name="Connector 501"/>
          <p:cNvCxnSpPr/>
          <p:nvPr/>
        </p:nvCxnSpPr>
        <p:spPr>
          <a:xfrm flipH="1">
            <a:off x="3872836" y="2926167"/>
            <a:ext cx="14797" cy="192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3" name="Connector 502"/>
          <p:cNvCxnSpPr/>
          <p:nvPr/>
        </p:nvCxnSpPr>
        <p:spPr>
          <a:xfrm flipH="1">
            <a:off x="3864603" y="2928089"/>
            <a:ext cx="8233" cy="106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4" name="Connector 503"/>
          <p:cNvCxnSpPr/>
          <p:nvPr/>
        </p:nvCxnSpPr>
        <p:spPr>
          <a:xfrm flipH="1">
            <a:off x="3859279" y="2929158"/>
            <a:ext cx="5324" cy="69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5" name="Connector 504"/>
          <p:cNvCxnSpPr/>
          <p:nvPr/>
        </p:nvCxnSpPr>
        <p:spPr>
          <a:xfrm flipH="1">
            <a:off x="3850542" y="2929850"/>
            <a:ext cx="8737" cy="113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6" name="Connector 505"/>
          <p:cNvCxnSpPr/>
          <p:nvPr/>
        </p:nvCxnSpPr>
        <p:spPr>
          <a:xfrm flipH="1">
            <a:off x="3842521" y="2930986"/>
            <a:ext cx="8021" cy="104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7" name="Connector 506"/>
          <p:cNvCxnSpPr/>
          <p:nvPr/>
        </p:nvCxnSpPr>
        <p:spPr>
          <a:xfrm flipH="1">
            <a:off x="3835891" y="2932029"/>
            <a:ext cx="6630" cy="86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8" name="Connector 507"/>
          <p:cNvCxnSpPr/>
          <p:nvPr/>
        </p:nvCxnSpPr>
        <p:spPr>
          <a:xfrm flipH="1">
            <a:off x="3819224" y="2932891"/>
            <a:ext cx="16667" cy="216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09" name="Connector 508"/>
          <p:cNvCxnSpPr/>
          <p:nvPr/>
        </p:nvCxnSpPr>
        <p:spPr>
          <a:xfrm flipH="1">
            <a:off x="3803890" y="2935059"/>
            <a:ext cx="15334" cy="199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0" name="Connector 509"/>
          <p:cNvCxnSpPr/>
          <p:nvPr/>
        </p:nvCxnSpPr>
        <p:spPr>
          <a:xfrm flipH="1">
            <a:off x="3790222" y="2937055"/>
            <a:ext cx="13668" cy="178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1" name="Connector 510"/>
          <p:cNvCxnSpPr/>
          <p:nvPr/>
        </p:nvCxnSpPr>
        <p:spPr>
          <a:xfrm flipH="1">
            <a:off x="3780489" y="2938835"/>
            <a:ext cx="9733" cy="127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2" name="Connector 511"/>
          <p:cNvCxnSpPr/>
          <p:nvPr/>
        </p:nvCxnSpPr>
        <p:spPr>
          <a:xfrm flipH="1">
            <a:off x="3770349" y="2940105"/>
            <a:ext cx="10140" cy="132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3" name="Connector 512"/>
          <p:cNvCxnSpPr/>
          <p:nvPr/>
        </p:nvCxnSpPr>
        <p:spPr>
          <a:xfrm flipH="1">
            <a:off x="3760540" y="2941426"/>
            <a:ext cx="9809" cy="128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4" name="Connector 513"/>
          <p:cNvCxnSpPr/>
          <p:nvPr/>
        </p:nvCxnSpPr>
        <p:spPr>
          <a:xfrm flipH="1">
            <a:off x="3754382" y="2942706"/>
            <a:ext cx="6158" cy="486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5" name="Connector 514"/>
          <p:cNvCxnSpPr/>
          <p:nvPr/>
        </p:nvCxnSpPr>
        <p:spPr>
          <a:xfrm flipH="1">
            <a:off x="3746549" y="2947569"/>
            <a:ext cx="7833" cy="619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6" name="Connector 515"/>
          <p:cNvCxnSpPr/>
          <p:nvPr/>
        </p:nvCxnSpPr>
        <p:spPr>
          <a:xfrm flipH="1">
            <a:off x="3736005" y="2953759"/>
            <a:ext cx="10544" cy="83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a:off x="3727216" y="2962089"/>
            <a:ext cx="8789" cy="363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a:off x="3709505" y="2965725"/>
            <a:ext cx="17711" cy="73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H="1">
            <a:off x="3697404" y="2973055"/>
            <a:ext cx="12101" cy="233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3681749" y="2969994"/>
            <a:ext cx="15655" cy="539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3666377" y="2964698"/>
            <a:ext cx="15372" cy="529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3660452" y="2962655"/>
            <a:ext cx="5925" cy="204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H="1" flipV="1">
            <a:off x="3652381" y="2959875"/>
            <a:ext cx="8071" cy="278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flipH="1">
            <a:off x="3641934" y="2959875"/>
            <a:ext cx="10447" cy="127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H="1">
            <a:off x="3633267" y="2961154"/>
            <a:ext cx="8667" cy="106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H="1">
            <a:off x="3619421" y="2962215"/>
            <a:ext cx="13846" cy="415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H="1">
            <a:off x="3606035" y="2966366"/>
            <a:ext cx="13386" cy="401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a:off x="3598931" y="2970379"/>
            <a:ext cx="7104" cy="21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a:off x="3585618" y="2972509"/>
            <a:ext cx="13313" cy="399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a:off x="3573082" y="2976503"/>
            <a:ext cx="12536" cy="376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1" name="Connector 530"/>
          <p:cNvCxnSpPr/>
          <p:nvPr/>
        </p:nvCxnSpPr>
        <p:spPr>
          <a:xfrm flipH="1">
            <a:off x="3567947" y="2980264"/>
            <a:ext cx="5135" cy="154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2" name="Connector 531"/>
          <p:cNvCxnSpPr/>
          <p:nvPr/>
        </p:nvCxnSpPr>
        <p:spPr>
          <a:xfrm flipH="1">
            <a:off x="3556165" y="2981805"/>
            <a:ext cx="11782" cy="353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a:off x="3547923" y="2985341"/>
            <a:ext cx="8242" cy="247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H="1">
            <a:off x="3539239" y="2987816"/>
            <a:ext cx="8684" cy="260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flipH="1">
            <a:off x="3528699" y="2990422"/>
            <a:ext cx="10540" cy="316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flipH="1">
            <a:off x="3513281" y="2993587"/>
            <a:ext cx="15418" cy="463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flipH="1">
            <a:off x="3502094" y="2998219"/>
            <a:ext cx="11187" cy="336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H="1">
            <a:off x="3492434" y="3001579"/>
            <a:ext cx="9660" cy="290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flipH="1">
            <a:off x="3481295" y="3004482"/>
            <a:ext cx="11139" cy="334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H="1">
            <a:off x="3470253" y="3007830"/>
            <a:ext cx="11042" cy="137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H="1">
            <a:off x="3454848" y="3009200"/>
            <a:ext cx="15405" cy="191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H="1">
            <a:off x="3445817" y="3011112"/>
            <a:ext cx="9031" cy="112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H="1">
            <a:off x="3440715" y="3012235"/>
            <a:ext cx="5102" cy="310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4" name="Connector 543"/>
          <p:cNvCxnSpPr/>
          <p:nvPr/>
        </p:nvCxnSpPr>
        <p:spPr>
          <a:xfrm flipH="1">
            <a:off x="3434483" y="3015337"/>
            <a:ext cx="6232" cy="378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5" name="Connector 544"/>
          <p:cNvCxnSpPr/>
          <p:nvPr/>
        </p:nvCxnSpPr>
        <p:spPr>
          <a:xfrm flipH="1">
            <a:off x="3428999" y="3019123"/>
            <a:ext cx="5484" cy="389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6" name="Connector 545"/>
          <p:cNvCxnSpPr/>
          <p:nvPr/>
        </p:nvCxnSpPr>
        <p:spPr>
          <a:xfrm flipH="1">
            <a:off x="3422332" y="3023022"/>
            <a:ext cx="6667" cy="474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7" name="Connector 546"/>
          <p:cNvCxnSpPr/>
          <p:nvPr/>
        </p:nvCxnSpPr>
        <p:spPr>
          <a:xfrm flipH="1">
            <a:off x="3410308" y="3027764"/>
            <a:ext cx="12024" cy="855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8" name="Connector 547"/>
          <p:cNvCxnSpPr/>
          <p:nvPr/>
        </p:nvCxnSpPr>
        <p:spPr>
          <a:xfrm flipH="1">
            <a:off x="3401184" y="3036314"/>
            <a:ext cx="9124" cy="649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49" name="Connector 548"/>
          <p:cNvCxnSpPr/>
          <p:nvPr/>
        </p:nvCxnSpPr>
        <p:spPr>
          <a:xfrm flipH="1">
            <a:off x="3390350" y="3042806"/>
            <a:ext cx="10834" cy="770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0" name="Connector 549"/>
          <p:cNvCxnSpPr/>
          <p:nvPr/>
        </p:nvCxnSpPr>
        <p:spPr>
          <a:xfrm flipH="1">
            <a:off x="3382786" y="3050512"/>
            <a:ext cx="7564" cy="538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1" name="Connector 550"/>
          <p:cNvCxnSpPr/>
          <p:nvPr/>
        </p:nvCxnSpPr>
        <p:spPr>
          <a:xfrm flipH="1">
            <a:off x="3376784" y="3055893"/>
            <a:ext cx="6002" cy="427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2" name="Connector 551"/>
          <p:cNvCxnSpPr/>
          <p:nvPr/>
        </p:nvCxnSpPr>
        <p:spPr>
          <a:xfrm flipH="1">
            <a:off x="3369806" y="3060166"/>
            <a:ext cx="6978" cy="496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3" name="Connector 552"/>
          <p:cNvCxnSpPr/>
          <p:nvPr/>
        </p:nvCxnSpPr>
        <p:spPr>
          <a:xfrm flipH="1">
            <a:off x="3358467" y="3065130"/>
            <a:ext cx="11339" cy="807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4" name="Connector 553"/>
          <p:cNvCxnSpPr/>
          <p:nvPr/>
        </p:nvCxnSpPr>
        <p:spPr>
          <a:xfrm flipH="1">
            <a:off x="3350280" y="3073201"/>
            <a:ext cx="8187" cy="582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5" name="Connector 554"/>
          <p:cNvCxnSpPr/>
          <p:nvPr/>
        </p:nvCxnSpPr>
        <p:spPr>
          <a:xfrm flipH="1">
            <a:off x="3338299" y="3079026"/>
            <a:ext cx="11981" cy="853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6" name="Connector 555"/>
          <p:cNvCxnSpPr/>
          <p:nvPr/>
        </p:nvCxnSpPr>
        <p:spPr>
          <a:xfrm flipH="1">
            <a:off x="3329937" y="3087558"/>
            <a:ext cx="8362" cy="595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7" name="Connector 556"/>
          <p:cNvCxnSpPr/>
          <p:nvPr/>
        </p:nvCxnSpPr>
        <p:spPr>
          <a:xfrm flipH="1">
            <a:off x="3322180" y="3093512"/>
            <a:ext cx="7757" cy="552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8" name="Connector 557"/>
          <p:cNvCxnSpPr/>
          <p:nvPr/>
        </p:nvCxnSpPr>
        <p:spPr>
          <a:xfrm flipH="1">
            <a:off x="3316659" y="3099035"/>
            <a:ext cx="5521" cy="393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59" name="Connector 558"/>
          <p:cNvCxnSpPr/>
          <p:nvPr/>
        </p:nvCxnSpPr>
        <p:spPr>
          <a:xfrm flipH="1">
            <a:off x="3313139" y="3102966"/>
            <a:ext cx="3520" cy="356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0" name="Connector 559"/>
          <p:cNvCxnSpPr/>
          <p:nvPr/>
        </p:nvCxnSpPr>
        <p:spPr>
          <a:xfrm flipH="1">
            <a:off x="3309258" y="3106529"/>
            <a:ext cx="3881" cy="392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1" name="Connector 560"/>
          <p:cNvCxnSpPr/>
          <p:nvPr/>
        </p:nvCxnSpPr>
        <p:spPr>
          <a:xfrm flipH="1">
            <a:off x="3297544" y="3110458"/>
            <a:ext cx="11714" cy="1185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2" name="Connector 561"/>
          <p:cNvCxnSpPr/>
          <p:nvPr/>
        </p:nvCxnSpPr>
        <p:spPr>
          <a:xfrm flipH="1">
            <a:off x="3291919" y="3122315"/>
            <a:ext cx="5625" cy="569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3" name="Connector 562"/>
          <p:cNvCxnSpPr/>
          <p:nvPr/>
        </p:nvCxnSpPr>
        <p:spPr>
          <a:xfrm flipH="1">
            <a:off x="3286169" y="3128009"/>
            <a:ext cx="5750" cy="582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4" name="Connector 563"/>
          <p:cNvCxnSpPr/>
          <p:nvPr/>
        </p:nvCxnSpPr>
        <p:spPr>
          <a:xfrm flipH="1">
            <a:off x="3278626" y="3133831"/>
            <a:ext cx="7543" cy="763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5" name="Connector 564"/>
          <p:cNvCxnSpPr/>
          <p:nvPr/>
        </p:nvCxnSpPr>
        <p:spPr>
          <a:xfrm flipH="1">
            <a:off x="3267832" y="3141468"/>
            <a:ext cx="10794" cy="830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6" name="Connector 565"/>
          <p:cNvCxnSpPr/>
          <p:nvPr/>
        </p:nvCxnSpPr>
        <p:spPr>
          <a:xfrm flipH="1">
            <a:off x="3260031" y="3149773"/>
            <a:ext cx="7801" cy="802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7" name="Connector 566"/>
          <p:cNvCxnSpPr/>
          <p:nvPr/>
        </p:nvCxnSpPr>
        <p:spPr>
          <a:xfrm flipH="1">
            <a:off x="3249612" y="3157797"/>
            <a:ext cx="10419" cy="1354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8" name="Connector 567"/>
          <p:cNvCxnSpPr/>
          <p:nvPr/>
        </p:nvCxnSpPr>
        <p:spPr>
          <a:xfrm flipH="1">
            <a:off x="3243322" y="3171343"/>
            <a:ext cx="6290" cy="645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69" name="Connector 568"/>
          <p:cNvCxnSpPr/>
          <p:nvPr/>
        </p:nvCxnSpPr>
        <p:spPr>
          <a:xfrm flipH="1">
            <a:off x="3237562" y="3177800"/>
            <a:ext cx="5760" cy="591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0" name="Connector 569"/>
          <p:cNvCxnSpPr/>
          <p:nvPr/>
        </p:nvCxnSpPr>
        <p:spPr>
          <a:xfrm flipH="1">
            <a:off x="3231582" y="3183713"/>
            <a:ext cx="5980" cy="613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1" name="Connector 570"/>
          <p:cNvCxnSpPr/>
          <p:nvPr/>
        </p:nvCxnSpPr>
        <p:spPr>
          <a:xfrm flipH="1">
            <a:off x="3230283" y="3189852"/>
            <a:ext cx="1299" cy="766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2" name="Connector 571"/>
          <p:cNvCxnSpPr/>
          <p:nvPr/>
        </p:nvCxnSpPr>
        <p:spPr>
          <a:xfrm flipH="1">
            <a:off x="3227764" y="3197517"/>
            <a:ext cx="2519" cy="1487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3" name="Connector 572"/>
          <p:cNvCxnSpPr/>
          <p:nvPr/>
        </p:nvCxnSpPr>
        <p:spPr>
          <a:xfrm flipH="1">
            <a:off x="3225183" y="3212388"/>
            <a:ext cx="2581" cy="1523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4" name="Connector 573"/>
          <p:cNvCxnSpPr/>
          <p:nvPr/>
        </p:nvCxnSpPr>
        <p:spPr>
          <a:xfrm flipH="1">
            <a:off x="3219991" y="3227622"/>
            <a:ext cx="5192" cy="3066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5" name="Connector 574"/>
          <p:cNvCxnSpPr/>
          <p:nvPr/>
        </p:nvCxnSpPr>
        <p:spPr>
          <a:xfrm flipH="1">
            <a:off x="3218420" y="3258285"/>
            <a:ext cx="1571" cy="928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6" name="Connector 575"/>
          <p:cNvCxnSpPr/>
          <p:nvPr/>
        </p:nvCxnSpPr>
        <p:spPr>
          <a:xfrm flipH="1">
            <a:off x="3213793" y="3267571"/>
            <a:ext cx="4627" cy="583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7" name="Connector 576"/>
          <p:cNvCxnSpPr/>
          <p:nvPr/>
        </p:nvCxnSpPr>
        <p:spPr>
          <a:xfrm flipH="1">
            <a:off x="3203213" y="3273407"/>
            <a:ext cx="10580" cy="1334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8" name="Connector 577"/>
          <p:cNvCxnSpPr/>
          <p:nvPr/>
        </p:nvCxnSpPr>
        <p:spPr>
          <a:xfrm flipH="1">
            <a:off x="3197035" y="3286754"/>
            <a:ext cx="6178" cy="779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79" name="Connector 578"/>
          <p:cNvCxnSpPr/>
          <p:nvPr/>
        </p:nvCxnSpPr>
        <p:spPr>
          <a:xfrm flipH="1">
            <a:off x="3186104" y="3294547"/>
            <a:ext cx="10931" cy="1379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0" name="Connector 579"/>
          <p:cNvCxnSpPr/>
          <p:nvPr/>
        </p:nvCxnSpPr>
        <p:spPr>
          <a:xfrm flipH="1">
            <a:off x="3179474" y="3308341"/>
            <a:ext cx="6630" cy="836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1" name="Connector 580"/>
          <p:cNvCxnSpPr/>
          <p:nvPr/>
        </p:nvCxnSpPr>
        <p:spPr>
          <a:xfrm flipH="1">
            <a:off x="3169150" y="3316708"/>
            <a:ext cx="10324" cy="130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2" name="Connector 581"/>
          <p:cNvCxnSpPr/>
          <p:nvPr/>
        </p:nvCxnSpPr>
        <p:spPr>
          <a:xfrm flipH="1">
            <a:off x="3154175" y="3329738"/>
            <a:ext cx="14975" cy="299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3" name="Connector 582"/>
          <p:cNvCxnSpPr/>
          <p:nvPr/>
        </p:nvCxnSpPr>
        <p:spPr>
          <a:xfrm flipH="1">
            <a:off x="3143230" y="3332735"/>
            <a:ext cx="10945" cy="219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4" name="Connector 583"/>
          <p:cNvCxnSpPr/>
          <p:nvPr/>
        </p:nvCxnSpPr>
        <p:spPr>
          <a:xfrm flipH="1">
            <a:off x="3129721" y="3334927"/>
            <a:ext cx="13509" cy="270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5" name="Connector 584"/>
          <p:cNvCxnSpPr/>
          <p:nvPr/>
        </p:nvCxnSpPr>
        <p:spPr>
          <a:xfrm flipH="1">
            <a:off x="3122175" y="3337631"/>
            <a:ext cx="7546" cy="151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6" name="Connector 585"/>
          <p:cNvCxnSpPr/>
          <p:nvPr/>
        </p:nvCxnSpPr>
        <p:spPr>
          <a:xfrm flipH="1">
            <a:off x="3110603" y="3339143"/>
            <a:ext cx="11572" cy="231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7" name="Connector 586"/>
          <p:cNvCxnSpPr/>
          <p:nvPr/>
        </p:nvCxnSpPr>
        <p:spPr>
          <a:xfrm flipH="1">
            <a:off x="3099314" y="3341461"/>
            <a:ext cx="11289" cy="226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8" name="Connector 587"/>
          <p:cNvCxnSpPr/>
          <p:nvPr/>
        </p:nvCxnSpPr>
        <p:spPr>
          <a:xfrm flipH="1">
            <a:off x="3086443" y="3343723"/>
            <a:ext cx="12871" cy="258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89" name="Connector 588"/>
          <p:cNvCxnSpPr/>
          <p:nvPr/>
        </p:nvCxnSpPr>
        <p:spPr>
          <a:xfrm flipH="1">
            <a:off x="3079313" y="3346304"/>
            <a:ext cx="7130" cy="142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0" name="Connector 589"/>
          <p:cNvCxnSpPr/>
          <p:nvPr/>
        </p:nvCxnSpPr>
        <p:spPr>
          <a:xfrm flipH="1">
            <a:off x="3072457" y="3347733"/>
            <a:ext cx="6856" cy="578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1" name="Connector 590"/>
          <p:cNvCxnSpPr/>
          <p:nvPr/>
        </p:nvCxnSpPr>
        <p:spPr>
          <a:xfrm flipH="1">
            <a:off x="3061274" y="3353513"/>
            <a:ext cx="11183" cy="942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2" name="Connector 591"/>
          <p:cNvCxnSpPr/>
          <p:nvPr/>
        </p:nvCxnSpPr>
        <p:spPr>
          <a:xfrm flipH="1">
            <a:off x="3053196" y="3362940"/>
            <a:ext cx="8078" cy="681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3" name="Connector 592"/>
          <p:cNvCxnSpPr/>
          <p:nvPr/>
        </p:nvCxnSpPr>
        <p:spPr>
          <a:xfrm flipH="1">
            <a:off x="3043585" y="3369750"/>
            <a:ext cx="9611" cy="810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4" name="Connector 593"/>
          <p:cNvCxnSpPr/>
          <p:nvPr/>
        </p:nvCxnSpPr>
        <p:spPr>
          <a:xfrm flipH="1">
            <a:off x="3035598" y="3377856"/>
            <a:ext cx="7987" cy="673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5" name="Connector 594"/>
          <p:cNvCxnSpPr/>
          <p:nvPr/>
        </p:nvCxnSpPr>
        <p:spPr>
          <a:xfrm flipH="1">
            <a:off x="3025268" y="3384591"/>
            <a:ext cx="10330" cy="871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6" name="Connector 595"/>
          <p:cNvCxnSpPr/>
          <p:nvPr/>
        </p:nvCxnSpPr>
        <p:spPr>
          <a:xfrm flipH="1">
            <a:off x="3017549" y="3393304"/>
            <a:ext cx="7719" cy="651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7" name="Connector 596"/>
          <p:cNvCxnSpPr/>
          <p:nvPr/>
        </p:nvCxnSpPr>
        <p:spPr>
          <a:xfrm flipH="1">
            <a:off x="3008151" y="3399816"/>
            <a:ext cx="9398" cy="793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8" name="Connector 597"/>
          <p:cNvCxnSpPr/>
          <p:nvPr/>
        </p:nvCxnSpPr>
        <p:spPr>
          <a:xfrm flipH="1">
            <a:off x="3000417" y="3407746"/>
            <a:ext cx="7734" cy="652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599" name="Connector 598"/>
          <p:cNvCxnSpPr/>
          <p:nvPr/>
        </p:nvCxnSpPr>
        <p:spPr>
          <a:xfrm flipH="1">
            <a:off x="2992374" y="3414271"/>
            <a:ext cx="8043" cy="678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0" name="Connector 599"/>
          <p:cNvCxnSpPr/>
          <p:nvPr/>
        </p:nvCxnSpPr>
        <p:spPr>
          <a:xfrm flipH="1">
            <a:off x="2985737" y="3421057"/>
            <a:ext cx="6637" cy="560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1" name="Connector 600"/>
          <p:cNvCxnSpPr/>
          <p:nvPr/>
        </p:nvCxnSpPr>
        <p:spPr>
          <a:xfrm flipH="1">
            <a:off x="2980730" y="3426660"/>
            <a:ext cx="5007" cy="422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2" name="Connector 601"/>
          <p:cNvCxnSpPr/>
          <p:nvPr/>
        </p:nvCxnSpPr>
        <p:spPr>
          <a:xfrm flipH="1">
            <a:off x="2974514" y="3430886"/>
            <a:ext cx="6216" cy="524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3" name="Connector 602"/>
          <p:cNvCxnSpPr/>
          <p:nvPr/>
        </p:nvCxnSpPr>
        <p:spPr>
          <a:xfrm flipH="1">
            <a:off x="2965708" y="3436133"/>
            <a:ext cx="8806" cy="1058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4" name="Connector 603"/>
          <p:cNvCxnSpPr/>
          <p:nvPr/>
        </p:nvCxnSpPr>
        <p:spPr>
          <a:xfrm flipH="1">
            <a:off x="2959759" y="3446722"/>
            <a:ext cx="5949" cy="715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5" name="Connector 604"/>
          <p:cNvCxnSpPr/>
          <p:nvPr/>
        </p:nvCxnSpPr>
        <p:spPr>
          <a:xfrm flipH="1">
            <a:off x="2954511" y="3453878"/>
            <a:ext cx="5248" cy="631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6" name="Connector 605"/>
          <p:cNvCxnSpPr/>
          <p:nvPr/>
        </p:nvCxnSpPr>
        <p:spPr>
          <a:xfrm flipH="1">
            <a:off x="2945774" y="3460193"/>
            <a:ext cx="8737" cy="10510"/>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7" name="Connector 606"/>
          <p:cNvCxnSpPr/>
          <p:nvPr/>
        </p:nvCxnSpPr>
        <p:spPr>
          <a:xfrm flipH="1">
            <a:off x="2941493" y="3470703"/>
            <a:ext cx="4281" cy="514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8" name="Connector 607"/>
          <p:cNvCxnSpPr/>
          <p:nvPr/>
        </p:nvCxnSpPr>
        <p:spPr>
          <a:xfrm flipH="1">
            <a:off x="2931124" y="3475851"/>
            <a:ext cx="10369" cy="1247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09" name="Connector 608"/>
          <p:cNvCxnSpPr/>
          <p:nvPr/>
        </p:nvCxnSpPr>
        <p:spPr>
          <a:xfrm flipH="1">
            <a:off x="2927796" y="3488328"/>
            <a:ext cx="3328" cy="400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0" name="Connector 609"/>
          <p:cNvCxnSpPr/>
          <p:nvPr/>
        </p:nvCxnSpPr>
        <p:spPr>
          <a:xfrm flipH="1">
            <a:off x="2921736" y="3492333"/>
            <a:ext cx="6060" cy="729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1" name="Connector 610"/>
          <p:cNvCxnSpPr/>
          <p:nvPr/>
        </p:nvCxnSpPr>
        <p:spPr>
          <a:xfrm flipH="1">
            <a:off x="2920958" y="3499624"/>
            <a:ext cx="778" cy="469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2" name="Connector 611"/>
          <p:cNvCxnSpPr/>
          <p:nvPr/>
        </p:nvCxnSpPr>
        <p:spPr>
          <a:xfrm flipH="1">
            <a:off x="2919434" y="3504321"/>
            <a:ext cx="1524" cy="916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3" name="Connector 612"/>
          <p:cNvCxnSpPr/>
          <p:nvPr/>
        </p:nvCxnSpPr>
        <p:spPr>
          <a:xfrm flipH="1">
            <a:off x="2918042" y="3513490"/>
            <a:ext cx="1392" cy="838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4" name="Connector 613"/>
          <p:cNvCxnSpPr/>
          <p:nvPr/>
        </p:nvCxnSpPr>
        <p:spPr>
          <a:xfrm flipH="1">
            <a:off x="2915726" y="3521875"/>
            <a:ext cx="2316" cy="1395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5" name="Connector 614"/>
          <p:cNvCxnSpPr/>
          <p:nvPr/>
        </p:nvCxnSpPr>
        <p:spPr>
          <a:xfrm flipH="1">
            <a:off x="2913812" y="3535828"/>
            <a:ext cx="1914" cy="1153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6" name="Connector 615"/>
          <p:cNvCxnSpPr/>
          <p:nvPr/>
        </p:nvCxnSpPr>
        <p:spPr>
          <a:xfrm flipH="1">
            <a:off x="2912394" y="3547364"/>
            <a:ext cx="1418" cy="8543"/>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7" name="Connector 616"/>
          <p:cNvCxnSpPr/>
          <p:nvPr/>
        </p:nvCxnSpPr>
        <p:spPr>
          <a:xfrm flipH="1">
            <a:off x="2911234" y="3555907"/>
            <a:ext cx="1160" cy="699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8" name="Connector 617"/>
          <p:cNvCxnSpPr/>
          <p:nvPr/>
        </p:nvCxnSpPr>
        <p:spPr>
          <a:xfrm flipH="1">
            <a:off x="2909952" y="3562903"/>
            <a:ext cx="1282" cy="772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19" name="Connector 618"/>
          <p:cNvCxnSpPr/>
          <p:nvPr/>
        </p:nvCxnSpPr>
        <p:spPr>
          <a:xfrm flipH="1">
            <a:off x="2908097" y="3570627"/>
            <a:ext cx="1855" cy="1118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0" name="Connector 619"/>
          <p:cNvCxnSpPr/>
          <p:nvPr/>
        </p:nvCxnSpPr>
        <p:spPr>
          <a:xfrm flipH="1">
            <a:off x="2905668" y="3581809"/>
            <a:ext cx="2429" cy="1463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1" name="Connector 620"/>
          <p:cNvCxnSpPr/>
          <p:nvPr/>
        </p:nvCxnSpPr>
        <p:spPr>
          <a:xfrm flipH="1">
            <a:off x="2903105" y="3596446"/>
            <a:ext cx="2563" cy="1545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2" name="Connector 621"/>
          <p:cNvCxnSpPr/>
          <p:nvPr/>
        </p:nvCxnSpPr>
        <p:spPr>
          <a:xfrm flipH="1">
            <a:off x="2900668" y="3611905"/>
            <a:ext cx="2437" cy="1469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3" name="Connector 622"/>
          <p:cNvCxnSpPr/>
          <p:nvPr/>
        </p:nvCxnSpPr>
        <p:spPr>
          <a:xfrm flipH="1">
            <a:off x="2897964" y="3626600"/>
            <a:ext cx="2704" cy="1630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4" name="Connector 623"/>
          <p:cNvCxnSpPr/>
          <p:nvPr/>
        </p:nvCxnSpPr>
        <p:spPr>
          <a:xfrm flipH="1">
            <a:off x="2895249" y="3642904"/>
            <a:ext cx="2715" cy="1638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5" name="Connector 624"/>
          <p:cNvCxnSpPr/>
          <p:nvPr/>
        </p:nvCxnSpPr>
        <p:spPr>
          <a:xfrm flipH="1">
            <a:off x="2892396" y="3659293"/>
            <a:ext cx="2853" cy="1720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6" name="Connector 625"/>
          <p:cNvCxnSpPr/>
          <p:nvPr/>
        </p:nvCxnSpPr>
        <p:spPr>
          <a:xfrm flipH="1">
            <a:off x="2890659" y="3676495"/>
            <a:ext cx="1737" cy="10477"/>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7" name="Connector 626"/>
          <p:cNvCxnSpPr/>
          <p:nvPr/>
        </p:nvCxnSpPr>
        <p:spPr>
          <a:xfrm flipH="1">
            <a:off x="2888485" y="3686972"/>
            <a:ext cx="2174" cy="13121"/>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8" name="Connector 627"/>
          <p:cNvCxnSpPr/>
          <p:nvPr/>
        </p:nvCxnSpPr>
        <p:spPr>
          <a:xfrm flipH="1">
            <a:off x="2886750" y="3700093"/>
            <a:ext cx="1735" cy="1046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29" name="Connector 628"/>
          <p:cNvCxnSpPr/>
          <p:nvPr/>
        </p:nvCxnSpPr>
        <p:spPr>
          <a:xfrm flipH="1">
            <a:off x="2885140" y="3710561"/>
            <a:ext cx="1610" cy="9726"/>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0" name="Connector 629"/>
          <p:cNvCxnSpPr/>
          <p:nvPr/>
        </p:nvCxnSpPr>
        <p:spPr>
          <a:xfrm flipH="1">
            <a:off x="2883692" y="3720287"/>
            <a:ext cx="1448" cy="8738"/>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1" name="Connector 630"/>
          <p:cNvCxnSpPr/>
          <p:nvPr/>
        </p:nvCxnSpPr>
        <p:spPr>
          <a:xfrm flipH="1">
            <a:off x="2882011" y="3729025"/>
            <a:ext cx="1681" cy="10152"/>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2" name="Connector 631"/>
          <p:cNvCxnSpPr/>
          <p:nvPr/>
        </p:nvCxnSpPr>
        <p:spPr>
          <a:xfrm flipH="1">
            <a:off x="2878820" y="3739177"/>
            <a:ext cx="3191" cy="8875"/>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3" name="Connector 632"/>
          <p:cNvCxnSpPr/>
          <p:nvPr/>
        </p:nvCxnSpPr>
        <p:spPr>
          <a:xfrm flipH="1">
            <a:off x="2875309" y="3748052"/>
            <a:ext cx="3511" cy="9764"/>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cxnSp>
        <p:nvCxnSpPr>
          <p:cNvPr id="634" name="Connector 633"/>
          <p:cNvCxnSpPr/>
          <p:nvPr/>
        </p:nvCxnSpPr>
        <p:spPr>
          <a:xfrm flipH="1">
            <a:off x="2871711" y="3757816"/>
            <a:ext cx="3598" cy="10009"/>
          </a:xfrm>
          <a:prstGeom prst="line">
            <a:avLst/>
          </a:prstGeom>
          <a:ln w="21590">
            <a:solidFill>
              <a:srgbClr val="F6F0FC"/>
            </a:solidFill>
          </a:ln>
        </p:spPr>
        <p:style>
          <a:lnRef idx="2">
            <a:schemeClr val="accent1"/>
          </a:lnRef>
          <a:fillRef idx="0">
            <a:schemeClr val="accent1"/>
          </a:fillRef>
          <a:effectRef idx="1">
            <a:schemeClr val="accent1"/>
          </a:effectRef>
          <a:fontRef idx="minor">
            <a:schemeClr val="tx1"/>
          </a:fontRef>
        </p:style>
      </p:cxnSp>
      <p:sp>
        <p:nvSpPr>
          <p:cNvPr id="635" name="Oval 634"/>
          <p:cNvSpPr/>
          <p:nvPr/>
        </p:nvSpPr>
        <p:spPr>
          <a:xfrm>
            <a:off x="4408127" y="3088130"/>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Oval 635"/>
          <p:cNvSpPr/>
          <p:nvPr/>
        </p:nvSpPr>
        <p:spPr>
          <a:xfrm>
            <a:off x="4353787" y="3055780"/>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Oval 636"/>
          <p:cNvSpPr/>
          <p:nvPr/>
        </p:nvSpPr>
        <p:spPr>
          <a:xfrm>
            <a:off x="4265343" y="3083813"/>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Oval 637"/>
          <p:cNvSpPr/>
          <p:nvPr/>
        </p:nvSpPr>
        <p:spPr>
          <a:xfrm>
            <a:off x="4169035" y="3059873"/>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Oval 638"/>
          <p:cNvSpPr/>
          <p:nvPr/>
        </p:nvSpPr>
        <p:spPr>
          <a:xfrm>
            <a:off x="4104164" y="3025196"/>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Oval 639"/>
          <p:cNvSpPr/>
          <p:nvPr/>
        </p:nvSpPr>
        <p:spPr>
          <a:xfrm>
            <a:off x="4075129" y="2932908"/>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Oval 640"/>
          <p:cNvSpPr/>
          <p:nvPr/>
        </p:nvSpPr>
        <p:spPr>
          <a:xfrm>
            <a:off x="3986349" y="2885632"/>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Oval 641"/>
          <p:cNvSpPr/>
          <p:nvPr/>
        </p:nvSpPr>
        <p:spPr>
          <a:xfrm>
            <a:off x="3909463" y="2896321"/>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Oval 642"/>
          <p:cNvSpPr/>
          <p:nvPr/>
        </p:nvSpPr>
        <p:spPr>
          <a:xfrm>
            <a:off x="3841743" y="2906298"/>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Oval 643"/>
          <p:cNvSpPr/>
          <p:nvPr/>
        </p:nvSpPr>
        <p:spPr>
          <a:xfrm>
            <a:off x="3757629" y="2917245"/>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Oval 644"/>
          <p:cNvSpPr/>
          <p:nvPr/>
        </p:nvSpPr>
        <p:spPr>
          <a:xfrm>
            <a:off x="3674544" y="2952532"/>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Oval 645"/>
          <p:cNvSpPr/>
          <p:nvPr/>
        </p:nvSpPr>
        <p:spPr>
          <a:xfrm>
            <a:off x="3583175" y="2947519"/>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Oval 646"/>
          <p:cNvSpPr/>
          <p:nvPr/>
        </p:nvSpPr>
        <p:spPr>
          <a:xfrm>
            <a:off x="3505839" y="297072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Oval 647"/>
          <p:cNvSpPr/>
          <p:nvPr/>
        </p:nvSpPr>
        <p:spPr>
          <a:xfrm>
            <a:off x="3417855" y="299247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Oval 648"/>
          <p:cNvSpPr/>
          <p:nvPr/>
        </p:nvSpPr>
        <p:spPr>
          <a:xfrm>
            <a:off x="3353924" y="3037306"/>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Oval 649"/>
          <p:cNvSpPr/>
          <p:nvPr/>
        </p:nvSpPr>
        <p:spPr>
          <a:xfrm>
            <a:off x="3290279" y="3083669"/>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Oval 650"/>
          <p:cNvSpPr/>
          <p:nvPr/>
        </p:nvSpPr>
        <p:spPr>
          <a:xfrm>
            <a:off x="3226752" y="3148483"/>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Oval 651"/>
          <p:cNvSpPr/>
          <p:nvPr/>
        </p:nvSpPr>
        <p:spPr>
          <a:xfrm>
            <a:off x="3195560" y="3244711"/>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Oval 652"/>
          <p:cNvSpPr/>
          <p:nvPr/>
        </p:nvSpPr>
        <p:spPr>
          <a:xfrm>
            <a:off x="3120370" y="331206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Oval 653"/>
          <p:cNvSpPr/>
          <p:nvPr/>
        </p:nvSpPr>
        <p:spPr>
          <a:xfrm>
            <a:off x="3038414" y="3340080"/>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Oval 654"/>
          <p:cNvSpPr/>
          <p:nvPr/>
        </p:nvSpPr>
        <p:spPr>
          <a:xfrm>
            <a:off x="2969514" y="339819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Oval 655"/>
          <p:cNvSpPr/>
          <p:nvPr/>
        </p:nvSpPr>
        <p:spPr>
          <a:xfrm>
            <a:off x="2918633" y="3452991"/>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Oval 656"/>
          <p:cNvSpPr/>
          <p:nvPr/>
        </p:nvSpPr>
        <p:spPr>
          <a:xfrm>
            <a:off x="2890952" y="3524504"/>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Oval 657"/>
          <p:cNvSpPr/>
          <p:nvPr/>
        </p:nvSpPr>
        <p:spPr>
          <a:xfrm>
            <a:off x="2875104" y="3620044"/>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Oval 658"/>
          <p:cNvSpPr/>
          <p:nvPr/>
        </p:nvSpPr>
        <p:spPr>
          <a:xfrm>
            <a:off x="2859151" y="3716317"/>
            <a:ext cx="45720" cy="45720"/>
          </a:xfrm>
          <a:prstGeom prst="ellipse">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TextBox 659"/>
          <p:cNvSpPr txBox="1"/>
          <p:nvPr/>
        </p:nvSpPr>
        <p:spPr>
          <a:xfrm>
            <a:off x="713232" y="5330952"/>
            <a:ext cx="608076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BAA9CB"/>
                </a:solidFill>
                <a:latin typeface="IBM Plex Mono"/>
              </a:defRPr>
            </a:pPr>
            <a:r>
              <a:t>MAST COORDINATES / INFERRED CONNECTIONS / NO BASEMAP</a:t>
            </a:r>
          </a:p>
        </p:txBody>
      </p:sp>
      <p:sp>
        <p:nvSpPr>
          <p:cNvPr id="661" name="TextBox 660"/>
          <p:cNvSpPr txBox="1"/>
          <p:nvPr/>
        </p:nvSpPr>
        <p:spPr>
          <a:xfrm>
            <a:off x="7333488" y="2084831"/>
            <a:ext cx="42062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ROUTE / MASTS / CONNECTIONS</a:t>
            </a:r>
          </a:p>
        </p:txBody>
      </p:sp>
      <p:cxnSp>
        <p:nvCxnSpPr>
          <p:cNvPr id="662" name="Connector 661"/>
          <p:cNvCxnSpPr/>
          <p:nvPr/>
        </p:nvCxnSpPr>
        <p:spPr>
          <a:xfrm>
            <a:off x="7333488" y="2633472"/>
            <a:ext cx="219456" cy="0"/>
          </a:xfrm>
          <a:prstGeom prst="line">
            <a:avLst/>
          </a:prstGeom>
          <a:ln w="38100">
            <a:solidFill>
              <a:srgbClr val="CFADF0"/>
            </a:solidFill>
          </a:ln>
        </p:spPr>
        <p:style>
          <a:lnRef idx="2">
            <a:schemeClr val="accent1"/>
          </a:lnRef>
          <a:fillRef idx="0">
            <a:schemeClr val="accent1"/>
          </a:fillRef>
          <a:effectRef idx="1">
            <a:schemeClr val="accent1"/>
          </a:effectRef>
          <a:fontRef idx="minor">
            <a:schemeClr val="tx1"/>
          </a:fontRef>
        </p:style>
      </p:cxnSp>
      <p:sp>
        <p:nvSpPr>
          <p:cNvPr id="663" name="TextBox 662"/>
          <p:cNvSpPr txBox="1"/>
          <p:nvPr/>
        </p:nvSpPr>
        <p:spPr>
          <a:xfrm>
            <a:off x="7680960" y="2496312"/>
            <a:ext cx="91440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CFADF0"/>
                </a:solidFill>
                <a:latin typeface="IBM Plex Sans Condensed"/>
              </a:defRPr>
            </a:pPr>
            <a:r>
              <a:t>R06</a:t>
            </a:r>
          </a:p>
        </p:txBody>
      </p:sp>
      <p:sp>
        <p:nvSpPr>
          <p:cNvPr id="664" name="TextBox 663"/>
          <p:cNvSpPr txBox="1"/>
          <p:nvPr/>
        </p:nvSpPr>
        <p:spPr>
          <a:xfrm>
            <a:off x="10021824" y="2505456"/>
            <a:ext cx="155448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F6F0FC"/>
                </a:solidFill>
                <a:latin typeface="IBM Plex Mono"/>
              </a:defRPr>
            </a:pPr>
            <a:r>
              <a:t>188 / 187</a:t>
            </a:r>
          </a:p>
        </p:txBody>
      </p:sp>
      <p:sp>
        <p:nvSpPr>
          <p:cNvPr id="665" name="TextBox 664"/>
          <p:cNvSpPr txBox="1"/>
          <p:nvPr/>
        </p:nvSpPr>
        <p:spPr>
          <a:xfrm>
            <a:off x="7680960" y="2779776"/>
            <a:ext cx="379476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Fygle–Solbjørn</a:t>
            </a:r>
          </a:p>
        </p:txBody>
      </p:sp>
      <p:cxnSp>
        <p:nvCxnSpPr>
          <p:cNvPr id="666" name="Connector 665"/>
          <p:cNvCxnSpPr/>
          <p:nvPr/>
        </p:nvCxnSpPr>
        <p:spPr>
          <a:xfrm>
            <a:off x="7333488" y="3346704"/>
            <a:ext cx="219456" cy="0"/>
          </a:xfrm>
          <a:prstGeom prst="line">
            <a:avLst/>
          </a:prstGeom>
          <a:ln w="38100">
            <a:solidFill>
              <a:srgbClr val="9D6BD0"/>
            </a:solidFill>
          </a:ln>
        </p:spPr>
        <p:style>
          <a:lnRef idx="2">
            <a:schemeClr val="accent1"/>
          </a:lnRef>
          <a:fillRef idx="0">
            <a:schemeClr val="accent1"/>
          </a:fillRef>
          <a:effectRef idx="1">
            <a:schemeClr val="accent1"/>
          </a:effectRef>
          <a:fontRef idx="minor">
            <a:schemeClr val="tx1"/>
          </a:fontRef>
        </p:style>
      </p:cxnSp>
      <p:sp>
        <p:nvSpPr>
          <p:cNvPr id="667" name="TextBox 666"/>
          <p:cNvSpPr txBox="1"/>
          <p:nvPr/>
        </p:nvSpPr>
        <p:spPr>
          <a:xfrm>
            <a:off x="7680960" y="3209544"/>
            <a:ext cx="91440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9D6BD0"/>
                </a:solidFill>
                <a:latin typeface="IBM Plex Sans Condensed"/>
              </a:defRPr>
            </a:pPr>
            <a:r>
              <a:t>R12</a:t>
            </a:r>
          </a:p>
        </p:txBody>
      </p:sp>
      <p:sp>
        <p:nvSpPr>
          <p:cNvPr id="668" name="TextBox 667"/>
          <p:cNvSpPr txBox="1"/>
          <p:nvPr/>
        </p:nvSpPr>
        <p:spPr>
          <a:xfrm>
            <a:off x="10021824" y="3218688"/>
            <a:ext cx="155448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F6F0FC"/>
                </a:solidFill>
                <a:latin typeface="IBM Plex Mono"/>
              </a:defRPr>
            </a:pPr>
            <a:r>
              <a:t>94 / 93</a:t>
            </a:r>
          </a:p>
        </p:txBody>
      </p:sp>
      <p:sp>
        <p:nvSpPr>
          <p:cNvPr id="669" name="TextBox 668"/>
          <p:cNvSpPr txBox="1"/>
          <p:nvPr/>
        </p:nvSpPr>
        <p:spPr>
          <a:xfrm>
            <a:off x="7680960" y="3493008"/>
            <a:ext cx="379476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Svolvær–Kleppstad</a:t>
            </a:r>
          </a:p>
        </p:txBody>
      </p:sp>
      <p:cxnSp>
        <p:nvCxnSpPr>
          <p:cNvPr id="670" name="Connector 669"/>
          <p:cNvCxnSpPr/>
          <p:nvPr/>
        </p:nvCxnSpPr>
        <p:spPr>
          <a:xfrm>
            <a:off x="7333488" y="4059936"/>
            <a:ext cx="219456" cy="0"/>
          </a:xfrm>
          <a:prstGeom prst="line">
            <a:avLst/>
          </a:prstGeom>
          <a:ln w="38100">
            <a:solidFill>
              <a:srgbClr val="DFAFD2"/>
            </a:solidFill>
          </a:ln>
        </p:spPr>
        <p:style>
          <a:lnRef idx="2">
            <a:schemeClr val="accent1"/>
          </a:lnRef>
          <a:fillRef idx="0">
            <a:schemeClr val="accent1"/>
          </a:fillRef>
          <a:effectRef idx="1">
            <a:schemeClr val="accent1"/>
          </a:effectRef>
          <a:fontRef idx="minor">
            <a:schemeClr val="tx1"/>
          </a:fontRef>
        </p:style>
      </p:cxnSp>
      <p:sp>
        <p:nvSpPr>
          <p:cNvPr id="671" name="TextBox 670"/>
          <p:cNvSpPr txBox="1"/>
          <p:nvPr/>
        </p:nvSpPr>
        <p:spPr>
          <a:xfrm>
            <a:off x="7680960" y="3922776"/>
            <a:ext cx="91440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DFAFD2"/>
                </a:solidFill>
                <a:latin typeface="IBM Plex Sans Condensed"/>
              </a:defRPr>
            </a:pPr>
            <a:r>
              <a:t>R13</a:t>
            </a:r>
          </a:p>
        </p:txBody>
      </p:sp>
      <p:sp>
        <p:nvSpPr>
          <p:cNvPr id="672" name="TextBox 671"/>
          <p:cNvSpPr txBox="1"/>
          <p:nvPr/>
        </p:nvSpPr>
        <p:spPr>
          <a:xfrm>
            <a:off x="10021824" y="3931920"/>
            <a:ext cx="155448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F6F0FC"/>
                </a:solidFill>
                <a:latin typeface="IBM Plex Mono"/>
              </a:defRPr>
            </a:pPr>
            <a:r>
              <a:t>101 / 100</a:t>
            </a:r>
          </a:p>
        </p:txBody>
      </p:sp>
      <p:sp>
        <p:nvSpPr>
          <p:cNvPr id="673" name="TextBox 672"/>
          <p:cNvSpPr txBox="1"/>
          <p:nvPr/>
        </p:nvSpPr>
        <p:spPr>
          <a:xfrm>
            <a:off x="7680960" y="4206240"/>
            <a:ext cx="379476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Kvitfossen–Svolvær</a:t>
            </a:r>
          </a:p>
        </p:txBody>
      </p:sp>
      <p:cxnSp>
        <p:nvCxnSpPr>
          <p:cNvPr id="674" name="Connector 673"/>
          <p:cNvCxnSpPr/>
          <p:nvPr/>
        </p:nvCxnSpPr>
        <p:spPr>
          <a:xfrm>
            <a:off x="7333488" y="4773168"/>
            <a:ext cx="219456" cy="0"/>
          </a:xfrm>
          <a:prstGeom prst="line">
            <a:avLst/>
          </a:prstGeom>
          <a:ln w="38100">
            <a:solidFill>
              <a:srgbClr val="F6F0FC"/>
            </a:solidFill>
          </a:ln>
        </p:spPr>
        <p:style>
          <a:lnRef idx="2">
            <a:schemeClr val="accent1"/>
          </a:lnRef>
          <a:fillRef idx="0">
            <a:schemeClr val="accent1"/>
          </a:fillRef>
          <a:effectRef idx="1">
            <a:schemeClr val="accent1"/>
          </a:effectRef>
          <a:fontRef idx="minor">
            <a:schemeClr val="tx1"/>
          </a:fontRef>
        </p:style>
      </p:cxnSp>
      <p:sp>
        <p:nvSpPr>
          <p:cNvPr id="675" name="TextBox 674"/>
          <p:cNvSpPr txBox="1"/>
          <p:nvPr/>
        </p:nvSpPr>
        <p:spPr>
          <a:xfrm>
            <a:off x="7680960" y="4636007"/>
            <a:ext cx="91440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F6F0FC"/>
                </a:solidFill>
                <a:latin typeface="IBM Plex Sans Condensed"/>
              </a:defRPr>
            </a:pPr>
            <a:r>
              <a:t>R14</a:t>
            </a:r>
          </a:p>
        </p:txBody>
      </p:sp>
      <p:sp>
        <p:nvSpPr>
          <p:cNvPr id="676" name="TextBox 675"/>
          <p:cNvSpPr txBox="1"/>
          <p:nvPr/>
        </p:nvSpPr>
        <p:spPr>
          <a:xfrm>
            <a:off x="10021824" y="4645152"/>
            <a:ext cx="155448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F6F0FC"/>
                </a:solidFill>
                <a:latin typeface="IBM Plex Mono"/>
              </a:defRPr>
            </a:pPr>
            <a:r>
              <a:t>196 / 195</a:t>
            </a:r>
          </a:p>
        </p:txBody>
      </p:sp>
      <p:sp>
        <p:nvSpPr>
          <p:cNvPr id="677" name="TextBox 676"/>
          <p:cNvSpPr txBox="1"/>
          <p:nvPr/>
        </p:nvSpPr>
        <p:spPr>
          <a:xfrm>
            <a:off x="7680960" y="4919472"/>
            <a:ext cx="379476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Kleppstad–Fygle via Valberg</a:t>
            </a:r>
          </a:p>
        </p:txBody>
      </p:sp>
      <p:sp>
        <p:nvSpPr>
          <p:cNvPr id="678" name="Rectangle 677"/>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Rectangle 678"/>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TextBox 679"/>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Assets are mapped; physical connectivity, water crossings and distant endpoint matches still need review.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05 / WORKING APPLICATION</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Investigate an event, a place or a recording</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An integrated local workspace connects the event queue, network map and signal evidence.</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 / .local/screenshots/overview.png · docs/map-app.md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06</a:t>
            </a:r>
          </a:p>
        </p:txBody>
      </p:sp>
      <p:pic>
        <p:nvPicPr>
          <p:cNvPr id="10" name="Picture 9" descr="overview.png"/>
          <p:cNvPicPr>
            <a:picLocks noChangeAspect="1"/>
          </p:cNvPicPr>
          <p:nvPr/>
        </p:nvPicPr>
        <p:blipFill>
          <a:blip r:embed="rId2"/>
          <a:stretch>
            <a:fillRect/>
          </a:stretch>
        </p:blipFill>
        <p:spPr>
          <a:xfrm>
            <a:off x="548640" y="1956816"/>
            <a:ext cx="4681728" cy="4215384"/>
          </a:xfrm>
          <a:prstGeom prst="rect">
            <a:avLst/>
          </a:prstGeom>
        </p:spPr>
      </p:pic>
      <p:sp>
        <p:nvSpPr>
          <p:cNvPr id="11" name="Rectangle 10"/>
          <p:cNvSpPr/>
          <p:nvPr/>
        </p:nvSpPr>
        <p:spPr>
          <a:xfrm>
            <a:off x="5513832" y="2039112"/>
            <a:ext cx="6172200" cy="100584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513832" y="2039112"/>
            <a:ext cx="617220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96712" y="2221992"/>
            <a:ext cx="58064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LOCATE</a:t>
            </a:r>
          </a:p>
        </p:txBody>
      </p:sp>
      <p:sp>
        <p:nvSpPr>
          <p:cNvPr id="14" name="TextBox 13"/>
          <p:cNvSpPr txBox="1"/>
          <p:nvPr/>
        </p:nvSpPr>
        <p:spPr>
          <a:xfrm>
            <a:off x="5696712" y="2560320"/>
            <a:ext cx="580644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6F0FC"/>
                </a:solidFill>
                <a:latin typeface="IBM Plex Sans Condensed"/>
              </a:defRPr>
            </a:pPr>
            <a:r>
              <a:t>Search routes, masts and recorded events</a:t>
            </a:r>
          </a:p>
        </p:txBody>
      </p:sp>
      <p:sp>
        <p:nvSpPr>
          <p:cNvPr id="15" name="TextBox 14"/>
          <p:cNvSpPr txBox="1"/>
          <p:nvPr/>
        </p:nvSpPr>
        <p:spPr>
          <a:xfrm>
            <a:off x="5696712" y="3081274"/>
            <a:ext cx="580644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p>
        </p:txBody>
      </p:sp>
      <p:sp>
        <p:nvSpPr>
          <p:cNvPr id="16" name="Rectangle 15"/>
          <p:cNvSpPr/>
          <p:nvPr/>
        </p:nvSpPr>
        <p:spPr>
          <a:xfrm>
            <a:off x="5513832" y="3246120"/>
            <a:ext cx="6172200" cy="100584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513832" y="3246120"/>
            <a:ext cx="617220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96712" y="3429000"/>
            <a:ext cx="58064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INSPECT</a:t>
            </a:r>
          </a:p>
        </p:txBody>
      </p:sp>
      <p:sp>
        <p:nvSpPr>
          <p:cNvPr id="19" name="TextBox 18"/>
          <p:cNvSpPr txBox="1"/>
          <p:nvPr/>
        </p:nvSpPr>
        <p:spPr>
          <a:xfrm>
            <a:off x="5696712" y="3767328"/>
            <a:ext cx="580644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6F0FC"/>
                </a:solidFill>
                <a:latin typeface="IBM Plex Sans Condensed"/>
              </a:defRPr>
            </a:pPr>
            <a:r>
              <a:t>Waveform, heatmap, spectrum and trends</a:t>
            </a:r>
          </a:p>
        </p:txBody>
      </p:sp>
      <p:sp>
        <p:nvSpPr>
          <p:cNvPr id="20" name="TextBox 19"/>
          <p:cNvSpPr txBox="1"/>
          <p:nvPr/>
        </p:nvSpPr>
        <p:spPr>
          <a:xfrm>
            <a:off x="5696712" y="4288281"/>
            <a:ext cx="580644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p>
        </p:txBody>
      </p:sp>
      <p:sp>
        <p:nvSpPr>
          <p:cNvPr id="21" name="Rectangle 20"/>
          <p:cNvSpPr/>
          <p:nvPr/>
        </p:nvSpPr>
        <p:spPr>
          <a:xfrm>
            <a:off x="5513832" y="4453128"/>
            <a:ext cx="6172200" cy="100584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13832" y="4453128"/>
            <a:ext cx="617220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96712" y="4636008"/>
            <a:ext cx="58064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REVIEW</a:t>
            </a:r>
          </a:p>
        </p:txBody>
      </p:sp>
      <p:sp>
        <p:nvSpPr>
          <p:cNvPr id="24" name="TextBox 23"/>
          <p:cNvSpPr txBox="1"/>
          <p:nvPr/>
        </p:nvSpPr>
        <p:spPr>
          <a:xfrm>
            <a:off x="5696712" y="4974336"/>
            <a:ext cx="580644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6F0FC"/>
                </a:solidFill>
                <a:latin typeface="IBM Plex Sans Condensed"/>
              </a:defRPr>
            </a:pPr>
            <a:r>
              <a:t>Store a class, evidence note and history</a:t>
            </a:r>
          </a:p>
        </p:txBody>
      </p:sp>
      <p:sp>
        <p:nvSpPr>
          <p:cNvPr id="25" name="TextBox 24"/>
          <p:cNvSpPr txBox="1"/>
          <p:nvPr/>
        </p:nvSpPr>
        <p:spPr>
          <a:xfrm>
            <a:off x="5696712" y="5495290"/>
            <a:ext cx="5806440" cy="327405"/>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p>
        </p:txBody>
      </p:sp>
      <p:sp>
        <p:nvSpPr>
          <p:cNvPr id="26" name="TextBox 25"/>
          <p:cNvSpPr txBox="1"/>
          <p:nvPr/>
        </p:nvSpPr>
        <p:spPr>
          <a:xfrm>
            <a:off x="5705856" y="5779008"/>
            <a:ext cx="566928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ACTUAL LOCAL BUILD / ORIGINAL UI COLOURS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06 / SIGNAL INTEGRITY</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Signal amplitude and event meaning stay distinct</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Map layers are reproducible window measurements. Classification requires independent evidence.</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docs/map-app.md · docs/channel-mapping.md · src/Mapui/metrics.py</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07</a:t>
            </a:r>
          </a:p>
        </p:txBody>
      </p:sp>
      <p:sp>
        <p:nvSpPr>
          <p:cNvPr id="10" name="Rectangle 9"/>
          <p:cNvSpPr/>
          <p:nvPr/>
        </p:nvSpPr>
        <p:spPr>
          <a:xfrm>
            <a:off x="502920" y="2048256"/>
            <a:ext cx="2651760" cy="1828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48256"/>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31136"/>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MAP METRIC</a:t>
            </a:r>
          </a:p>
        </p:txBody>
      </p:sp>
      <p:sp>
        <p:nvSpPr>
          <p:cNvPr id="13" name="TextBox 12"/>
          <p:cNvSpPr txBox="1"/>
          <p:nvPr/>
        </p:nvSpPr>
        <p:spPr>
          <a:xfrm>
            <a:off x="685800" y="2569464"/>
            <a:ext cx="228600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AC RMS</a:t>
            </a:r>
          </a:p>
        </p:txBody>
      </p:sp>
      <p:sp>
        <p:nvSpPr>
          <p:cNvPr id="14" name="TextBox 13"/>
          <p:cNvSpPr txBox="1"/>
          <p:nvPr/>
        </p:nvSpPr>
        <p:spPr>
          <a:xfrm>
            <a:off x="685800" y="3105912"/>
            <a:ext cx="2286000"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Vibration level after</a:t>
            </a:r>
          </a:p>
          <a:p>
            <a:pPr>
              <a:lnSpc>
                <a:spcPts val="2074"/>
              </a:lnSpc>
              <a:spcBef>
                <a:spcPts val="0"/>
              </a:spcBef>
              <a:spcAft>
                <a:spcPts val="0"/>
              </a:spcAft>
              <a:defRPr sz="1700" b="0">
                <a:solidFill>
                  <a:srgbClr val="BAA9CB"/>
                </a:solidFill>
                <a:latin typeface="IBM Plex Sans"/>
              </a:defRPr>
            </a:pPr>
            <a:r>
              <a:t>removing the mean</a:t>
            </a:r>
          </a:p>
        </p:txBody>
      </p:sp>
      <p:sp>
        <p:nvSpPr>
          <p:cNvPr id="15" name="Rectangle 14"/>
          <p:cNvSpPr/>
          <p:nvPr/>
        </p:nvSpPr>
        <p:spPr>
          <a:xfrm>
            <a:off x="3346704" y="2048256"/>
            <a:ext cx="2651760" cy="1828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6704" y="2048256"/>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231136"/>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MAP METRIC</a:t>
            </a:r>
          </a:p>
        </p:txBody>
      </p:sp>
      <p:sp>
        <p:nvSpPr>
          <p:cNvPr id="18" name="TextBox 17"/>
          <p:cNvSpPr txBox="1"/>
          <p:nvPr/>
        </p:nvSpPr>
        <p:spPr>
          <a:xfrm>
            <a:off x="3529584" y="2569464"/>
            <a:ext cx="228600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Band RMS</a:t>
            </a:r>
          </a:p>
        </p:txBody>
      </p:sp>
      <p:sp>
        <p:nvSpPr>
          <p:cNvPr id="19" name="TextBox 18"/>
          <p:cNvSpPr txBox="1"/>
          <p:nvPr/>
        </p:nvSpPr>
        <p:spPr>
          <a:xfrm>
            <a:off x="3529584" y="3105912"/>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Energy within a</a:t>
            </a:r>
          </a:p>
          <a:p>
            <a:pPr>
              <a:lnSpc>
                <a:spcPts val="2074"/>
              </a:lnSpc>
              <a:spcBef>
                <a:spcPts val="0"/>
              </a:spcBef>
              <a:spcAft>
                <a:spcPts val="0"/>
              </a:spcAft>
              <a:defRPr sz="1700" b="0">
                <a:solidFill>
                  <a:srgbClr val="BAA9CB"/>
                </a:solidFill>
                <a:latin typeface="IBM Plex Sans"/>
              </a:defRPr>
            </a:pPr>
            <a:r>
              <a:t>selected frequency</a:t>
            </a:r>
          </a:p>
          <a:p>
            <a:pPr>
              <a:lnSpc>
                <a:spcPts val="2074"/>
              </a:lnSpc>
              <a:spcBef>
                <a:spcPts val="0"/>
              </a:spcBef>
              <a:spcAft>
                <a:spcPts val="0"/>
              </a:spcAft>
              <a:defRPr sz="1700" b="0">
                <a:solidFill>
                  <a:srgbClr val="BAA9CB"/>
                </a:solidFill>
                <a:latin typeface="IBM Plex Sans"/>
              </a:defRPr>
            </a:pPr>
            <a:r>
              <a:t>band</a:t>
            </a:r>
          </a:p>
        </p:txBody>
      </p:sp>
      <p:sp>
        <p:nvSpPr>
          <p:cNvPr id="20" name="Rectangle 19"/>
          <p:cNvSpPr/>
          <p:nvPr/>
        </p:nvSpPr>
        <p:spPr>
          <a:xfrm>
            <a:off x="6190488" y="2048256"/>
            <a:ext cx="2651760" cy="1828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2048256"/>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231136"/>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MAP METRIC</a:t>
            </a:r>
          </a:p>
        </p:txBody>
      </p:sp>
      <p:sp>
        <p:nvSpPr>
          <p:cNvPr id="23" name="TextBox 22"/>
          <p:cNvSpPr txBox="1"/>
          <p:nvPr/>
        </p:nvSpPr>
        <p:spPr>
          <a:xfrm>
            <a:off x="6373368" y="2569464"/>
            <a:ext cx="228600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Absolute peak</a:t>
            </a:r>
          </a:p>
        </p:txBody>
      </p:sp>
      <p:sp>
        <p:nvSpPr>
          <p:cNvPr id="24" name="TextBox 23"/>
          <p:cNvSpPr txBox="1"/>
          <p:nvPr/>
        </p:nvSpPr>
        <p:spPr>
          <a:xfrm>
            <a:off x="6373368" y="3105912"/>
            <a:ext cx="2286000"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Largest mean-removed</a:t>
            </a:r>
          </a:p>
          <a:p>
            <a:pPr>
              <a:lnSpc>
                <a:spcPts val="2074"/>
              </a:lnSpc>
              <a:spcBef>
                <a:spcPts val="0"/>
              </a:spcBef>
              <a:spcAft>
                <a:spcPts val="0"/>
              </a:spcAft>
              <a:defRPr sz="1700" b="0">
                <a:solidFill>
                  <a:srgbClr val="BAA9CB"/>
                </a:solidFill>
                <a:latin typeface="IBM Plex Sans"/>
              </a:defRPr>
            </a:pPr>
            <a:r>
              <a:t>signal excursion</a:t>
            </a:r>
          </a:p>
        </p:txBody>
      </p:sp>
      <p:sp>
        <p:nvSpPr>
          <p:cNvPr id="25" name="Rectangle 24"/>
          <p:cNvSpPr/>
          <p:nvPr/>
        </p:nvSpPr>
        <p:spPr>
          <a:xfrm>
            <a:off x="9034272" y="2048256"/>
            <a:ext cx="2651760" cy="1828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34272" y="2048256"/>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2231136"/>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MAP METRIC</a:t>
            </a:r>
          </a:p>
        </p:txBody>
      </p:sp>
      <p:sp>
        <p:nvSpPr>
          <p:cNvPr id="28" name="TextBox 27"/>
          <p:cNvSpPr txBox="1"/>
          <p:nvPr/>
        </p:nvSpPr>
        <p:spPr>
          <a:xfrm>
            <a:off x="9217152" y="2569464"/>
            <a:ext cx="228600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Variance</a:t>
            </a:r>
          </a:p>
        </p:txBody>
      </p:sp>
      <p:sp>
        <p:nvSpPr>
          <p:cNvPr id="29" name="TextBox 28"/>
          <p:cNvSpPr txBox="1"/>
          <p:nvPr/>
        </p:nvSpPr>
        <p:spPr>
          <a:xfrm>
            <a:off x="9217152" y="3105912"/>
            <a:ext cx="2286000"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Signal variability in</a:t>
            </a:r>
          </a:p>
          <a:p>
            <a:pPr>
              <a:lnSpc>
                <a:spcPts val="2074"/>
              </a:lnSpc>
              <a:spcBef>
                <a:spcPts val="0"/>
              </a:spcBef>
              <a:spcAft>
                <a:spcPts val="0"/>
              </a:spcAft>
              <a:defRPr sz="1700" b="0">
                <a:solidFill>
                  <a:srgbClr val="BAA9CB"/>
                </a:solidFill>
                <a:latin typeface="IBM Plex Sans"/>
              </a:defRPr>
            </a:pPr>
            <a:r>
              <a:t>squared units</a:t>
            </a:r>
          </a:p>
        </p:txBody>
      </p:sp>
      <p:sp>
        <p:nvSpPr>
          <p:cNvPr id="30" name="TextBox 29"/>
          <p:cNvSpPr txBox="1"/>
          <p:nvPr/>
        </p:nvSpPr>
        <p:spPr>
          <a:xfrm>
            <a:off x="658368" y="4270248"/>
            <a:ext cx="210312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TRACEABILITY</a:t>
            </a:r>
          </a:p>
        </p:txBody>
      </p:sp>
      <p:sp>
        <p:nvSpPr>
          <p:cNvPr id="31" name="TextBox 30"/>
          <p:cNvSpPr txBox="1"/>
          <p:nvPr/>
        </p:nvSpPr>
        <p:spPr>
          <a:xfrm>
            <a:off x="2898648" y="4178808"/>
            <a:ext cx="8522208"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File + sample window + channel ID + scale + processing version</a:t>
            </a:r>
          </a:p>
        </p:txBody>
      </p:sp>
      <p:sp>
        <p:nvSpPr>
          <p:cNvPr id="32" name="TextBox 31"/>
          <p:cNvSpPr txBox="1"/>
          <p:nvPr/>
        </p:nvSpPr>
        <p:spPr>
          <a:xfrm>
            <a:off x="676656" y="4727448"/>
            <a:ext cx="3291840" cy="528828"/>
          </a:xfrm>
          <a:prstGeom prst="rect">
            <a:avLst/>
          </a:prstGeom>
          <a:noFill/>
        </p:spPr>
        <p:txBody>
          <a:bodyPr wrap="none" lIns="0" rIns="0" tIns="0" bIns="0">
            <a:spAutoFit/>
          </a:bodyPr>
          <a:lstStyle/>
          <a:p>
            <a:pPr>
              <a:lnSpc>
                <a:spcPts val="3660"/>
              </a:lnSpc>
              <a:spcBef>
                <a:spcPts val="0"/>
              </a:spcBef>
              <a:spcAft>
                <a:spcPts val="0"/>
              </a:spcAft>
              <a:defRPr sz="3000" b="1">
                <a:solidFill>
                  <a:srgbClr val="CFADF0"/>
                </a:solidFill>
                <a:latin typeface="IBM Plex Sans Condensed"/>
              </a:defRPr>
            </a:pPr>
            <a:r>
              <a:t>17,010</a:t>
            </a:r>
          </a:p>
        </p:txBody>
      </p:sp>
      <p:sp>
        <p:nvSpPr>
          <p:cNvPr id="33" name="TextBox 32"/>
          <p:cNvSpPr txBox="1"/>
          <p:nvPr/>
        </p:nvSpPr>
        <p:spPr>
          <a:xfrm>
            <a:off x="676656" y="5285232"/>
            <a:ext cx="3291840"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Sans"/>
              </a:defRPr>
            </a:pPr>
            <a:r>
              <a:t>exact coordinate matches</a:t>
            </a:r>
          </a:p>
        </p:txBody>
      </p:sp>
      <p:sp>
        <p:nvSpPr>
          <p:cNvPr id="34" name="TextBox 33"/>
          <p:cNvSpPr txBox="1"/>
          <p:nvPr/>
        </p:nvSpPr>
        <p:spPr>
          <a:xfrm>
            <a:off x="4425696" y="4727448"/>
            <a:ext cx="3291840" cy="528828"/>
          </a:xfrm>
          <a:prstGeom prst="rect">
            <a:avLst/>
          </a:prstGeom>
          <a:noFill/>
        </p:spPr>
        <p:txBody>
          <a:bodyPr wrap="none" lIns="0" rIns="0" tIns="0" bIns="0">
            <a:spAutoFit/>
          </a:bodyPr>
          <a:lstStyle/>
          <a:p>
            <a:pPr>
              <a:lnSpc>
                <a:spcPts val="3660"/>
              </a:lnSpc>
              <a:spcBef>
                <a:spcPts val="0"/>
              </a:spcBef>
              <a:spcAft>
                <a:spcPts val="0"/>
              </a:spcAft>
              <a:defRPr sz="3000" b="1">
                <a:solidFill>
                  <a:srgbClr val="CFADF0"/>
                </a:solidFill>
                <a:latin typeface="IBM Plex Sans Condensed"/>
              </a:defRPr>
            </a:pPr>
            <a:r>
              <a:t>8,224</a:t>
            </a:r>
          </a:p>
        </p:txBody>
      </p:sp>
      <p:sp>
        <p:nvSpPr>
          <p:cNvPr id="35" name="TextBox 34"/>
          <p:cNvSpPr txBox="1"/>
          <p:nvPr/>
        </p:nvSpPr>
        <p:spPr>
          <a:xfrm>
            <a:off x="4425696" y="5285232"/>
            <a:ext cx="3291840"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Sans"/>
              </a:defRPr>
            </a:pPr>
            <a:r>
              <a:t>bounded coordinate interpolations</a:t>
            </a:r>
          </a:p>
        </p:txBody>
      </p:sp>
      <p:sp>
        <p:nvSpPr>
          <p:cNvPr id="36" name="TextBox 35"/>
          <p:cNvSpPr txBox="1"/>
          <p:nvPr/>
        </p:nvSpPr>
        <p:spPr>
          <a:xfrm>
            <a:off x="8449056" y="4727448"/>
            <a:ext cx="3291840" cy="528828"/>
          </a:xfrm>
          <a:prstGeom prst="rect">
            <a:avLst/>
          </a:prstGeom>
          <a:noFill/>
        </p:spPr>
        <p:txBody>
          <a:bodyPr wrap="none" lIns="0" rIns="0" tIns="0" bIns="0">
            <a:spAutoFit/>
          </a:bodyPr>
          <a:lstStyle/>
          <a:p>
            <a:pPr>
              <a:lnSpc>
                <a:spcPts val="3660"/>
              </a:lnSpc>
              <a:spcBef>
                <a:spcPts val="0"/>
              </a:spcBef>
              <a:spcAft>
                <a:spcPts val="0"/>
              </a:spcAft>
              <a:defRPr sz="3000" b="1">
                <a:solidFill>
                  <a:srgbClr val="CFADF0"/>
                </a:solidFill>
                <a:latin typeface="IBM Plex Sans Condensed"/>
              </a:defRPr>
            </a:pPr>
            <a:r>
              <a:t>2</a:t>
            </a:r>
          </a:p>
        </p:txBody>
      </p:sp>
      <p:sp>
        <p:nvSpPr>
          <p:cNvPr id="37" name="TextBox 36"/>
          <p:cNvSpPr txBox="1"/>
          <p:nvPr/>
        </p:nvSpPr>
        <p:spPr>
          <a:xfrm>
            <a:off x="8449056" y="5285232"/>
            <a:ext cx="3291840"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Sans"/>
              </a:defRPr>
            </a:pPr>
            <a:r>
              <a:t>channels remain unlocated</a:t>
            </a:r>
          </a:p>
        </p:txBody>
      </p:sp>
      <p:sp>
        <p:nvSpPr>
          <p:cNvPr id="38" name="Rectangle 37"/>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Never interpret map colour as event class or severity; no missing fibre ranges are reconstructed.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07 / EVIDENCE READINESS</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The largest archive is still an unlabeled candidate set</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Time, location and labels must be verified together before historical events become training evidence.</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AGENTS.md · docs/map-app.md · docs/event-ml.md · .local/verification.json</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08</a:t>
            </a:r>
          </a:p>
        </p:txBody>
      </p:sp>
      <p:sp>
        <p:nvSpPr>
          <p:cNvPr id="10" name="Rectangle 9"/>
          <p:cNvSpPr/>
          <p:nvPr/>
        </p:nvSpPr>
        <p:spPr>
          <a:xfrm>
            <a:off x="502920" y="2057400"/>
            <a:ext cx="11183112" cy="76809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4944" y="2176272"/>
            <a:ext cx="2377440" cy="373888"/>
          </a:xfrm>
          <a:prstGeom prst="rect">
            <a:avLst/>
          </a:prstGeom>
          <a:noFill/>
        </p:spPr>
        <p:txBody>
          <a:bodyPr wrap="none" lIns="0" rIns="0" tIns="0" bIns="0">
            <a:spAutoFit/>
          </a:bodyPr>
          <a:lstStyle/>
          <a:p>
            <a:pPr>
              <a:lnSpc>
                <a:spcPts val="2440"/>
              </a:lnSpc>
              <a:spcBef>
                <a:spcPts val="0"/>
              </a:spcBef>
              <a:spcAft>
                <a:spcPts val="0"/>
              </a:spcAft>
              <a:defRPr sz="2000" b="1">
                <a:solidFill>
                  <a:srgbClr val="F6F0FC"/>
                </a:solidFill>
                <a:latin typeface="IBM Plex Sans Condensed"/>
              </a:defRPr>
            </a:pPr>
            <a:r>
              <a:t>Legacy alarms</a:t>
            </a:r>
          </a:p>
        </p:txBody>
      </p:sp>
      <p:sp>
        <p:nvSpPr>
          <p:cNvPr id="12" name="TextBox 11"/>
          <p:cNvSpPr txBox="1"/>
          <p:nvPr/>
        </p:nvSpPr>
        <p:spPr>
          <a:xfrm>
            <a:off x="3172968" y="2212848"/>
            <a:ext cx="1700784"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APR–JUN 2025</a:t>
            </a:r>
          </a:p>
        </p:txBody>
      </p:sp>
      <p:sp>
        <p:nvSpPr>
          <p:cNvPr id="13" name="TextBox 12"/>
          <p:cNvSpPr txBox="1"/>
          <p:nvPr/>
        </p:nvSpPr>
        <p:spPr>
          <a:xfrm>
            <a:off x="5074920" y="2185416"/>
            <a:ext cx="2441448" cy="311912"/>
          </a:xfrm>
          <a:prstGeom prst="rect">
            <a:avLst/>
          </a:prstGeom>
          <a:noFill/>
        </p:spPr>
        <p:txBody>
          <a:bodyPr wrap="none" lIns="0" rIns="0" tIns="0" bIns="0">
            <a:spAutoFit/>
          </a:bodyPr>
          <a:lstStyle/>
          <a:p>
            <a:pPr>
              <a:lnSpc>
                <a:spcPts val="1952"/>
              </a:lnSpc>
              <a:spcBef>
                <a:spcPts val="0"/>
              </a:spcBef>
              <a:spcAft>
                <a:spcPts val="0"/>
              </a:spcAft>
              <a:defRPr sz="1600" b="1">
                <a:solidFill>
                  <a:srgbClr val="F6F0FC"/>
                </a:solidFill>
                <a:latin typeface="IBM Plex Sans"/>
              </a:defRPr>
            </a:pPr>
            <a:r>
              <a:t>115,847 RMS records</a:t>
            </a:r>
          </a:p>
        </p:txBody>
      </p:sp>
      <p:sp>
        <p:nvSpPr>
          <p:cNvPr id="14" name="TextBox 13"/>
          <p:cNvSpPr txBox="1"/>
          <p:nvPr/>
        </p:nvSpPr>
        <p:spPr>
          <a:xfrm>
            <a:off x="7818120" y="2167128"/>
            <a:ext cx="3575304" cy="52882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Class and reliable event location</a:t>
            </a:r>
          </a:p>
          <a:p>
            <a:pPr>
              <a:lnSpc>
                <a:spcPts val="1830"/>
              </a:lnSpc>
              <a:spcBef>
                <a:spcPts val="0"/>
              </a:spcBef>
              <a:spcAft>
                <a:spcPts val="0"/>
              </a:spcAft>
              <a:defRPr sz="1500" b="0">
                <a:solidFill>
                  <a:srgbClr val="BAA9CB"/>
                </a:solidFill>
                <a:latin typeface="IBM Plex Sans"/>
              </a:defRPr>
            </a:pPr>
            <a:r>
              <a:t>unresolved</a:t>
            </a:r>
          </a:p>
        </p:txBody>
      </p:sp>
      <p:sp>
        <p:nvSpPr>
          <p:cNvPr id="15" name="TextBox 14"/>
          <p:cNvSpPr txBox="1"/>
          <p:nvPr/>
        </p:nvSpPr>
        <p:spPr>
          <a:xfrm>
            <a:off x="694944" y="2999232"/>
            <a:ext cx="2377440" cy="373888"/>
          </a:xfrm>
          <a:prstGeom prst="rect">
            <a:avLst/>
          </a:prstGeom>
          <a:noFill/>
        </p:spPr>
        <p:txBody>
          <a:bodyPr wrap="none" lIns="0" rIns="0" tIns="0" bIns="0">
            <a:spAutoFit/>
          </a:bodyPr>
          <a:lstStyle/>
          <a:p>
            <a:pPr>
              <a:lnSpc>
                <a:spcPts val="2440"/>
              </a:lnSpc>
              <a:spcBef>
                <a:spcPts val="0"/>
              </a:spcBef>
              <a:spcAft>
                <a:spcPts val="0"/>
              </a:spcAft>
              <a:defRPr sz="2000" b="1">
                <a:solidFill>
                  <a:srgbClr val="F6F0FC"/>
                </a:solidFill>
                <a:latin typeface="IBM Plex Sans Condensed"/>
              </a:defRPr>
            </a:pPr>
            <a:r>
              <a:t>Channel metadata</a:t>
            </a:r>
          </a:p>
        </p:txBody>
      </p:sp>
      <p:sp>
        <p:nvSpPr>
          <p:cNvPr id="16" name="TextBox 15"/>
          <p:cNvSpPr txBox="1"/>
          <p:nvPr/>
        </p:nvSpPr>
        <p:spPr>
          <a:xfrm>
            <a:off x="3172968" y="3035808"/>
            <a:ext cx="1700784"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APR 2026</a:t>
            </a:r>
          </a:p>
        </p:txBody>
      </p:sp>
      <p:sp>
        <p:nvSpPr>
          <p:cNvPr id="17" name="TextBox 16"/>
          <p:cNvSpPr txBox="1"/>
          <p:nvPr/>
        </p:nvSpPr>
        <p:spPr>
          <a:xfrm>
            <a:off x="5074920" y="3008376"/>
            <a:ext cx="2441448" cy="311912"/>
          </a:xfrm>
          <a:prstGeom prst="rect">
            <a:avLst/>
          </a:prstGeom>
          <a:noFill/>
        </p:spPr>
        <p:txBody>
          <a:bodyPr wrap="none" lIns="0" rIns="0" tIns="0" bIns="0">
            <a:spAutoFit/>
          </a:bodyPr>
          <a:lstStyle/>
          <a:p>
            <a:pPr>
              <a:lnSpc>
                <a:spcPts val="1952"/>
              </a:lnSpc>
              <a:spcBef>
                <a:spcPts val="0"/>
              </a:spcBef>
              <a:spcAft>
                <a:spcPts val="0"/>
              </a:spcAft>
              <a:defRPr sz="1600" b="1">
                <a:solidFill>
                  <a:srgbClr val="F6F0FC"/>
                </a:solidFill>
                <a:latin typeface="IBM Plex Sans"/>
              </a:defRPr>
            </a:pPr>
            <a:r>
              <a:t>25,235 positions</a:t>
            </a:r>
          </a:p>
        </p:txBody>
      </p:sp>
      <p:sp>
        <p:nvSpPr>
          <p:cNvPr id="18" name="TextBox 17"/>
          <p:cNvSpPr txBox="1"/>
          <p:nvPr/>
        </p:nvSpPr>
        <p:spPr>
          <a:xfrm>
            <a:off x="7818120" y="2990088"/>
            <a:ext cx="3575304" cy="52882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Historical mapping equivalence</a:t>
            </a:r>
          </a:p>
          <a:p>
            <a:pPr>
              <a:lnSpc>
                <a:spcPts val="1830"/>
              </a:lnSpc>
              <a:spcBef>
                <a:spcPts val="0"/>
              </a:spcBef>
              <a:spcAft>
                <a:spcPts val="0"/>
              </a:spcAft>
              <a:defRPr sz="1500" b="0">
                <a:solidFill>
                  <a:srgbClr val="BAA9CB"/>
                </a:solidFill>
                <a:latin typeface="IBM Plex Sans"/>
              </a:defRPr>
            </a:pPr>
            <a:r>
              <a:t>unverified</a:t>
            </a:r>
          </a:p>
        </p:txBody>
      </p:sp>
      <p:sp>
        <p:nvSpPr>
          <p:cNvPr id="19" name="Rectangle 18"/>
          <p:cNvSpPr/>
          <p:nvPr/>
        </p:nvSpPr>
        <p:spPr>
          <a:xfrm>
            <a:off x="502920" y="3703320"/>
            <a:ext cx="11183112" cy="76809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4944" y="3822191"/>
            <a:ext cx="2377440" cy="373888"/>
          </a:xfrm>
          <a:prstGeom prst="rect">
            <a:avLst/>
          </a:prstGeom>
          <a:noFill/>
        </p:spPr>
        <p:txBody>
          <a:bodyPr wrap="none" lIns="0" rIns="0" tIns="0" bIns="0">
            <a:spAutoFit/>
          </a:bodyPr>
          <a:lstStyle/>
          <a:p>
            <a:pPr>
              <a:lnSpc>
                <a:spcPts val="2440"/>
              </a:lnSpc>
              <a:spcBef>
                <a:spcPts val="0"/>
              </a:spcBef>
              <a:spcAft>
                <a:spcPts val="0"/>
              </a:spcAft>
              <a:defRPr sz="2000" b="1">
                <a:solidFill>
                  <a:srgbClr val="F6F0FC"/>
                </a:solidFill>
                <a:latin typeface="IBM Plex Sans Condensed"/>
              </a:defRPr>
            </a:pPr>
            <a:r>
              <a:t>Example recordings</a:t>
            </a:r>
          </a:p>
        </p:txBody>
      </p:sp>
      <p:sp>
        <p:nvSpPr>
          <p:cNvPr id="21" name="TextBox 20"/>
          <p:cNvSpPr txBox="1"/>
          <p:nvPr/>
        </p:nvSpPr>
        <p:spPr>
          <a:xfrm>
            <a:off x="3172968" y="3858768"/>
            <a:ext cx="1700784"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JUN 2026*</a:t>
            </a:r>
          </a:p>
        </p:txBody>
      </p:sp>
      <p:sp>
        <p:nvSpPr>
          <p:cNvPr id="22" name="TextBox 21"/>
          <p:cNvSpPr txBox="1"/>
          <p:nvPr/>
        </p:nvSpPr>
        <p:spPr>
          <a:xfrm>
            <a:off x="5074920" y="3831335"/>
            <a:ext cx="2441448" cy="311912"/>
          </a:xfrm>
          <a:prstGeom prst="rect">
            <a:avLst/>
          </a:prstGeom>
          <a:noFill/>
        </p:spPr>
        <p:txBody>
          <a:bodyPr wrap="none" lIns="0" rIns="0" tIns="0" bIns="0">
            <a:spAutoFit/>
          </a:bodyPr>
          <a:lstStyle/>
          <a:p>
            <a:pPr>
              <a:lnSpc>
                <a:spcPts val="1952"/>
              </a:lnSpc>
              <a:spcBef>
                <a:spcPts val="0"/>
              </a:spcBef>
              <a:spcAft>
                <a:spcPts val="0"/>
              </a:spcAft>
              <a:defRPr sz="1600" b="1">
                <a:solidFill>
                  <a:srgbClr val="F6F0FC"/>
                </a:solidFill>
                <a:latin typeface="IBM Plex Sans"/>
              </a:defRPr>
            </a:pPr>
            <a:r>
              <a:t>3 full local files</a:t>
            </a:r>
          </a:p>
        </p:txBody>
      </p:sp>
      <p:sp>
        <p:nvSpPr>
          <p:cNvPr id="23" name="TextBox 22"/>
          <p:cNvSpPr txBox="1"/>
          <p:nvPr/>
        </p:nvSpPr>
        <p:spPr>
          <a:xfrm>
            <a:off x="7818120" y="3813048"/>
            <a:ext cx="3575304" cy="52882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Independent of the historical alarm</a:t>
            </a:r>
          </a:p>
          <a:p>
            <a:pPr>
              <a:lnSpc>
                <a:spcPts val="1830"/>
              </a:lnSpc>
              <a:spcBef>
                <a:spcPts val="0"/>
              </a:spcBef>
              <a:spcAft>
                <a:spcPts val="0"/>
              </a:spcAft>
              <a:defRPr sz="1500" b="0">
                <a:solidFill>
                  <a:srgbClr val="BAA9CB"/>
                </a:solidFill>
                <a:latin typeface="IBM Plex Sans"/>
              </a:defRPr>
            </a:pPr>
            <a:r>
              <a:t>archive</a:t>
            </a:r>
          </a:p>
        </p:txBody>
      </p:sp>
      <p:sp>
        <p:nvSpPr>
          <p:cNvPr id="24" name="TextBox 23"/>
          <p:cNvSpPr txBox="1"/>
          <p:nvPr/>
        </p:nvSpPr>
        <p:spPr>
          <a:xfrm>
            <a:off x="694944" y="4645152"/>
            <a:ext cx="2377440" cy="373888"/>
          </a:xfrm>
          <a:prstGeom prst="rect">
            <a:avLst/>
          </a:prstGeom>
          <a:noFill/>
        </p:spPr>
        <p:txBody>
          <a:bodyPr wrap="none" lIns="0" rIns="0" tIns="0" bIns="0">
            <a:spAutoFit/>
          </a:bodyPr>
          <a:lstStyle/>
          <a:p>
            <a:pPr>
              <a:lnSpc>
                <a:spcPts val="2440"/>
              </a:lnSpc>
              <a:spcBef>
                <a:spcPts val="0"/>
              </a:spcBef>
              <a:spcAft>
                <a:spcPts val="0"/>
              </a:spcAft>
              <a:defRPr sz="2000" b="1">
                <a:solidFill>
                  <a:srgbClr val="F6F0FC"/>
                </a:solidFill>
                <a:latin typeface="IBM Plex Sans Condensed"/>
              </a:defRPr>
            </a:pPr>
            <a:r>
              <a:t>Expert ground truth</a:t>
            </a:r>
          </a:p>
        </p:txBody>
      </p:sp>
      <p:sp>
        <p:nvSpPr>
          <p:cNvPr id="25" name="TextBox 24"/>
          <p:cNvSpPr txBox="1"/>
          <p:nvPr/>
        </p:nvSpPr>
        <p:spPr>
          <a:xfrm>
            <a:off x="3172968" y="4681728"/>
            <a:ext cx="1700784"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NEXT PHASE</a:t>
            </a:r>
          </a:p>
        </p:txBody>
      </p:sp>
      <p:sp>
        <p:nvSpPr>
          <p:cNvPr id="26" name="TextBox 25"/>
          <p:cNvSpPr txBox="1"/>
          <p:nvPr/>
        </p:nvSpPr>
        <p:spPr>
          <a:xfrm>
            <a:off x="5074920" y="4654296"/>
            <a:ext cx="2441448" cy="559816"/>
          </a:xfrm>
          <a:prstGeom prst="rect">
            <a:avLst/>
          </a:prstGeom>
          <a:noFill/>
        </p:spPr>
        <p:txBody>
          <a:bodyPr wrap="none" lIns="0" rIns="0" tIns="0" bIns="0">
            <a:spAutoFit/>
          </a:bodyPr>
          <a:lstStyle/>
          <a:p>
            <a:pPr>
              <a:lnSpc>
                <a:spcPts val="1952"/>
              </a:lnSpc>
              <a:spcBef>
                <a:spcPts val="0"/>
              </a:spcBef>
              <a:spcAft>
                <a:spcPts val="0"/>
              </a:spcAft>
              <a:defRPr sz="1600" b="1">
                <a:solidFill>
                  <a:srgbClr val="F6F0FC"/>
                </a:solidFill>
                <a:latin typeface="IBM Plex Sans"/>
              </a:defRPr>
            </a:pPr>
            <a:r>
              <a:t>Incident / inspection</a:t>
            </a:r>
          </a:p>
          <a:p>
            <a:pPr>
              <a:lnSpc>
                <a:spcPts val="1952"/>
              </a:lnSpc>
              <a:spcBef>
                <a:spcPts val="0"/>
              </a:spcBef>
              <a:spcAft>
                <a:spcPts val="0"/>
              </a:spcAft>
              <a:defRPr sz="1600" b="1">
                <a:solidFill>
                  <a:srgbClr val="F6F0FC"/>
                </a:solidFill>
                <a:latin typeface="IBM Plex Sans"/>
              </a:defRPr>
            </a:pPr>
            <a:r>
              <a:t>evidence</a:t>
            </a:r>
          </a:p>
        </p:txBody>
      </p:sp>
      <p:sp>
        <p:nvSpPr>
          <p:cNvPr id="27" name="TextBox 26"/>
          <p:cNvSpPr txBox="1"/>
          <p:nvPr/>
        </p:nvSpPr>
        <p:spPr>
          <a:xfrm>
            <a:off x="7818120" y="4636008"/>
            <a:ext cx="3575304" cy="52882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Required to validate the four target</a:t>
            </a:r>
          </a:p>
          <a:p>
            <a:pPr>
              <a:lnSpc>
                <a:spcPts val="1830"/>
              </a:lnSpc>
              <a:spcBef>
                <a:spcPts val="0"/>
              </a:spcBef>
              <a:spcAft>
                <a:spcPts val="0"/>
              </a:spcAft>
              <a:defRPr sz="1500" b="0">
                <a:solidFill>
                  <a:srgbClr val="BAA9CB"/>
                </a:solidFill>
                <a:latin typeface="IBM Plex Sans"/>
              </a:defRPr>
            </a:pPr>
            <a:r>
              <a:t>classes</a:t>
            </a:r>
          </a:p>
        </p:txBody>
      </p:sp>
      <p:sp>
        <p:nvSpPr>
          <p:cNvPr id="28" name="TextBox 27"/>
          <p:cNvSpPr txBox="1"/>
          <p:nvPr/>
        </p:nvSpPr>
        <p:spPr>
          <a:xfrm>
            <a:off x="685800" y="5522976"/>
            <a:ext cx="914400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BAA9CB"/>
                </a:solidFill>
                <a:latin typeface="IBM Plex Sans"/>
              </a:defRPr>
            </a:pPr>
            <a:r>
              <a:t>* Header date is plausible but not independently verified.</a:t>
            </a:r>
          </a:p>
        </p:txBody>
      </p:sp>
      <p:sp>
        <p:nvSpPr>
          <p:cNvPr id="29" name="Rectangle 28"/>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Alarm volume is useful for review prioritisation; it does not establish labeled incidents or model accuracy.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08 / WEATHER CONTEXT</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Weather adds context once time and location are trustworthy</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YR collection is in place at two configured locations; humidity is a planned extension.</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src/weather/weather_capture.py · docs/map-app.md · docs/event-discovery.md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09</a:t>
            </a:r>
          </a:p>
        </p:txBody>
      </p:sp>
      <p:sp>
        <p:nvSpPr>
          <p:cNvPr id="10" name="Rectangle 9"/>
          <p:cNvSpPr/>
          <p:nvPr/>
        </p:nvSpPr>
        <p:spPr>
          <a:xfrm>
            <a:off x="502920" y="2057400"/>
            <a:ext cx="5440680" cy="24231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57400"/>
            <a:ext cx="544068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40280"/>
            <a:ext cx="50749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COLLECTED TODAY</a:t>
            </a:r>
          </a:p>
        </p:txBody>
      </p:sp>
      <p:sp>
        <p:nvSpPr>
          <p:cNvPr id="13" name="TextBox 12"/>
          <p:cNvSpPr txBox="1"/>
          <p:nvPr/>
        </p:nvSpPr>
        <p:spPr>
          <a:xfrm>
            <a:off x="685800" y="2578608"/>
            <a:ext cx="5074920" cy="451358"/>
          </a:xfrm>
          <a:prstGeom prst="rect">
            <a:avLst/>
          </a:prstGeom>
          <a:noFill/>
        </p:spPr>
        <p:txBody>
          <a:bodyPr wrap="none" lIns="0" rIns="0" tIns="0" bIns="0">
            <a:spAutoFit/>
          </a:bodyPr>
          <a:lstStyle/>
          <a:p>
            <a:pPr>
              <a:lnSpc>
                <a:spcPts val="3050"/>
              </a:lnSpc>
              <a:spcBef>
                <a:spcPts val="0"/>
              </a:spcBef>
              <a:spcAft>
                <a:spcPts val="0"/>
              </a:spcAft>
              <a:defRPr sz="2500" b="1">
                <a:solidFill>
                  <a:srgbClr val="F6F0FC"/>
                </a:solidFill>
                <a:latin typeface="IBM Plex Sans Condensed"/>
              </a:defRPr>
            </a:pPr>
            <a:r>
              <a:t>Temperature · wind speed · direction</a:t>
            </a:r>
          </a:p>
        </p:txBody>
      </p:sp>
      <p:sp>
        <p:nvSpPr>
          <p:cNvPr id="14" name="TextBox 13"/>
          <p:cNvSpPr txBox="1"/>
          <p:nvPr/>
        </p:nvSpPr>
        <p:spPr>
          <a:xfrm>
            <a:off x="685800" y="3130550"/>
            <a:ext cx="507492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Kråkern Bru and Leknes</a:t>
            </a:r>
          </a:p>
          <a:p>
            <a:pPr>
              <a:lnSpc>
                <a:spcPts val="2074"/>
              </a:lnSpc>
              <a:spcBef>
                <a:spcPts val="0"/>
              </a:spcBef>
              <a:spcAft>
                <a:spcPts val="0"/>
              </a:spcAft>
              <a:defRPr sz="1700" b="0">
                <a:solidFill>
                  <a:srgbClr val="BAA9CB"/>
                </a:solidFill>
                <a:latin typeface="IBM Plex Sans"/>
              </a:defRPr>
            </a:pPr>
            <a:r>
              <a:t>YR forecast context</a:t>
            </a:r>
          </a:p>
          <a:p>
            <a:pPr>
              <a:lnSpc>
                <a:spcPts val="2074"/>
              </a:lnSpc>
              <a:spcBef>
                <a:spcPts val="0"/>
              </a:spcBef>
              <a:spcAft>
                <a:spcPts val="0"/>
              </a:spcAft>
              <a:defRPr sz="1700" b="0">
                <a:solidFill>
                  <a:srgbClr val="BAA9CB"/>
                </a:solidFill>
                <a:latin typeface="IBM Plex Sans"/>
              </a:defRPr>
            </a:pPr>
            <a:r>
              <a:t>Missing and stale values remain visible</a:t>
            </a:r>
          </a:p>
        </p:txBody>
      </p:sp>
      <p:sp>
        <p:nvSpPr>
          <p:cNvPr id="15" name="Rectangle 14"/>
          <p:cNvSpPr/>
          <p:nvPr/>
        </p:nvSpPr>
        <p:spPr>
          <a:xfrm>
            <a:off x="6163056" y="2057400"/>
            <a:ext cx="5522976" cy="24231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63056" y="2057400"/>
            <a:ext cx="552297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45936" y="2240280"/>
            <a:ext cx="515721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PROPOSED EXTENSION</a:t>
            </a:r>
          </a:p>
        </p:txBody>
      </p:sp>
      <p:sp>
        <p:nvSpPr>
          <p:cNvPr id="18" name="TextBox 17"/>
          <p:cNvSpPr txBox="1"/>
          <p:nvPr/>
        </p:nvSpPr>
        <p:spPr>
          <a:xfrm>
            <a:off x="6345936" y="2578608"/>
            <a:ext cx="5157216" cy="838708"/>
          </a:xfrm>
          <a:prstGeom prst="rect">
            <a:avLst/>
          </a:prstGeom>
          <a:noFill/>
        </p:spPr>
        <p:txBody>
          <a:bodyPr wrap="none" lIns="0" rIns="0" tIns="0" bIns="0">
            <a:spAutoFit/>
          </a:bodyPr>
          <a:lstStyle/>
          <a:p>
            <a:pPr>
              <a:lnSpc>
                <a:spcPts val="3050"/>
              </a:lnSpc>
              <a:spcBef>
                <a:spcPts val="0"/>
              </a:spcBef>
              <a:spcAft>
                <a:spcPts val="0"/>
              </a:spcAft>
              <a:defRPr sz="2500" b="1">
                <a:solidFill>
                  <a:srgbClr val="F6F0FC"/>
                </a:solidFill>
                <a:latin typeface="IBM Plex Sans Condensed"/>
              </a:defRPr>
            </a:pPr>
            <a:r>
              <a:t>Humidity + source-validity</a:t>
            </a:r>
          </a:p>
          <a:p>
            <a:pPr>
              <a:lnSpc>
                <a:spcPts val="3050"/>
              </a:lnSpc>
              <a:spcBef>
                <a:spcPts val="0"/>
              </a:spcBef>
              <a:spcAft>
                <a:spcPts val="0"/>
              </a:spcAft>
              <a:defRPr sz="2500" b="1">
                <a:solidFill>
                  <a:srgbClr val="F6F0FC"/>
                </a:solidFill>
                <a:latin typeface="IBM Plex Sans Condensed"/>
              </a:defRPr>
            </a:pPr>
            <a:r>
              <a:t>timestamps</a:t>
            </a:r>
          </a:p>
        </p:txBody>
      </p:sp>
      <p:sp>
        <p:nvSpPr>
          <p:cNvPr id="19" name="TextBox 18"/>
          <p:cNvSpPr txBox="1"/>
          <p:nvPr/>
        </p:nvSpPr>
        <p:spPr>
          <a:xfrm>
            <a:off x="6345936" y="3517900"/>
            <a:ext cx="515721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Explicit variable and unit definitions</a:t>
            </a:r>
          </a:p>
          <a:p>
            <a:pPr>
              <a:lnSpc>
                <a:spcPts val="2074"/>
              </a:lnSpc>
              <a:spcBef>
                <a:spcPts val="0"/>
              </a:spcBef>
              <a:spcAft>
                <a:spcPts val="0"/>
              </a:spcAft>
              <a:defRPr sz="1700" b="0">
                <a:solidFill>
                  <a:srgbClr val="BAA9CB"/>
                </a:solidFill>
                <a:latin typeface="IBM Plex Sans"/>
              </a:defRPr>
            </a:pPr>
            <a:r>
              <a:t>Collector and storage support</a:t>
            </a:r>
          </a:p>
          <a:p>
            <a:pPr>
              <a:lnSpc>
                <a:spcPts val="2074"/>
              </a:lnSpc>
              <a:spcBef>
                <a:spcPts val="0"/>
              </a:spcBef>
              <a:spcAft>
                <a:spcPts val="0"/>
              </a:spcAft>
              <a:defRPr sz="1700" b="0">
                <a:solidFill>
                  <a:srgbClr val="BAA9CB"/>
                </a:solidFill>
                <a:latin typeface="IBM Plex Sans"/>
              </a:defRPr>
            </a:pPr>
            <a:r>
              <a:t>Documented station-to-route relevance</a:t>
            </a:r>
          </a:p>
        </p:txBody>
      </p:sp>
      <p:sp>
        <p:nvSpPr>
          <p:cNvPr id="20" name="TextBox 19"/>
          <p:cNvSpPr txBox="1"/>
          <p:nvPr/>
        </p:nvSpPr>
        <p:spPr>
          <a:xfrm>
            <a:off x="704088" y="4626864"/>
            <a:ext cx="274320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ALIGNMENT RULE</a:t>
            </a:r>
          </a:p>
        </p:txBody>
      </p:sp>
      <p:sp>
        <p:nvSpPr>
          <p:cNvPr id="21" name="TextBox 20"/>
          <p:cNvSpPr txBox="1"/>
          <p:nvPr/>
        </p:nvSpPr>
        <p:spPr>
          <a:xfrm>
            <a:off x="704088" y="5020056"/>
            <a:ext cx="10607040"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Verified acquisition time &gt; appropriate location &gt; latest valid prior weather</a:t>
            </a:r>
          </a:p>
        </p:txBody>
      </p:sp>
      <p:sp>
        <p:nvSpPr>
          <p:cNvPr id="22" name="Rectangle 21"/>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Weather supports interpretation; humidity or freezing conditions alone do not prove ice loading.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09 / DISCOVERY PILOT</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Archive discovery has been exercised on real recordings</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A reproducible pilot produces a compact review queue without loading the full archive into memory.</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results/das-discovery-pilot-20260916/{summary,pilot-validation}.json</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10</a:t>
            </a:r>
          </a:p>
        </p:txBody>
      </p:sp>
      <p:sp>
        <p:nvSpPr>
          <p:cNvPr id="10" name="TextBox 9"/>
          <p:cNvSpPr txBox="1"/>
          <p:nvPr/>
        </p:nvSpPr>
        <p:spPr>
          <a:xfrm>
            <a:off x="694944" y="2075688"/>
            <a:ext cx="246888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90</a:t>
            </a:r>
          </a:p>
        </p:txBody>
      </p:sp>
      <p:sp>
        <p:nvSpPr>
          <p:cNvPr id="11" name="TextBox 10"/>
          <p:cNvSpPr txBox="1"/>
          <p:nvPr/>
        </p:nvSpPr>
        <p:spPr>
          <a:xfrm>
            <a:off x="694944" y="2798064"/>
            <a:ext cx="246888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archive files</a:t>
            </a:r>
          </a:p>
        </p:txBody>
      </p:sp>
      <p:sp>
        <p:nvSpPr>
          <p:cNvPr id="12" name="TextBox 11"/>
          <p:cNvSpPr txBox="1"/>
          <p:nvPr/>
        </p:nvSpPr>
        <p:spPr>
          <a:xfrm>
            <a:off x="3520440" y="2075688"/>
            <a:ext cx="246888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15 min</a:t>
            </a:r>
          </a:p>
        </p:txBody>
      </p:sp>
      <p:sp>
        <p:nvSpPr>
          <p:cNvPr id="13" name="TextBox 12"/>
          <p:cNvSpPr txBox="1"/>
          <p:nvPr/>
        </p:nvSpPr>
        <p:spPr>
          <a:xfrm>
            <a:off x="3520440" y="2798064"/>
            <a:ext cx="246888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approximate coverage</a:t>
            </a:r>
          </a:p>
        </p:txBody>
      </p:sp>
      <p:sp>
        <p:nvSpPr>
          <p:cNvPr id="14" name="TextBox 13"/>
          <p:cNvSpPr txBox="1"/>
          <p:nvPr/>
        </p:nvSpPr>
        <p:spPr>
          <a:xfrm>
            <a:off x="6336792" y="2075688"/>
            <a:ext cx="246888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240</a:t>
            </a:r>
          </a:p>
        </p:txBody>
      </p:sp>
      <p:sp>
        <p:nvSpPr>
          <p:cNvPr id="15" name="TextBox 14"/>
          <p:cNvSpPr txBox="1"/>
          <p:nvPr/>
        </p:nvSpPr>
        <p:spPr>
          <a:xfrm>
            <a:off x="6336792" y="2798064"/>
            <a:ext cx="246888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window / block feature rows</a:t>
            </a:r>
          </a:p>
        </p:txBody>
      </p:sp>
      <p:sp>
        <p:nvSpPr>
          <p:cNvPr id="16" name="TextBox 15"/>
          <p:cNvSpPr txBox="1"/>
          <p:nvPr/>
        </p:nvSpPr>
        <p:spPr>
          <a:xfrm>
            <a:off x="9244584" y="2075688"/>
            <a:ext cx="2468880" cy="730250"/>
          </a:xfrm>
          <a:prstGeom prst="rect">
            <a:avLst/>
          </a:prstGeom>
          <a:noFill/>
        </p:spPr>
        <p:txBody>
          <a:bodyPr wrap="none" lIns="0" rIns="0" tIns="0" bIns="0">
            <a:spAutoFit/>
          </a:bodyPr>
          <a:lstStyle/>
          <a:p>
            <a:pPr>
              <a:lnSpc>
                <a:spcPts val="5246"/>
              </a:lnSpc>
              <a:spcBef>
                <a:spcPts val="0"/>
              </a:spcBef>
              <a:spcAft>
                <a:spcPts val="0"/>
              </a:spcAft>
              <a:defRPr sz="4300" b="1">
                <a:solidFill>
                  <a:srgbClr val="CFADF0"/>
                </a:solidFill>
                <a:latin typeface="IBM Plex Sans Condensed"/>
              </a:defRPr>
            </a:pPr>
            <a:r>
              <a:t>6</a:t>
            </a:r>
          </a:p>
        </p:txBody>
      </p:sp>
      <p:sp>
        <p:nvSpPr>
          <p:cNvPr id="17" name="TextBox 16"/>
          <p:cNvSpPr txBox="1"/>
          <p:nvPr/>
        </p:nvSpPr>
        <p:spPr>
          <a:xfrm>
            <a:off x="9244584" y="2798064"/>
            <a:ext cx="2468880" cy="265429"/>
          </a:xfrm>
          <a:prstGeom prst="rect">
            <a:avLst/>
          </a:prstGeom>
          <a:noFill/>
        </p:spPr>
        <p:txBody>
          <a:bodyPr wrap="none" lIns="0" rIns="0" tIns="0" bIns="0">
            <a:spAutoFit/>
          </a:bodyPr>
          <a:lstStyle/>
          <a:p>
            <a:pPr>
              <a:lnSpc>
                <a:spcPts val="1586"/>
              </a:lnSpc>
              <a:spcBef>
                <a:spcPts val="0"/>
              </a:spcBef>
              <a:spcAft>
                <a:spcPts val="0"/>
              </a:spcAft>
              <a:defRPr sz="1300" b="0">
                <a:solidFill>
                  <a:srgbClr val="BAA9CB"/>
                </a:solidFill>
                <a:latin typeface="IBM Plex Sans"/>
              </a:defRPr>
            </a:pPr>
            <a:r>
              <a:t>exploratory clusters</a:t>
            </a:r>
          </a:p>
        </p:txBody>
      </p:sp>
      <p:sp>
        <p:nvSpPr>
          <p:cNvPr id="18" name="TextBox 17"/>
          <p:cNvSpPr txBox="1"/>
          <p:nvPr/>
        </p:nvSpPr>
        <p:spPr>
          <a:xfrm>
            <a:off x="694944" y="3456432"/>
            <a:ext cx="55778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CLUSTER POPULATION / FEATURE ROWS</a:t>
            </a:r>
          </a:p>
        </p:txBody>
      </p:sp>
      <p:sp>
        <p:nvSpPr>
          <p:cNvPr id="19" name="TextBox 18"/>
          <p:cNvSpPr txBox="1"/>
          <p:nvPr/>
        </p:nvSpPr>
        <p:spPr>
          <a:xfrm>
            <a:off x="713232" y="3799331"/>
            <a:ext cx="30175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0</a:t>
            </a:r>
          </a:p>
        </p:txBody>
      </p:sp>
      <p:sp>
        <p:nvSpPr>
          <p:cNvPr id="20" name="Rectangle 19"/>
          <p:cNvSpPr/>
          <p:nvPr/>
        </p:nvSpPr>
        <p:spPr>
          <a:xfrm>
            <a:off x="1097280" y="3822191"/>
            <a:ext cx="1388352" cy="155448"/>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586216" y="3789273"/>
            <a:ext cx="548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6F0FC"/>
                </a:solidFill>
                <a:latin typeface="IBM Plex Mono"/>
              </a:defRPr>
            </a:pPr>
            <a:r>
              <a:t>45</a:t>
            </a:r>
          </a:p>
        </p:txBody>
      </p:sp>
      <p:sp>
        <p:nvSpPr>
          <p:cNvPr id="22" name="TextBox 21"/>
          <p:cNvSpPr txBox="1"/>
          <p:nvPr/>
        </p:nvSpPr>
        <p:spPr>
          <a:xfrm>
            <a:off x="713232" y="4064507"/>
            <a:ext cx="30175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1</a:t>
            </a:r>
          </a:p>
        </p:txBody>
      </p:sp>
      <p:sp>
        <p:nvSpPr>
          <p:cNvPr id="23" name="Rectangle 22"/>
          <p:cNvSpPr/>
          <p:nvPr/>
        </p:nvSpPr>
        <p:spPr>
          <a:xfrm>
            <a:off x="1097280" y="4087368"/>
            <a:ext cx="370227" cy="155448"/>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568091" y="4054449"/>
            <a:ext cx="548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6F0FC"/>
                </a:solidFill>
                <a:latin typeface="IBM Plex Mono"/>
              </a:defRPr>
            </a:pPr>
            <a:r>
              <a:t>12</a:t>
            </a:r>
          </a:p>
        </p:txBody>
      </p:sp>
      <p:sp>
        <p:nvSpPr>
          <p:cNvPr id="25" name="TextBox 24"/>
          <p:cNvSpPr txBox="1"/>
          <p:nvPr/>
        </p:nvSpPr>
        <p:spPr>
          <a:xfrm>
            <a:off x="713232" y="4329683"/>
            <a:ext cx="30175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2</a:t>
            </a:r>
          </a:p>
        </p:txBody>
      </p:sp>
      <p:sp>
        <p:nvSpPr>
          <p:cNvPr id="26" name="Rectangle 25"/>
          <p:cNvSpPr/>
          <p:nvPr/>
        </p:nvSpPr>
        <p:spPr>
          <a:xfrm>
            <a:off x="1097280" y="4352544"/>
            <a:ext cx="709602" cy="155448"/>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07466" y="4319625"/>
            <a:ext cx="548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6F0FC"/>
                </a:solidFill>
                <a:latin typeface="IBM Plex Mono"/>
              </a:defRPr>
            </a:pPr>
            <a:r>
              <a:t>23</a:t>
            </a:r>
          </a:p>
        </p:txBody>
      </p:sp>
      <p:sp>
        <p:nvSpPr>
          <p:cNvPr id="28" name="TextBox 27"/>
          <p:cNvSpPr txBox="1"/>
          <p:nvPr/>
        </p:nvSpPr>
        <p:spPr>
          <a:xfrm>
            <a:off x="713232" y="4594859"/>
            <a:ext cx="30175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3</a:t>
            </a:r>
          </a:p>
        </p:txBody>
      </p:sp>
      <p:sp>
        <p:nvSpPr>
          <p:cNvPr id="29" name="Rectangle 28"/>
          <p:cNvSpPr/>
          <p:nvPr/>
        </p:nvSpPr>
        <p:spPr>
          <a:xfrm>
            <a:off x="1097280" y="4617720"/>
            <a:ext cx="4041648" cy="155448"/>
          </a:xfrm>
          <a:prstGeom prst="rect">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39512" y="4584801"/>
            <a:ext cx="548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6F0FC"/>
                </a:solidFill>
                <a:latin typeface="IBM Plex Mono"/>
              </a:defRPr>
            </a:pPr>
            <a:r>
              <a:t>131</a:t>
            </a:r>
          </a:p>
        </p:txBody>
      </p:sp>
      <p:sp>
        <p:nvSpPr>
          <p:cNvPr id="31" name="TextBox 30"/>
          <p:cNvSpPr txBox="1"/>
          <p:nvPr/>
        </p:nvSpPr>
        <p:spPr>
          <a:xfrm>
            <a:off x="713232" y="4860036"/>
            <a:ext cx="30175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4</a:t>
            </a:r>
          </a:p>
        </p:txBody>
      </p:sp>
      <p:sp>
        <p:nvSpPr>
          <p:cNvPr id="32" name="Rectangle 31"/>
          <p:cNvSpPr/>
          <p:nvPr/>
        </p:nvSpPr>
        <p:spPr>
          <a:xfrm>
            <a:off x="1097280" y="4882896"/>
            <a:ext cx="215965" cy="155448"/>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413829" y="4849977"/>
            <a:ext cx="548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6F0FC"/>
                </a:solidFill>
                <a:latin typeface="IBM Plex Mono"/>
              </a:defRPr>
            </a:pPr>
            <a:r>
              <a:t>7</a:t>
            </a:r>
          </a:p>
        </p:txBody>
      </p:sp>
      <p:sp>
        <p:nvSpPr>
          <p:cNvPr id="34" name="TextBox 33"/>
          <p:cNvSpPr txBox="1"/>
          <p:nvPr/>
        </p:nvSpPr>
        <p:spPr>
          <a:xfrm>
            <a:off x="713232" y="5125212"/>
            <a:ext cx="301752"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5</a:t>
            </a:r>
          </a:p>
        </p:txBody>
      </p:sp>
      <p:sp>
        <p:nvSpPr>
          <p:cNvPr id="35" name="Rectangle 34"/>
          <p:cNvSpPr/>
          <p:nvPr/>
        </p:nvSpPr>
        <p:spPr>
          <a:xfrm>
            <a:off x="1097280" y="5148072"/>
            <a:ext cx="678750" cy="155448"/>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876614" y="5115153"/>
            <a:ext cx="54864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F6F0FC"/>
                </a:solidFill>
                <a:latin typeface="IBM Plex Mono"/>
              </a:defRPr>
            </a:pPr>
            <a:r>
              <a:t>22</a:t>
            </a:r>
          </a:p>
        </p:txBody>
      </p:sp>
      <p:sp>
        <p:nvSpPr>
          <p:cNvPr id="37" name="Rectangle 36"/>
          <p:cNvSpPr/>
          <p:nvPr/>
        </p:nvSpPr>
        <p:spPr>
          <a:xfrm>
            <a:off x="6455664" y="3474720"/>
            <a:ext cx="5230368" cy="2112264"/>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55664" y="3474720"/>
            <a:ext cx="5230368"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38544" y="3657600"/>
            <a:ext cx="4864607"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RECORDED EXECUTION</a:t>
            </a:r>
          </a:p>
        </p:txBody>
      </p:sp>
      <p:sp>
        <p:nvSpPr>
          <p:cNvPr id="40" name="TextBox 39"/>
          <p:cNvSpPr txBox="1"/>
          <p:nvPr/>
        </p:nvSpPr>
        <p:spPr>
          <a:xfrm>
            <a:off x="6638544" y="3995928"/>
            <a:ext cx="4864607" cy="435864"/>
          </a:xfrm>
          <a:prstGeom prst="rect">
            <a:avLst/>
          </a:prstGeom>
          <a:noFill/>
        </p:spPr>
        <p:txBody>
          <a:bodyPr wrap="none" lIns="0" rIns="0" tIns="0" bIns="0">
            <a:spAutoFit/>
          </a:bodyPr>
          <a:lstStyle/>
          <a:p>
            <a:pPr>
              <a:lnSpc>
                <a:spcPts val="2928"/>
              </a:lnSpc>
              <a:spcBef>
                <a:spcPts val="0"/>
              </a:spcBef>
              <a:spcAft>
                <a:spcPts val="0"/>
              </a:spcAft>
              <a:defRPr sz="2400" b="1">
                <a:solidFill>
                  <a:srgbClr val="F6F0FC"/>
                </a:solidFill>
                <a:latin typeface="IBM Plex Sans Condensed"/>
              </a:defRPr>
            </a:pPr>
            <a:r>
              <a:t>37.8 s initial / 0.29 s resume</a:t>
            </a:r>
          </a:p>
        </p:txBody>
      </p:sp>
      <p:sp>
        <p:nvSpPr>
          <p:cNvPr id="41" name="TextBox 40"/>
          <p:cNvSpPr txBox="1"/>
          <p:nvPr/>
        </p:nvSpPr>
        <p:spPr>
          <a:xfrm>
            <a:off x="6638544" y="4532375"/>
            <a:ext cx="4864607"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~160 MiB peak resident memory</a:t>
            </a:r>
          </a:p>
          <a:p>
            <a:pPr>
              <a:lnSpc>
                <a:spcPts val="2074"/>
              </a:lnSpc>
              <a:spcBef>
                <a:spcPts val="0"/>
              </a:spcBef>
              <a:spcAft>
                <a:spcPts val="0"/>
              </a:spcAft>
              <a:defRPr sz="1700" b="0">
                <a:solidFill>
                  <a:srgbClr val="BAA9CB"/>
                </a:solidFill>
                <a:latin typeface="IBM Plex Sans"/>
              </a:defRPr>
            </a:pPr>
            <a:r>
              <a:t>Identical feature output after resume</a:t>
            </a:r>
          </a:p>
          <a:p>
            <a:pPr>
              <a:lnSpc>
                <a:spcPts val="2074"/>
              </a:lnSpc>
              <a:spcBef>
                <a:spcPts val="0"/>
              </a:spcBef>
              <a:spcAft>
                <a:spcPts val="0"/>
              </a:spcAft>
              <a:defRPr sz="1700" b="0">
                <a:solidFill>
                  <a:srgbClr val="BAA9CB"/>
                </a:solidFill>
                <a:latin typeface="IBM Plex Sans"/>
              </a:defRPr>
            </a:pPr>
            <a:r>
              <a:t>One pilot run; no accuracy estimate</a:t>
            </a:r>
          </a:p>
        </p:txBody>
      </p:sp>
      <p:sp>
        <p:nvSpPr>
          <p:cNvPr id="42" name="Rectangle 41"/>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This proves the discovery workflow on a small archive; seasonal coverage and verified labels are still needed.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10 / DETECTION DEVELOPMENT</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The ML baseline is built; field accuracy is still unproven</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The implementation supports four classes, grouped validation and quantified prediction windows.</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 / docs/event-ml.md · src/Capture/event_ml.py</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11</a:t>
            </a:r>
          </a:p>
        </p:txBody>
      </p:sp>
      <p:sp>
        <p:nvSpPr>
          <p:cNvPr id="10" name="Rectangle 9"/>
          <p:cNvSpPr/>
          <p:nvPr/>
        </p:nvSpPr>
        <p:spPr>
          <a:xfrm>
            <a:off x="502920" y="2075688"/>
            <a:ext cx="2651760" cy="21945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75688"/>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58568"/>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01</a:t>
            </a:r>
          </a:p>
        </p:txBody>
      </p:sp>
      <p:sp>
        <p:nvSpPr>
          <p:cNvPr id="13" name="TextBox 12"/>
          <p:cNvSpPr txBox="1"/>
          <p:nvPr/>
        </p:nvSpPr>
        <p:spPr>
          <a:xfrm>
            <a:off x="685800" y="2596896"/>
            <a:ext cx="2286000"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F6F0FC"/>
                </a:solidFill>
                <a:latin typeface="IBM Plex Sans Condensed"/>
              </a:defRPr>
            </a:pPr>
            <a:r>
              <a:t>Discover</a:t>
            </a:r>
          </a:p>
        </p:txBody>
      </p:sp>
      <p:sp>
        <p:nvSpPr>
          <p:cNvPr id="14" name="TextBox 13"/>
          <p:cNvSpPr txBox="1"/>
          <p:nvPr/>
        </p:nvSpPr>
        <p:spPr>
          <a:xfrm>
            <a:off x="685800" y="3179826"/>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Rank unusual and</a:t>
            </a:r>
          </a:p>
          <a:p>
            <a:pPr>
              <a:lnSpc>
                <a:spcPts val="2074"/>
              </a:lnSpc>
              <a:spcBef>
                <a:spcPts val="0"/>
              </a:spcBef>
              <a:spcAft>
                <a:spcPts val="0"/>
              </a:spcAft>
              <a:defRPr sz="1700" b="0">
                <a:solidFill>
                  <a:srgbClr val="BAA9CB"/>
                </a:solidFill>
                <a:latin typeface="IBM Plex Sans"/>
              </a:defRPr>
            </a:pPr>
            <a:r>
              <a:t>representative</a:t>
            </a:r>
          </a:p>
          <a:p>
            <a:pPr>
              <a:lnSpc>
                <a:spcPts val="2074"/>
              </a:lnSpc>
              <a:spcBef>
                <a:spcPts val="0"/>
              </a:spcBef>
              <a:spcAft>
                <a:spcPts val="0"/>
              </a:spcAft>
              <a:defRPr sz="1700" b="0">
                <a:solidFill>
                  <a:srgbClr val="BAA9CB"/>
                </a:solidFill>
                <a:latin typeface="IBM Plex Sans"/>
              </a:defRPr>
            </a:pPr>
            <a:r>
              <a:t>windows.</a:t>
            </a:r>
          </a:p>
        </p:txBody>
      </p:sp>
      <p:sp>
        <p:nvSpPr>
          <p:cNvPr id="15" name="Rectangle 14"/>
          <p:cNvSpPr/>
          <p:nvPr/>
        </p:nvSpPr>
        <p:spPr>
          <a:xfrm>
            <a:off x="3346704" y="2075688"/>
            <a:ext cx="2651760" cy="21945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6704" y="2075688"/>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9584" y="2258568"/>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02</a:t>
            </a:r>
          </a:p>
        </p:txBody>
      </p:sp>
      <p:sp>
        <p:nvSpPr>
          <p:cNvPr id="18" name="TextBox 17"/>
          <p:cNvSpPr txBox="1"/>
          <p:nvPr/>
        </p:nvSpPr>
        <p:spPr>
          <a:xfrm>
            <a:off x="3529584" y="2596896"/>
            <a:ext cx="2286000"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F6F0FC"/>
                </a:solidFill>
                <a:latin typeface="IBM Plex Sans Condensed"/>
              </a:defRPr>
            </a:pPr>
            <a:r>
              <a:t>Verify</a:t>
            </a:r>
          </a:p>
        </p:txBody>
      </p:sp>
      <p:sp>
        <p:nvSpPr>
          <p:cNvPr id="19" name="TextBox 18"/>
          <p:cNvSpPr txBox="1"/>
          <p:nvPr/>
        </p:nvSpPr>
        <p:spPr>
          <a:xfrm>
            <a:off x="3529584" y="3179826"/>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Attach inspection,</a:t>
            </a:r>
          </a:p>
          <a:p>
            <a:pPr>
              <a:lnSpc>
                <a:spcPts val="2074"/>
              </a:lnSpc>
              <a:spcBef>
                <a:spcPts val="0"/>
              </a:spcBef>
              <a:spcAft>
                <a:spcPts val="0"/>
              </a:spcAft>
              <a:defRPr sz="1700" b="0">
                <a:solidFill>
                  <a:srgbClr val="BAA9CB"/>
                </a:solidFill>
                <a:latin typeface="IBM Plex Sans"/>
              </a:defRPr>
            </a:pPr>
            <a:r>
              <a:t>camera or incident</a:t>
            </a:r>
          </a:p>
          <a:p>
            <a:pPr>
              <a:lnSpc>
                <a:spcPts val="2074"/>
              </a:lnSpc>
              <a:spcBef>
                <a:spcPts val="0"/>
              </a:spcBef>
              <a:spcAft>
                <a:spcPts val="0"/>
              </a:spcAft>
              <a:defRPr sz="1700" b="0">
                <a:solidFill>
                  <a:srgbClr val="BAA9CB"/>
                </a:solidFill>
                <a:latin typeface="IBM Plex Sans"/>
              </a:defRPr>
            </a:pPr>
            <a:r>
              <a:t>evidence.</a:t>
            </a:r>
          </a:p>
        </p:txBody>
      </p:sp>
      <p:sp>
        <p:nvSpPr>
          <p:cNvPr id="20" name="Rectangle 19"/>
          <p:cNvSpPr/>
          <p:nvPr/>
        </p:nvSpPr>
        <p:spPr>
          <a:xfrm>
            <a:off x="6190488" y="2075688"/>
            <a:ext cx="2651760" cy="21945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0488" y="2075688"/>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73368" y="2258568"/>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03</a:t>
            </a:r>
          </a:p>
        </p:txBody>
      </p:sp>
      <p:sp>
        <p:nvSpPr>
          <p:cNvPr id="23" name="TextBox 22"/>
          <p:cNvSpPr txBox="1"/>
          <p:nvPr/>
        </p:nvSpPr>
        <p:spPr>
          <a:xfrm>
            <a:off x="6373368" y="2596896"/>
            <a:ext cx="2286000"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F6F0FC"/>
                </a:solidFill>
                <a:latin typeface="IBM Plex Sans Condensed"/>
              </a:defRPr>
            </a:pPr>
            <a:r>
              <a:t>Train</a:t>
            </a:r>
          </a:p>
        </p:txBody>
      </p:sp>
      <p:sp>
        <p:nvSpPr>
          <p:cNvPr id="24" name="TextBox 23"/>
          <p:cNvSpPr txBox="1"/>
          <p:nvPr/>
        </p:nvSpPr>
        <p:spPr>
          <a:xfrm>
            <a:off x="6373368" y="3179826"/>
            <a:ext cx="2286000"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Use one agreed signal</a:t>
            </a:r>
          </a:p>
          <a:p>
            <a:pPr>
              <a:lnSpc>
                <a:spcPts val="2074"/>
              </a:lnSpc>
              <a:spcBef>
                <a:spcPts val="0"/>
              </a:spcBef>
              <a:spcAft>
                <a:spcPts val="0"/>
              </a:spcAft>
              <a:defRPr sz="1700" b="0">
                <a:solidFill>
                  <a:srgbClr val="BAA9CB"/>
                </a:solidFill>
                <a:latin typeface="IBM Plex Sans"/>
              </a:defRPr>
            </a:pPr>
            <a:r>
              <a:t>representation.</a:t>
            </a:r>
          </a:p>
        </p:txBody>
      </p:sp>
      <p:sp>
        <p:nvSpPr>
          <p:cNvPr id="25" name="Rectangle 24"/>
          <p:cNvSpPr/>
          <p:nvPr/>
        </p:nvSpPr>
        <p:spPr>
          <a:xfrm>
            <a:off x="9034272" y="2075688"/>
            <a:ext cx="2651760" cy="21945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34272" y="2075688"/>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2258568"/>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04</a:t>
            </a:r>
          </a:p>
        </p:txBody>
      </p:sp>
      <p:sp>
        <p:nvSpPr>
          <p:cNvPr id="28" name="TextBox 27"/>
          <p:cNvSpPr txBox="1"/>
          <p:nvPr/>
        </p:nvSpPr>
        <p:spPr>
          <a:xfrm>
            <a:off x="9217152" y="2596896"/>
            <a:ext cx="2286000"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F6F0FC"/>
                </a:solidFill>
                <a:latin typeface="IBM Plex Sans Condensed"/>
              </a:defRPr>
            </a:pPr>
            <a:r>
              <a:t>Evaluate</a:t>
            </a:r>
          </a:p>
        </p:txBody>
      </p:sp>
      <p:sp>
        <p:nvSpPr>
          <p:cNvPr id="29" name="TextBox 28"/>
          <p:cNvSpPr txBox="1"/>
          <p:nvPr/>
        </p:nvSpPr>
        <p:spPr>
          <a:xfrm>
            <a:off x="9217152" y="3179826"/>
            <a:ext cx="2286000" cy="590804"/>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Hold out independent</a:t>
            </a:r>
          </a:p>
          <a:p>
            <a:pPr>
              <a:lnSpc>
                <a:spcPts val="2074"/>
              </a:lnSpc>
              <a:spcBef>
                <a:spcPts val="0"/>
              </a:spcBef>
              <a:spcAft>
                <a:spcPts val="0"/>
              </a:spcAft>
              <a:defRPr sz="1700" b="0">
                <a:solidFill>
                  <a:srgbClr val="BAA9CB"/>
                </a:solidFill>
                <a:latin typeface="IBM Plex Sans"/>
              </a:defRPr>
            </a:pPr>
            <a:r>
              <a:t>incidents and seasons.</a:t>
            </a:r>
          </a:p>
        </p:txBody>
      </p:sp>
      <p:sp>
        <p:nvSpPr>
          <p:cNvPr id="30" name="Rectangle 29"/>
          <p:cNvSpPr/>
          <p:nvPr/>
        </p:nvSpPr>
        <p:spPr>
          <a:xfrm>
            <a:off x="502920" y="4562856"/>
            <a:ext cx="11183112" cy="987552"/>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4754880"/>
            <a:ext cx="2450592"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RELEASE EVIDENCE</a:t>
            </a:r>
          </a:p>
        </p:txBody>
      </p:sp>
      <p:sp>
        <p:nvSpPr>
          <p:cNvPr id="32" name="TextBox 31"/>
          <p:cNvSpPr txBox="1"/>
          <p:nvPr/>
        </p:nvSpPr>
        <p:spPr>
          <a:xfrm>
            <a:off x="3300984" y="4727448"/>
            <a:ext cx="8083296"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F6F0FC"/>
                </a:solidFill>
                <a:latin typeface="IBM Plex Sans"/>
              </a:defRPr>
            </a:pPr>
            <a:r>
              <a:t>Per-class precision / recall · false-alert burden · confidence calibration</a:t>
            </a:r>
          </a:p>
          <a:p>
            <a:pPr>
              <a:lnSpc>
                <a:spcPts val="1952"/>
              </a:lnSpc>
              <a:spcBef>
                <a:spcPts val="0"/>
              </a:spcBef>
              <a:spcAft>
                <a:spcPts val="0"/>
              </a:spcAft>
              <a:defRPr sz="1600" b="0">
                <a:solidFill>
                  <a:srgbClr val="F6F0FC"/>
                </a:solidFill>
                <a:latin typeface="IBM Plex Sans"/>
              </a:defRPr>
            </a:pPr>
            <a:r>
              <a:t>Site and season generalisation · detection latency · traceable predictions</a:t>
            </a:r>
          </a:p>
        </p:txBody>
      </p:sp>
      <p:sp>
        <p:nvSpPr>
          <p:cNvPr id="33" name="Rectangle 32"/>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Model deployment follows field evidence; threshold alarms and anomaly clusters cannot substitute for labels.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11 / READINESS ASSESSMENT</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Software checks do not establish field performance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Recorded local checks support the investigation workflow; operational acceptance remains ahead.</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docs/map-app.md · docs/event-ml.md · docs/masts.md · recorded pilot results</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12</a:t>
            </a:r>
          </a:p>
        </p:txBody>
      </p:sp>
      <p:sp>
        <p:nvSpPr>
          <p:cNvPr id="10" name="TextBox 9"/>
          <p:cNvSpPr txBox="1"/>
          <p:nvPr/>
        </p:nvSpPr>
        <p:spPr>
          <a:xfrm>
            <a:off x="694944" y="2039112"/>
            <a:ext cx="32004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CAPABILITY</a:t>
            </a:r>
          </a:p>
        </p:txBody>
      </p:sp>
      <p:sp>
        <p:nvSpPr>
          <p:cNvPr id="11" name="TextBox 10"/>
          <p:cNvSpPr txBox="1"/>
          <p:nvPr/>
        </p:nvSpPr>
        <p:spPr>
          <a:xfrm>
            <a:off x="4096512" y="2039112"/>
            <a:ext cx="40233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EVIDENCE AVAILABLE</a:t>
            </a:r>
          </a:p>
        </p:txBody>
      </p:sp>
      <p:sp>
        <p:nvSpPr>
          <p:cNvPr id="12" name="TextBox 11"/>
          <p:cNvSpPr txBox="1"/>
          <p:nvPr/>
        </p:nvSpPr>
        <p:spPr>
          <a:xfrm>
            <a:off x="8275320" y="2039112"/>
            <a:ext cx="30175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REMAINING GATE</a:t>
            </a:r>
          </a:p>
        </p:txBody>
      </p:sp>
      <p:sp>
        <p:nvSpPr>
          <p:cNvPr id="13" name="Rectangle 12"/>
          <p:cNvSpPr/>
          <p:nvPr/>
        </p:nvSpPr>
        <p:spPr>
          <a:xfrm>
            <a:off x="502920" y="2450592"/>
            <a:ext cx="11183112" cy="53949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523744"/>
            <a:ext cx="3163824"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a:defRPr>
            </a:pPr>
            <a:r>
              <a:t>Asset foundation</a:t>
            </a:r>
          </a:p>
        </p:txBody>
      </p:sp>
      <p:sp>
        <p:nvSpPr>
          <p:cNvPr id="15" name="TextBox 14"/>
          <p:cNvSpPr txBox="1"/>
          <p:nvPr/>
        </p:nvSpPr>
        <p:spPr>
          <a:xfrm>
            <a:off x="4096512" y="2523744"/>
            <a:ext cx="3904487"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579 masts / 575 inferred links</a:t>
            </a:r>
          </a:p>
        </p:txBody>
      </p:sp>
      <p:sp>
        <p:nvSpPr>
          <p:cNvPr id="16" name="TextBox 15"/>
          <p:cNvSpPr txBox="1"/>
          <p:nvPr/>
        </p:nvSpPr>
        <p:spPr>
          <a:xfrm>
            <a:off x="8275320" y="2523744"/>
            <a:ext cx="3136392"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Confirm physical inventory</a:t>
            </a:r>
          </a:p>
        </p:txBody>
      </p:sp>
      <p:sp>
        <p:nvSpPr>
          <p:cNvPr id="17" name="TextBox 16"/>
          <p:cNvSpPr txBox="1"/>
          <p:nvPr/>
        </p:nvSpPr>
        <p:spPr>
          <a:xfrm>
            <a:off x="694944" y="3081528"/>
            <a:ext cx="3163824"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a:defRPr>
            </a:pPr>
            <a:r>
              <a:t>Investigation app</a:t>
            </a:r>
          </a:p>
        </p:txBody>
      </p:sp>
      <p:sp>
        <p:nvSpPr>
          <p:cNvPr id="18" name="TextBox 17"/>
          <p:cNvSpPr txBox="1"/>
          <p:nvPr/>
        </p:nvSpPr>
        <p:spPr>
          <a:xfrm>
            <a:off x="4096512" y="3081528"/>
            <a:ext cx="3904487"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Browser workflow + review persistence</a:t>
            </a:r>
          </a:p>
        </p:txBody>
      </p:sp>
      <p:sp>
        <p:nvSpPr>
          <p:cNvPr id="19" name="TextBox 18"/>
          <p:cNvSpPr txBox="1"/>
          <p:nvPr/>
        </p:nvSpPr>
        <p:spPr>
          <a:xfrm>
            <a:off x="8275320" y="3081528"/>
            <a:ext cx="3136392" cy="52882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Authenticated multi-user</a:t>
            </a:r>
          </a:p>
          <a:p>
            <a:pPr>
              <a:lnSpc>
                <a:spcPts val="1830"/>
              </a:lnSpc>
              <a:spcBef>
                <a:spcPts val="0"/>
              </a:spcBef>
              <a:spcAft>
                <a:spcPts val="0"/>
              </a:spcAft>
              <a:defRPr sz="1500" b="0">
                <a:solidFill>
                  <a:srgbClr val="BAA9CB"/>
                </a:solidFill>
                <a:latin typeface="IBM Plex Sans"/>
              </a:defRPr>
            </a:pPr>
            <a:r>
              <a:t>deployment</a:t>
            </a:r>
          </a:p>
        </p:txBody>
      </p:sp>
      <p:sp>
        <p:nvSpPr>
          <p:cNvPr id="20" name="Rectangle 19"/>
          <p:cNvSpPr/>
          <p:nvPr/>
        </p:nvSpPr>
        <p:spPr>
          <a:xfrm>
            <a:off x="502920" y="3566160"/>
            <a:ext cx="11183112" cy="53949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639312"/>
            <a:ext cx="3163824"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a:defRPr>
            </a:pPr>
            <a:r>
              <a:t>Signal and replay</a:t>
            </a:r>
          </a:p>
        </p:txBody>
      </p:sp>
      <p:sp>
        <p:nvSpPr>
          <p:cNvPr id="22" name="TextBox 21"/>
          <p:cNvSpPr txBox="1"/>
          <p:nvPr/>
        </p:nvSpPr>
        <p:spPr>
          <a:xfrm>
            <a:off x="4096512" y="3639312"/>
            <a:ext cx="3904487"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Bounded reads / 3 files replayed</a:t>
            </a:r>
          </a:p>
        </p:txBody>
      </p:sp>
      <p:sp>
        <p:nvSpPr>
          <p:cNvPr id="23" name="TextBox 22"/>
          <p:cNvSpPr txBox="1"/>
          <p:nvPr/>
        </p:nvSpPr>
        <p:spPr>
          <a:xfrm>
            <a:off x="8275320" y="3639312"/>
            <a:ext cx="3136392"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Verified live timing and mapping</a:t>
            </a:r>
          </a:p>
        </p:txBody>
      </p:sp>
      <p:sp>
        <p:nvSpPr>
          <p:cNvPr id="24" name="TextBox 23"/>
          <p:cNvSpPr txBox="1"/>
          <p:nvPr/>
        </p:nvSpPr>
        <p:spPr>
          <a:xfrm>
            <a:off x="694944" y="4197096"/>
            <a:ext cx="3163824"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a:defRPr>
            </a:pPr>
            <a:r>
              <a:t>Discovery</a:t>
            </a:r>
          </a:p>
        </p:txBody>
      </p:sp>
      <p:sp>
        <p:nvSpPr>
          <p:cNvPr id="25" name="TextBox 24"/>
          <p:cNvSpPr txBox="1"/>
          <p:nvPr/>
        </p:nvSpPr>
        <p:spPr>
          <a:xfrm>
            <a:off x="4096512" y="4197096"/>
            <a:ext cx="3904487"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240 feature rows / repeatable resume</a:t>
            </a:r>
          </a:p>
        </p:txBody>
      </p:sp>
      <p:sp>
        <p:nvSpPr>
          <p:cNvPr id="26" name="TextBox 25"/>
          <p:cNvSpPr txBox="1"/>
          <p:nvPr/>
        </p:nvSpPr>
        <p:spPr>
          <a:xfrm>
            <a:off x="8275320" y="4197096"/>
            <a:ext cx="3136392"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Broader seasonal data</a:t>
            </a:r>
          </a:p>
        </p:txBody>
      </p:sp>
      <p:sp>
        <p:nvSpPr>
          <p:cNvPr id="27" name="Rectangle 26"/>
          <p:cNvSpPr/>
          <p:nvPr/>
        </p:nvSpPr>
        <p:spPr>
          <a:xfrm>
            <a:off x="502920" y="4681728"/>
            <a:ext cx="11183112" cy="53949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4754880"/>
            <a:ext cx="3163824"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a:defRPr>
            </a:pPr>
            <a:r>
              <a:t>Four-class baseline</a:t>
            </a:r>
          </a:p>
        </p:txBody>
      </p:sp>
      <p:sp>
        <p:nvSpPr>
          <p:cNvPr id="29" name="TextBox 28"/>
          <p:cNvSpPr txBox="1"/>
          <p:nvPr/>
        </p:nvSpPr>
        <p:spPr>
          <a:xfrm>
            <a:off x="4096512" y="4754880"/>
            <a:ext cx="3904487"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Training + grouped evaluation code</a:t>
            </a:r>
          </a:p>
        </p:txBody>
      </p:sp>
      <p:sp>
        <p:nvSpPr>
          <p:cNvPr id="30" name="TextBox 29"/>
          <p:cNvSpPr txBox="1"/>
          <p:nvPr/>
        </p:nvSpPr>
        <p:spPr>
          <a:xfrm>
            <a:off x="8275320" y="4754880"/>
            <a:ext cx="3136392"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Labels and held-out field results</a:t>
            </a:r>
          </a:p>
        </p:txBody>
      </p:sp>
      <p:sp>
        <p:nvSpPr>
          <p:cNvPr id="31" name="TextBox 30"/>
          <p:cNvSpPr txBox="1"/>
          <p:nvPr/>
        </p:nvSpPr>
        <p:spPr>
          <a:xfrm>
            <a:off x="704088" y="5504688"/>
            <a:ext cx="108813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RECORDED LOCAL CHECKS: 58 PYTHON TESTS + FRONTEND BUILD + BROWSER REVIEW CHECKS</a:t>
            </a:r>
          </a:p>
        </p:txBody>
      </p:sp>
      <p:sp>
        <p:nvSpPr>
          <p:cNvPr id="32" name="Rectangle 31"/>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The next milestone is a controlled field pilot with measurable acceptance criteria.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12 / PROPOSED ROADMAP</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Advance through evidence gates, then expand deployment</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Sequence proposed for planning; durations, owners and budget require project agreement.</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PROPOSAL / grounded in the documented project limitations and deployment prerequisites</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13</a:t>
            </a:r>
          </a:p>
        </p:txBody>
      </p:sp>
      <p:sp>
        <p:nvSpPr>
          <p:cNvPr id="10" name="Rectangle 9"/>
          <p:cNvSpPr/>
          <p:nvPr/>
        </p:nvSpPr>
        <p:spPr>
          <a:xfrm>
            <a:off x="502920" y="2103120"/>
            <a:ext cx="2651760" cy="323697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103120"/>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GATE 1</a:t>
            </a:r>
          </a:p>
        </p:txBody>
      </p:sp>
      <p:sp>
        <p:nvSpPr>
          <p:cNvPr id="13" name="TextBox 12"/>
          <p:cNvSpPr txBox="1"/>
          <p:nvPr/>
        </p:nvSpPr>
        <p:spPr>
          <a:xfrm>
            <a:off x="685800" y="2624327"/>
            <a:ext cx="228600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Trust the data</a:t>
            </a:r>
          </a:p>
        </p:txBody>
      </p:sp>
      <p:sp>
        <p:nvSpPr>
          <p:cNvPr id="14" name="TextBox 13"/>
          <p:cNvSpPr txBox="1"/>
          <p:nvPr/>
        </p:nvSpPr>
        <p:spPr>
          <a:xfrm>
            <a:off x="685800" y="3191764"/>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Verify acquisition time,</a:t>
            </a:r>
          </a:p>
          <a:p>
            <a:pPr>
              <a:lnSpc>
                <a:spcPts val="2074"/>
              </a:lnSpc>
              <a:spcBef>
                <a:spcPts val="0"/>
              </a:spcBef>
              <a:spcAft>
                <a:spcPts val="0"/>
              </a:spcAft>
              <a:defRPr sz="1700" b="0">
                <a:solidFill>
                  <a:srgbClr val="BAA9CB"/>
                </a:solidFill>
                <a:latin typeface="IBM Plex Sans"/>
              </a:defRPr>
            </a:pPr>
            <a:r>
              <a:t>channel mapping and</a:t>
            </a:r>
          </a:p>
          <a:p>
            <a:pPr>
              <a:lnSpc>
                <a:spcPts val="2074"/>
              </a:lnSpc>
              <a:spcBef>
                <a:spcPts val="0"/>
              </a:spcBef>
              <a:spcAft>
                <a:spcPts val="0"/>
              </a:spcAft>
              <a:defRPr sz="1700" b="0">
                <a:solidFill>
                  <a:srgbClr val="BAA9CB"/>
                </a:solidFill>
                <a:latin typeface="IBM Plex Sans"/>
              </a:defRPr>
            </a:pPr>
            <a:r>
              <a:t>preprocessing.</a:t>
            </a:r>
          </a:p>
        </p:txBody>
      </p:sp>
      <p:cxnSp>
        <p:nvCxnSpPr>
          <p:cNvPr id="15" name="Connector 14"/>
          <p:cNvCxnSpPr/>
          <p:nvPr/>
        </p:nvCxnSpPr>
        <p:spPr>
          <a:xfrm>
            <a:off x="685800" y="4416552"/>
            <a:ext cx="2286000"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85800" y="4608576"/>
            <a:ext cx="2276856" cy="528828"/>
          </a:xfrm>
          <a:prstGeom prst="rect">
            <a:avLst/>
          </a:prstGeom>
          <a:noFill/>
        </p:spPr>
        <p:txBody>
          <a:bodyPr wrap="none" lIns="0" rIns="0" tIns="0" bIns="0">
            <a:spAutoFit/>
          </a:bodyPr>
          <a:lstStyle/>
          <a:p>
            <a:pPr>
              <a:lnSpc>
                <a:spcPts val="1830"/>
              </a:lnSpc>
              <a:spcBef>
                <a:spcPts val="0"/>
              </a:spcBef>
              <a:spcAft>
                <a:spcPts val="0"/>
              </a:spcAft>
              <a:defRPr sz="1500" b="1">
                <a:solidFill>
                  <a:srgbClr val="CFADF0"/>
                </a:solidFill>
                <a:latin typeface="IBM Plex Sans"/>
              </a:defRPr>
            </a:pPr>
            <a:r>
              <a:t>Exit: traceable reference</a:t>
            </a:r>
          </a:p>
          <a:p>
            <a:pPr>
              <a:lnSpc>
                <a:spcPts val="1830"/>
              </a:lnSpc>
              <a:spcBef>
                <a:spcPts val="0"/>
              </a:spcBef>
              <a:spcAft>
                <a:spcPts val="0"/>
              </a:spcAft>
              <a:defRPr sz="1500" b="1">
                <a:solidFill>
                  <a:srgbClr val="CFADF0"/>
                </a:solidFill>
                <a:latin typeface="IBM Plex Sans"/>
              </a:defRPr>
            </a:pPr>
            <a:r>
              <a:t>windows</a:t>
            </a:r>
          </a:p>
        </p:txBody>
      </p:sp>
      <p:sp>
        <p:nvSpPr>
          <p:cNvPr id="17" name="Rectangle 16"/>
          <p:cNvSpPr/>
          <p:nvPr/>
        </p:nvSpPr>
        <p:spPr>
          <a:xfrm>
            <a:off x="3346704" y="2103120"/>
            <a:ext cx="2651760" cy="323697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46704" y="2103120"/>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9584"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GATE 2</a:t>
            </a:r>
          </a:p>
        </p:txBody>
      </p:sp>
      <p:sp>
        <p:nvSpPr>
          <p:cNvPr id="20" name="TextBox 19"/>
          <p:cNvSpPr txBox="1"/>
          <p:nvPr/>
        </p:nvSpPr>
        <p:spPr>
          <a:xfrm>
            <a:off x="3529584" y="2624327"/>
            <a:ext cx="2286000" cy="869695"/>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Build ground</a:t>
            </a:r>
          </a:p>
          <a:p>
            <a:pPr>
              <a:lnSpc>
                <a:spcPts val="3172"/>
              </a:lnSpc>
              <a:spcBef>
                <a:spcPts val="0"/>
              </a:spcBef>
              <a:spcAft>
                <a:spcPts val="0"/>
              </a:spcAft>
              <a:defRPr sz="2600" b="1">
                <a:solidFill>
                  <a:srgbClr val="F6F0FC"/>
                </a:solidFill>
                <a:latin typeface="IBM Plex Sans Condensed"/>
              </a:defRPr>
            </a:pPr>
            <a:r>
              <a:t>truth</a:t>
            </a:r>
          </a:p>
        </p:txBody>
      </p:sp>
      <p:sp>
        <p:nvSpPr>
          <p:cNvPr id="21" name="TextBox 20"/>
          <p:cNvSpPr txBox="1"/>
          <p:nvPr/>
        </p:nvSpPr>
        <p:spPr>
          <a:xfrm>
            <a:off x="3529584" y="3594608"/>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Collect field labels,</a:t>
            </a:r>
          </a:p>
          <a:p>
            <a:pPr>
              <a:lnSpc>
                <a:spcPts val="2074"/>
              </a:lnSpc>
              <a:spcBef>
                <a:spcPts val="0"/>
              </a:spcBef>
              <a:spcAft>
                <a:spcPts val="0"/>
              </a:spcAft>
              <a:defRPr sz="1700" b="0">
                <a:solidFill>
                  <a:srgbClr val="BAA9CB"/>
                </a:solidFill>
                <a:latin typeface="IBM Plex Sans"/>
              </a:defRPr>
            </a:pPr>
            <a:r>
              <a:t>normal baselines and</a:t>
            </a:r>
          </a:p>
          <a:p>
            <a:pPr>
              <a:lnSpc>
                <a:spcPts val="2074"/>
              </a:lnSpc>
              <a:spcBef>
                <a:spcPts val="0"/>
              </a:spcBef>
              <a:spcAft>
                <a:spcPts val="0"/>
              </a:spcAft>
              <a:defRPr sz="1700" b="0">
                <a:solidFill>
                  <a:srgbClr val="BAA9CB"/>
                </a:solidFill>
                <a:latin typeface="IBM Plex Sans"/>
              </a:defRPr>
            </a:pPr>
            <a:r>
              <a:t>richer weather context.</a:t>
            </a:r>
          </a:p>
        </p:txBody>
      </p:sp>
      <p:cxnSp>
        <p:nvCxnSpPr>
          <p:cNvPr id="22" name="Connector 21"/>
          <p:cNvCxnSpPr/>
          <p:nvPr/>
        </p:nvCxnSpPr>
        <p:spPr>
          <a:xfrm>
            <a:off x="3529584" y="4416552"/>
            <a:ext cx="2286000"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529584" y="4608576"/>
            <a:ext cx="2276856" cy="528828"/>
          </a:xfrm>
          <a:prstGeom prst="rect">
            <a:avLst/>
          </a:prstGeom>
          <a:noFill/>
        </p:spPr>
        <p:txBody>
          <a:bodyPr wrap="none" lIns="0" rIns="0" tIns="0" bIns="0">
            <a:spAutoFit/>
          </a:bodyPr>
          <a:lstStyle/>
          <a:p>
            <a:pPr>
              <a:lnSpc>
                <a:spcPts val="1830"/>
              </a:lnSpc>
              <a:spcBef>
                <a:spcPts val="0"/>
              </a:spcBef>
              <a:spcAft>
                <a:spcPts val="0"/>
              </a:spcAft>
              <a:defRPr sz="1500" b="1">
                <a:solidFill>
                  <a:srgbClr val="CFADF0"/>
                </a:solidFill>
                <a:latin typeface="IBM Plex Sans"/>
              </a:defRPr>
            </a:pPr>
            <a:r>
              <a:t>Exit: reviewed, grouped</a:t>
            </a:r>
          </a:p>
          <a:p>
            <a:pPr>
              <a:lnSpc>
                <a:spcPts val="1830"/>
              </a:lnSpc>
              <a:spcBef>
                <a:spcPts val="0"/>
              </a:spcBef>
              <a:spcAft>
                <a:spcPts val="0"/>
              </a:spcAft>
              <a:defRPr sz="1500" b="1">
                <a:solidFill>
                  <a:srgbClr val="CFADF0"/>
                </a:solidFill>
                <a:latin typeface="IBM Plex Sans"/>
              </a:defRPr>
            </a:pPr>
            <a:r>
              <a:t>dataset</a:t>
            </a:r>
          </a:p>
        </p:txBody>
      </p:sp>
      <p:sp>
        <p:nvSpPr>
          <p:cNvPr id="24" name="Rectangle 23"/>
          <p:cNvSpPr/>
          <p:nvPr/>
        </p:nvSpPr>
        <p:spPr>
          <a:xfrm>
            <a:off x="6190488" y="2103120"/>
            <a:ext cx="2651760" cy="323697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90488" y="2103120"/>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3368"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GATE 3</a:t>
            </a:r>
          </a:p>
        </p:txBody>
      </p:sp>
      <p:sp>
        <p:nvSpPr>
          <p:cNvPr id="27" name="TextBox 26"/>
          <p:cNvSpPr txBox="1"/>
          <p:nvPr/>
        </p:nvSpPr>
        <p:spPr>
          <a:xfrm>
            <a:off x="6373368" y="2624327"/>
            <a:ext cx="228600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Prove detection</a:t>
            </a:r>
          </a:p>
        </p:txBody>
      </p:sp>
      <p:sp>
        <p:nvSpPr>
          <p:cNvPr id="28" name="TextBox 27"/>
          <p:cNvSpPr txBox="1"/>
          <p:nvPr/>
        </p:nvSpPr>
        <p:spPr>
          <a:xfrm>
            <a:off x="6373368" y="3191764"/>
            <a:ext cx="2286000" cy="1117600"/>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Evaluate held-out</a:t>
            </a:r>
          </a:p>
          <a:p>
            <a:pPr>
              <a:lnSpc>
                <a:spcPts val="2074"/>
              </a:lnSpc>
              <a:spcBef>
                <a:spcPts val="0"/>
              </a:spcBef>
              <a:spcAft>
                <a:spcPts val="0"/>
              </a:spcAft>
              <a:defRPr sz="1700" b="0">
                <a:solidFill>
                  <a:srgbClr val="BAA9CB"/>
                </a:solidFill>
                <a:latin typeface="IBM Plex Sans"/>
              </a:defRPr>
            </a:pPr>
            <a:r>
              <a:t>incidents; calibrate</a:t>
            </a:r>
          </a:p>
          <a:p>
            <a:pPr>
              <a:lnSpc>
                <a:spcPts val="2074"/>
              </a:lnSpc>
              <a:spcBef>
                <a:spcPts val="0"/>
              </a:spcBef>
              <a:spcAft>
                <a:spcPts val="0"/>
              </a:spcAft>
              <a:defRPr sz="1700" b="0">
                <a:solidFill>
                  <a:srgbClr val="BAA9CB"/>
                </a:solidFill>
                <a:latin typeface="IBM Plex Sans"/>
              </a:defRPr>
            </a:pPr>
            <a:r>
              <a:t>thresholds and</a:t>
            </a:r>
          </a:p>
          <a:p>
            <a:pPr>
              <a:lnSpc>
                <a:spcPts val="2074"/>
              </a:lnSpc>
              <a:spcBef>
                <a:spcPts val="0"/>
              </a:spcBef>
              <a:spcAft>
                <a:spcPts val="0"/>
              </a:spcAft>
              <a:defRPr sz="1700" b="0">
                <a:solidFill>
                  <a:srgbClr val="BAA9CB"/>
                </a:solidFill>
                <a:latin typeface="IBM Plex Sans"/>
              </a:defRPr>
            </a:pPr>
            <a:r>
              <a:t>confidence.</a:t>
            </a:r>
          </a:p>
        </p:txBody>
      </p:sp>
      <p:cxnSp>
        <p:nvCxnSpPr>
          <p:cNvPr id="29" name="Connector 28"/>
          <p:cNvCxnSpPr/>
          <p:nvPr/>
        </p:nvCxnSpPr>
        <p:spPr>
          <a:xfrm>
            <a:off x="6373368" y="4416552"/>
            <a:ext cx="2285999"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73368" y="4608576"/>
            <a:ext cx="2276856" cy="528828"/>
          </a:xfrm>
          <a:prstGeom prst="rect">
            <a:avLst/>
          </a:prstGeom>
          <a:noFill/>
        </p:spPr>
        <p:txBody>
          <a:bodyPr wrap="none" lIns="0" rIns="0" tIns="0" bIns="0">
            <a:spAutoFit/>
          </a:bodyPr>
          <a:lstStyle/>
          <a:p>
            <a:pPr>
              <a:lnSpc>
                <a:spcPts val="1830"/>
              </a:lnSpc>
              <a:spcBef>
                <a:spcPts val="0"/>
              </a:spcBef>
              <a:spcAft>
                <a:spcPts val="0"/>
              </a:spcAft>
              <a:defRPr sz="1500" b="1">
                <a:solidFill>
                  <a:srgbClr val="CFADF0"/>
                </a:solidFill>
                <a:latin typeface="IBM Plex Sans"/>
              </a:defRPr>
            </a:pPr>
            <a:r>
              <a:t>Exit: agreed</a:t>
            </a:r>
          </a:p>
          <a:p>
            <a:pPr>
              <a:lnSpc>
                <a:spcPts val="1830"/>
              </a:lnSpc>
              <a:spcBef>
                <a:spcPts val="0"/>
              </a:spcBef>
              <a:spcAft>
                <a:spcPts val="0"/>
              </a:spcAft>
              <a:defRPr sz="1500" b="1">
                <a:solidFill>
                  <a:srgbClr val="CFADF0"/>
                </a:solidFill>
                <a:latin typeface="IBM Plex Sans"/>
              </a:defRPr>
            </a:pPr>
            <a:r>
              <a:t>performance achieved</a:t>
            </a:r>
          </a:p>
        </p:txBody>
      </p:sp>
      <p:sp>
        <p:nvSpPr>
          <p:cNvPr id="31" name="Rectangle 30"/>
          <p:cNvSpPr/>
          <p:nvPr/>
        </p:nvSpPr>
        <p:spPr>
          <a:xfrm>
            <a:off x="9034272" y="2103120"/>
            <a:ext cx="2651760" cy="323697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034272" y="2103120"/>
            <a:ext cx="265176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17152" y="2286000"/>
            <a:ext cx="228600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GATE 4</a:t>
            </a:r>
          </a:p>
        </p:txBody>
      </p:sp>
      <p:sp>
        <p:nvSpPr>
          <p:cNvPr id="34" name="TextBox 33"/>
          <p:cNvSpPr txBox="1"/>
          <p:nvPr/>
        </p:nvSpPr>
        <p:spPr>
          <a:xfrm>
            <a:off x="9217152" y="2624327"/>
            <a:ext cx="228600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Pilot operations</a:t>
            </a:r>
          </a:p>
        </p:txBody>
      </p:sp>
      <p:sp>
        <p:nvSpPr>
          <p:cNvPr id="35" name="TextBox 34"/>
          <p:cNvSpPr txBox="1"/>
          <p:nvPr/>
        </p:nvSpPr>
        <p:spPr>
          <a:xfrm>
            <a:off x="9217152" y="3191764"/>
            <a:ext cx="228600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Run shadow alerts,</a:t>
            </a:r>
          </a:p>
          <a:p>
            <a:pPr>
              <a:lnSpc>
                <a:spcPts val="2074"/>
              </a:lnSpc>
              <a:spcBef>
                <a:spcPts val="0"/>
              </a:spcBef>
              <a:spcAft>
                <a:spcPts val="0"/>
              </a:spcAft>
              <a:defRPr sz="1700" b="0">
                <a:solidFill>
                  <a:srgbClr val="BAA9CB"/>
                </a:solidFill>
                <a:latin typeface="IBM Plex Sans"/>
              </a:defRPr>
            </a:pPr>
            <a:r>
              <a:t>measure workload and</a:t>
            </a:r>
          </a:p>
          <a:p>
            <a:pPr>
              <a:lnSpc>
                <a:spcPts val="2074"/>
              </a:lnSpc>
              <a:spcBef>
                <a:spcPts val="0"/>
              </a:spcBef>
              <a:spcAft>
                <a:spcPts val="0"/>
              </a:spcAft>
              <a:defRPr sz="1700" b="0">
                <a:solidFill>
                  <a:srgbClr val="BAA9CB"/>
                </a:solidFill>
                <a:latin typeface="IBM Plex Sans"/>
              </a:defRPr>
            </a:pPr>
            <a:r>
              <a:t>harden deployment.</a:t>
            </a:r>
          </a:p>
        </p:txBody>
      </p:sp>
      <p:cxnSp>
        <p:nvCxnSpPr>
          <p:cNvPr id="36" name="Connector 35"/>
          <p:cNvCxnSpPr/>
          <p:nvPr/>
        </p:nvCxnSpPr>
        <p:spPr>
          <a:xfrm>
            <a:off x="9217152" y="4416552"/>
            <a:ext cx="2286000"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217152" y="4608576"/>
            <a:ext cx="2276856" cy="528828"/>
          </a:xfrm>
          <a:prstGeom prst="rect">
            <a:avLst/>
          </a:prstGeom>
          <a:noFill/>
        </p:spPr>
        <p:txBody>
          <a:bodyPr wrap="none" lIns="0" rIns="0" tIns="0" bIns="0">
            <a:spAutoFit/>
          </a:bodyPr>
          <a:lstStyle/>
          <a:p>
            <a:pPr>
              <a:lnSpc>
                <a:spcPts val="1830"/>
              </a:lnSpc>
              <a:spcBef>
                <a:spcPts val="0"/>
              </a:spcBef>
              <a:spcAft>
                <a:spcPts val="0"/>
              </a:spcAft>
              <a:defRPr sz="1500" b="1">
                <a:solidFill>
                  <a:srgbClr val="CFADF0"/>
                </a:solidFill>
                <a:latin typeface="IBM Plex Sans"/>
              </a:defRPr>
            </a:pPr>
            <a:r>
              <a:t>Exit: operator</a:t>
            </a:r>
          </a:p>
          <a:p>
            <a:pPr>
              <a:lnSpc>
                <a:spcPts val="1830"/>
              </a:lnSpc>
              <a:spcBef>
                <a:spcPts val="0"/>
              </a:spcBef>
              <a:spcAft>
                <a:spcPts val="0"/>
              </a:spcAft>
              <a:defRPr sz="1500" b="1">
                <a:solidFill>
                  <a:srgbClr val="CFADF0"/>
                </a:solidFill>
                <a:latin typeface="IBM Plex Sans"/>
              </a:defRPr>
            </a:pPr>
            <a:r>
              <a:t>acceptance</a:t>
            </a:r>
          </a:p>
        </p:txBody>
      </p:sp>
      <p:sp>
        <p:nvSpPr>
          <p:cNvPr id="38" name="Rectangle 37"/>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Protect the evidence chain first; expand sites, seasons and automation only after acceptance gates pass.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13 / PROPOSED ACCEPTANCE SCORECARD</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Measure detection quality and operational usefulness</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Agree numerical targets before the pilot; the project does not yet have validated operating thresholds.</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PROPOSAL / validation plan; no performance results or target commitments implied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14</a:t>
            </a:r>
          </a:p>
        </p:txBody>
      </p:sp>
      <p:sp>
        <p:nvSpPr>
          <p:cNvPr id="10" name="TextBox 9"/>
          <p:cNvSpPr txBox="1"/>
          <p:nvPr/>
        </p:nvSpPr>
        <p:spPr>
          <a:xfrm>
            <a:off x="694944" y="2075688"/>
            <a:ext cx="24231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MEASURE</a:t>
            </a:r>
          </a:p>
        </p:txBody>
      </p:sp>
      <p:sp>
        <p:nvSpPr>
          <p:cNvPr id="11" name="TextBox 10"/>
          <p:cNvSpPr txBox="1"/>
          <p:nvPr/>
        </p:nvSpPr>
        <p:spPr>
          <a:xfrm>
            <a:off x="3273552" y="2075688"/>
            <a:ext cx="5276088"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PILOT EVIDENCE</a:t>
            </a:r>
          </a:p>
        </p:txBody>
      </p:sp>
      <p:sp>
        <p:nvSpPr>
          <p:cNvPr id="12" name="TextBox 11"/>
          <p:cNvSpPr txBox="1"/>
          <p:nvPr/>
        </p:nvSpPr>
        <p:spPr>
          <a:xfrm>
            <a:off x="8796528" y="2075688"/>
            <a:ext cx="269748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PROPOSED OWNER</a:t>
            </a:r>
          </a:p>
        </p:txBody>
      </p:sp>
      <p:sp>
        <p:nvSpPr>
          <p:cNvPr id="13" name="Rectangle 12"/>
          <p:cNvSpPr/>
          <p:nvPr/>
        </p:nvSpPr>
        <p:spPr>
          <a:xfrm>
            <a:off x="502920" y="2496312"/>
            <a:ext cx="11183112" cy="5943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587752"/>
            <a:ext cx="237744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F6F0FC"/>
                </a:solidFill>
                <a:latin typeface="IBM Plex Sans Condensed"/>
              </a:defRPr>
            </a:pPr>
            <a:r>
              <a:t>Data integrity</a:t>
            </a:r>
          </a:p>
        </p:txBody>
      </p:sp>
      <p:sp>
        <p:nvSpPr>
          <p:cNvPr id="15" name="TextBox 14"/>
          <p:cNvSpPr txBox="1"/>
          <p:nvPr/>
        </p:nvSpPr>
        <p:spPr>
          <a:xfrm>
            <a:off x="3273552" y="2569464"/>
            <a:ext cx="5230368"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Verified timestamps, channel coverage, missing-data</a:t>
            </a:r>
          </a:p>
          <a:p>
            <a:pPr>
              <a:lnSpc>
                <a:spcPts val="1952"/>
              </a:lnSpc>
              <a:spcBef>
                <a:spcPts val="0"/>
              </a:spcBef>
              <a:spcAft>
                <a:spcPts val="0"/>
              </a:spcAft>
              <a:defRPr sz="1600" b="0">
                <a:solidFill>
                  <a:srgbClr val="BAA9CB"/>
                </a:solidFill>
                <a:latin typeface="IBM Plex Sans"/>
              </a:defRPr>
            </a:pPr>
            <a:r>
              <a:t>rate</a:t>
            </a:r>
          </a:p>
        </p:txBody>
      </p:sp>
      <p:sp>
        <p:nvSpPr>
          <p:cNvPr id="16" name="TextBox 15"/>
          <p:cNvSpPr txBox="1"/>
          <p:nvPr/>
        </p:nvSpPr>
        <p:spPr>
          <a:xfrm>
            <a:off x="8796528" y="2569464"/>
            <a:ext cx="2651760"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Acquisition + data owner</a:t>
            </a:r>
          </a:p>
        </p:txBody>
      </p:sp>
      <p:sp>
        <p:nvSpPr>
          <p:cNvPr id="17" name="TextBox 16"/>
          <p:cNvSpPr txBox="1"/>
          <p:nvPr/>
        </p:nvSpPr>
        <p:spPr>
          <a:xfrm>
            <a:off x="694944" y="3191256"/>
            <a:ext cx="237744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F6F0FC"/>
                </a:solidFill>
                <a:latin typeface="IBM Plex Sans Condensed"/>
              </a:defRPr>
            </a:pPr>
            <a:r>
              <a:t>Event quality</a:t>
            </a:r>
          </a:p>
        </p:txBody>
      </p:sp>
      <p:sp>
        <p:nvSpPr>
          <p:cNvPr id="18" name="TextBox 17"/>
          <p:cNvSpPr txBox="1"/>
          <p:nvPr/>
        </p:nvSpPr>
        <p:spPr>
          <a:xfrm>
            <a:off x="3273552" y="3172968"/>
            <a:ext cx="5230368"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Per-class precision / recall; false alerts per route-day</a:t>
            </a:r>
          </a:p>
        </p:txBody>
      </p:sp>
      <p:sp>
        <p:nvSpPr>
          <p:cNvPr id="19" name="TextBox 18"/>
          <p:cNvSpPr txBox="1"/>
          <p:nvPr/>
        </p:nvSpPr>
        <p:spPr>
          <a:xfrm>
            <a:off x="8796528" y="3172968"/>
            <a:ext cx="2651760"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Analytics + domain reviewer</a:t>
            </a:r>
          </a:p>
        </p:txBody>
      </p:sp>
      <p:sp>
        <p:nvSpPr>
          <p:cNvPr id="20" name="Rectangle 19"/>
          <p:cNvSpPr/>
          <p:nvPr/>
        </p:nvSpPr>
        <p:spPr>
          <a:xfrm>
            <a:off x="502920" y="3703320"/>
            <a:ext cx="11183112" cy="5943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3794759"/>
            <a:ext cx="237744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F6F0FC"/>
                </a:solidFill>
                <a:latin typeface="IBM Plex Sans Condensed"/>
              </a:defRPr>
            </a:pPr>
            <a:r>
              <a:t>Location and latency</a:t>
            </a:r>
          </a:p>
        </p:txBody>
      </p:sp>
      <p:sp>
        <p:nvSpPr>
          <p:cNvPr id="22" name="TextBox 21"/>
          <p:cNvSpPr txBox="1"/>
          <p:nvPr/>
        </p:nvSpPr>
        <p:spPr>
          <a:xfrm>
            <a:off x="3273552" y="3776472"/>
            <a:ext cx="5230368" cy="311912"/>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Error against verified location; acquisition-to-alert delay</a:t>
            </a:r>
          </a:p>
        </p:txBody>
      </p:sp>
      <p:sp>
        <p:nvSpPr>
          <p:cNvPr id="23" name="TextBox 22"/>
          <p:cNvSpPr txBox="1"/>
          <p:nvPr/>
        </p:nvSpPr>
        <p:spPr>
          <a:xfrm>
            <a:off x="8796528" y="3776472"/>
            <a:ext cx="2651760"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Field + platform owner</a:t>
            </a:r>
          </a:p>
        </p:txBody>
      </p:sp>
      <p:sp>
        <p:nvSpPr>
          <p:cNvPr id="24" name="TextBox 23"/>
          <p:cNvSpPr txBox="1"/>
          <p:nvPr/>
        </p:nvSpPr>
        <p:spPr>
          <a:xfrm>
            <a:off x="694944" y="4398264"/>
            <a:ext cx="237744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F6F0FC"/>
                </a:solidFill>
                <a:latin typeface="IBM Plex Sans Condensed"/>
              </a:defRPr>
            </a:pPr>
            <a:r>
              <a:t>Operational value</a:t>
            </a:r>
          </a:p>
        </p:txBody>
      </p:sp>
      <p:sp>
        <p:nvSpPr>
          <p:cNvPr id="25" name="TextBox 24"/>
          <p:cNvSpPr txBox="1"/>
          <p:nvPr/>
        </p:nvSpPr>
        <p:spPr>
          <a:xfrm>
            <a:off x="3273552" y="4379976"/>
            <a:ext cx="5230368"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Review time, actionable findings, missed confirmed</a:t>
            </a:r>
          </a:p>
          <a:p>
            <a:pPr>
              <a:lnSpc>
                <a:spcPts val="1952"/>
              </a:lnSpc>
              <a:spcBef>
                <a:spcPts val="0"/>
              </a:spcBef>
              <a:spcAft>
                <a:spcPts val="0"/>
              </a:spcAft>
              <a:defRPr sz="1600" b="0">
                <a:solidFill>
                  <a:srgbClr val="BAA9CB"/>
                </a:solidFill>
                <a:latin typeface="IBM Plex Sans"/>
              </a:defRPr>
            </a:pPr>
            <a:r>
              <a:t>incidents</a:t>
            </a:r>
          </a:p>
        </p:txBody>
      </p:sp>
      <p:sp>
        <p:nvSpPr>
          <p:cNvPr id="26" name="TextBox 25"/>
          <p:cNvSpPr txBox="1"/>
          <p:nvPr/>
        </p:nvSpPr>
        <p:spPr>
          <a:xfrm>
            <a:off x="8796528" y="4379976"/>
            <a:ext cx="2651760"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Operations owner</a:t>
            </a:r>
          </a:p>
        </p:txBody>
      </p:sp>
      <p:sp>
        <p:nvSpPr>
          <p:cNvPr id="27" name="Rectangle 26"/>
          <p:cNvSpPr/>
          <p:nvPr/>
        </p:nvSpPr>
        <p:spPr>
          <a:xfrm>
            <a:off x="502920" y="4910328"/>
            <a:ext cx="11183112" cy="5943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5001768"/>
            <a:ext cx="2377440" cy="342900"/>
          </a:xfrm>
          <a:prstGeom prst="rect">
            <a:avLst/>
          </a:prstGeom>
          <a:noFill/>
        </p:spPr>
        <p:txBody>
          <a:bodyPr wrap="none" lIns="0" rIns="0" tIns="0" bIns="0">
            <a:spAutoFit/>
          </a:bodyPr>
          <a:lstStyle/>
          <a:p>
            <a:pPr>
              <a:lnSpc>
                <a:spcPts val="2196"/>
              </a:lnSpc>
              <a:spcBef>
                <a:spcPts val="0"/>
              </a:spcBef>
              <a:spcAft>
                <a:spcPts val="0"/>
              </a:spcAft>
              <a:defRPr sz="1800" b="1">
                <a:solidFill>
                  <a:srgbClr val="F6F0FC"/>
                </a:solidFill>
                <a:latin typeface="IBM Plex Sans Condensed"/>
              </a:defRPr>
            </a:pPr>
            <a:r>
              <a:t>Robustness</a:t>
            </a:r>
          </a:p>
        </p:txBody>
      </p:sp>
      <p:sp>
        <p:nvSpPr>
          <p:cNvPr id="29" name="TextBox 28"/>
          <p:cNvSpPr txBox="1"/>
          <p:nvPr/>
        </p:nvSpPr>
        <p:spPr>
          <a:xfrm>
            <a:off x="3273552" y="4983480"/>
            <a:ext cx="5230368" cy="559816"/>
          </a:xfrm>
          <a:prstGeom prst="rect">
            <a:avLst/>
          </a:prstGeom>
          <a:noFill/>
        </p:spPr>
        <p:txBody>
          <a:bodyPr wrap="none" lIns="0" rIns="0" tIns="0" bIns="0">
            <a:spAutoFit/>
          </a:bodyPr>
          <a:lstStyle/>
          <a:p>
            <a:pPr>
              <a:lnSpc>
                <a:spcPts val="1952"/>
              </a:lnSpc>
              <a:spcBef>
                <a:spcPts val="0"/>
              </a:spcBef>
              <a:spcAft>
                <a:spcPts val="0"/>
              </a:spcAft>
              <a:defRPr sz="1600" b="0">
                <a:solidFill>
                  <a:srgbClr val="BAA9CB"/>
                </a:solidFill>
                <a:latin typeface="IBM Plex Sans"/>
              </a:defRPr>
            </a:pPr>
            <a:r>
              <a:t>Performance across sites, seasons and configuration</a:t>
            </a:r>
          </a:p>
          <a:p>
            <a:pPr>
              <a:lnSpc>
                <a:spcPts val="1952"/>
              </a:lnSpc>
              <a:spcBef>
                <a:spcPts val="0"/>
              </a:spcBef>
              <a:spcAft>
                <a:spcPts val="0"/>
              </a:spcAft>
              <a:defRPr sz="1600" b="0">
                <a:solidFill>
                  <a:srgbClr val="BAA9CB"/>
                </a:solidFill>
                <a:latin typeface="IBM Plex Sans"/>
              </a:defRPr>
            </a:pPr>
            <a:r>
              <a:t>changes</a:t>
            </a:r>
          </a:p>
        </p:txBody>
      </p:sp>
      <p:sp>
        <p:nvSpPr>
          <p:cNvPr id="30" name="TextBox 29"/>
          <p:cNvSpPr txBox="1"/>
          <p:nvPr/>
        </p:nvSpPr>
        <p:spPr>
          <a:xfrm>
            <a:off x="8796528" y="4983480"/>
            <a:ext cx="2651760" cy="296418"/>
          </a:xfrm>
          <a:prstGeom prst="rect">
            <a:avLst/>
          </a:prstGeom>
          <a:noFill/>
        </p:spPr>
        <p:txBody>
          <a:bodyPr wrap="none" lIns="0" rIns="0" tIns="0" bIns="0">
            <a:spAutoFit/>
          </a:bodyPr>
          <a:lstStyle/>
          <a:p>
            <a:pPr>
              <a:lnSpc>
                <a:spcPts val="1830"/>
              </a:lnSpc>
              <a:spcBef>
                <a:spcPts val="0"/>
              </a:spcBef>
              <a:spcAft>
                <a:spcPts val="0"/>
              </a:spcAft>
              <a:defRPr sz="1500" b="0">
                <a:solidFill>
                  <a:srgbClr val="BAA9CB"/>
                </a:solidFill>
                <a:latin typeface="IBM Plex Sans"/>
              </a:defRPr>
            </a:pPr>
            <a:r>
              <a:t>Project acceptance team</a:t>
            </a:r>
          </a:p>
        </p:txBody>
      </p:sp>
      <p:sp>
        <p:nvSpPr>
          <p:cNvPr id="31" name="Rectangle 30"/>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Pilot success means trusted evidence and a manageable alert burden under representative field conditions.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14 / PRODUCTION PATH</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Prepare the platform for controlled operations</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A production pilot adds identity, reliability and incident handling around the existing evidence workflow.</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SOURCES / docs/map-app.md deployment boundary · docs/event-ml.md next steps; extensions proposed</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15</a:t>
            </a:r>
          </a:p>
        </p:txBody>
      </p:sp>
      <p:sp>
        <p:nvSpPr>
          <p:cNvPr id="10" name="Rectangle 9"/>
          <p:cNvSpPr/>
          <p:nvPr/>
        </p:nvSpPr>
        <p:spPr>
          <a:xfrm>
            <a:off x="502920" y="2066543"/>
            <a:ext cx="3602736" cy="2971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66543"/>
            <a:ext cx="360273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49424"/>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IDENTITY + GOVERNANCE</a:t>
            </a:r>
          </a:p>
        </p:txBody>
      </p:sp>
      <p:sp>
        <p:nvSpPr>
          <p:cNvPr id="13" name="TextBox 12"/>
          <p:cNvSpPr txBox="1"/>
          <p:nvPr/>
        </p:nvSpPr>
        <p:spPr>
          <a:xfrm>
            <a:off x="685800" y="2587751"/>
            <a:ext cx="3236976"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Accountable decisions</a:t>
            </a:r>
          </a:p>
        </p:txBody>
      </p:sp>
      <p:sp>
        <p:nvSpPr>
          <p:cNvPr id="14" name="TextBox 13"/>
          <p:cNvSpPr txBox="1"/>
          <p:nvPr/>
        </p:nvSpPr>
        <p:spPr>
          <a:xfrm>
            <a:off x="685800" y="3155188"/>
            <a:ext cx="3236976" cy="1380998"/>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Authenticated reviewers</a:t>
            </a:r>
          </a:p>
          <a:p>
            <a:pPr>
              <a:lnSpc>
                <a:spcPts val="2074"/>
              </a:lnSpc>
              <a:spcBef>
                <a:spcPts val="0"/>
              </a:spcBef>
              <a:spcAft>
                <a:spcPts val="0"/>
              </a:spcAft>
              <a:defRPr sz="1700" b="0">
                <a:solidFill>
                  <a:srgbClr val="BAA9CB"/>
                </a:solidFill>
                <a:latin typeface="IBM Plex Sans"/>
              </a:defRPr>
            </a:pPr>
            <a:r>
              <a:t>Restricted database access</a:t>
            </a:r>
          </a:p>
          <a:p>
            <a:pPr>
              <a:lnSpc>
                <a:spcPts val="2074"/>
              </a:lnSpc>
              <a:spcBef>
                <a:spcPts val="0"/>
              </a:spcBef>
              <a:spcAft>
                <a:spcPts val="0"/>
              </a:spcAft>
              <a:defRPr sz="1700" b="0">
                <a:solidFill>
                  <a:srgbClr val="BAA9CB"/>
                </a:solidFill>
                <a:latin typeface="IBM Plex Sans"/>
              </a:defRPr>
            </a:pPr>
            <a:r>
              <a:t>Reviewed schema migration</a:t>
            </a:r>
          </a:p>
          <a:p>
            <a:pPr>
              <a:lnSpc>
                <a:spcPts val="2074"/>
              </a:lnSpc>
              <a:spcBef>
                <a:spcPts val="0"/>
              </a:spcBef>
              <a:spcAft>
                <a:spcPts val="0"/>
              </a:spcAft>
              <a:defRPr sz="1700" b="0">
                <a:solidFill>
                  <a:srgbClr val="BAA9CB"/>
                </a:solidFill>
                <a:latin typeface="IBM Plex Sans"/>
              </a:defRPr>
            </a:pPr>
            <a:r>
              <a:t>Versioned models and</a:t>
            </a:r>
          </a:p>
          <a:p>
            <a:pPr>
              <a:lnSpc>
                <a:spcPts val="2074"/>
              </a:lnSpc>
              <a:spcBef>
                <a:spcPts val="0"/>
              </a:spcBef>
              <a:spcAft>
                <a:spcPts val="0"/>
              </a:spcAft>
              <a:defRPr sz="1700" b="0">
                <a:solidFill>
                  <a:srgbClr val="BAA9CB"/>
                </a:solidFill>
                <a:latin typeface="IBM Plex Sans"/>
              </a:defRPr>
            </a:pPr>
            <a:r>
              <a:t>thresholds</a:t>
            </a:r>
          </a:p>
        </p:txBody>
      </p:sp>
      <p:sp>
        <p:nvSpPr>
          <p:cNvPr id="15" name="Rectangle 14"/>
          <p:cNvSpPr/>
          <p:nvPr/>
        </p:nvSpPr>
        <p:spPr>
          <a:xfrm>
            <a:off x="4288536" y="2066543"/>
            <a:ext cx="3602736" cy="2971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88536" y="2066543"/>
            <a:ext cx="360273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249424"/>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RELIABILITY</a:t>
            </a:r>
          </a:p>
        </p:txBody>
      </p:sp>
      <p:sp>
        <p:nvSpPr>
          <p:cNvPr id="18" name="TextBox 17"/>
          <p:cNvSpPr txBox="1"/>
          <p:nvPr/>
        </p:nvSpPr>
        <p:spPr>
          <a:xfrm>
            <a:off x="4471416" y="2587751"/>
            <a:ext cx="3236976"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Observable operation</a:t>
            </a:r>
          </a:p>
        </p:txBody>
      </p:sp>
      <p:sp>
        <p:nvSpPr>
          <p:cNvPr id="19" name="TextBox 18"/>
          <p:cNvSpPr txBox="1"/>
          <p:nvPr/>
        </p:nvSpPr>
        <p:spPr>
          <a:xfrm>
            <a:off x="4471416" y="3155188"/>
            <a:ext cx="3236976" cy="1380998"/>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Capture health and stale-data</a:t>
            </a:r>
          </a:p>
          <a:p>
            <a:pPr>
              <a:lnSpc>
                <a:spcPts val="2074"/>
              </a:lnSpc>
              <a:spcBef>
                <a:spcPts val="0"/>
              </a:spcBef>
              <a:spcAft>
                <a:spcPts val="0"/>
              </a:spcAft>
              <a:defRPr sz="1700" b="0">
                <a:solidFill>
                  <a:srgbClr val="BAA9CB"/>
                </a:solidFill>
                <a:latin typeface="IBM Plex Sans"/>
              </a:defRPr>
            </a:pPr>
            <a:r>
              <a:t>status</a:t>
            </a:r>
          </a:p>
          <a:p>
            <a:pPr>
              <a:lnSpc>
                <a:spcPts val="2074"/>
              </a:lnSpc>
              <a:spcBef>
                <a:spcPts val="0"/>
              </a:spcBef>
              <a:spcAft>
                <a:spcPts val="0"/>
              </a:spcAft>
              <a:defRPr sz="1700" b="0">
                <a:solidFill>
                  <a:srgbClr val="BAA9CB"/>
                </a:solidFill>
                <a:latin typeface="IBM Plex Sans"/>
              </a:defRPr>
            </a:pPr>
            <a:r>
              <a:t>Storage and retention planning</a:t>
            </a:r>
          </a:p>
          <a:p>
            <a:pPr>
              <a:lnSpc>
                <a:spcPts val="2074"/>
              </a:lnSpc>
              <a:spcBef>
                <a:spcPts val="0"/>
              </a:spcBef>
              <a:spcAft>
                <a:spcPts val="0"/>
              </a:spcAft>
              <a:defRPr sz="1700" b="0">
                <a:solidFill>
                  <a:srgbClr val="BAA9CB"/>
                </a:solidFill>
                <a:latin typeface="IBM Plex Sans"/>
              </a:defRPr>
            </a:pPr>
            <a:r>
              <a:t>Backup / restore verification</a:t>
            </a:r>
          </a:p>
          <a:p>
            <a:pPr>
              <a:lnSpc>
                <a:spcPts val="2074"/>
              </a:lnSpc>
              <a:spcBef>
                <a:spcPts val="0"/>
              </a:spcBef>
              <a:spcAft>
                <a:spcPts val="0"/>
              </a:spcAft>
              <a:defRPr sz="1700" b="0">
                <a:solidFill>
                  <a:srgbClr val="BAA9CB"/>
                </a:solidFill>
                <a:latin typeface="IBM Plex Sans"/>
              </a:defRPr>
            </a:pPr>
            <a:r>
              <a:t>Live / replay separation</a:t>
            </a:r>
          </a:p>
        </p:txBody>
      </p:sp>
      <p:sp>
        <p:nvSpPr>
          <p:cNvPr id="20" name="Rectangle 19"/>
          <p:cNvSpPr/>
          <p:nvPr/>
        </p:nvSpPr>
        <p:spPr>
          <a:xfrm>
            <a:off x="8074152" y="2066543"/>
            <a:ext cx="3611880" cy="29718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4152" y="2066543"/>
            <a:ext cx="361188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249424"/>
            <a:ext cx="32461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INCIDENT WORKFLOW</a:t>
            </a:r>
          </a:p>
        </p:txBody>
      </p:sp>
      <p:sp>
        <p:nvSpPr>
          <p:cNvPr id="23" name="TextBox 22"/>
          <p:cNvSpPr txBox="1"/>
          <p:nvPr/>
        </p:nvSpPr>
        <p:spPr>
          <a:xfrm>
            <a:off x="8257031" y="2587751"/>
            <a:ext cx="3246120" cy="466852"/>
          </a:xfrm>
          <a:prstGeom prst="rect">
            <a:avLst/>
          </a:prstGeom>
          <a:noFill/>
        </p:spPr>
        <p:txBody>
          <a:bodyPr wrap="none" lIns="0" rIns="0" tIns="0" bIns="0">
            <a:spAutoFit/>
          </a:bodyPr>
          <a:lstStyle/>
          <a:p>
            <a:pPr>
              <a:lnSpc>
                <a:spcPts val="3172"/>
              </a:lnSpc>
              <a:spcBef>
                <a:spcPts val="0"/>
              </a:spcBef>
              <a:spcAft>
                <a:spcPts val="0"/>
              </a:spcAft>
              <a:defRPr sz="2600" b="1">
                <a:solidFill>
                  <a:srgbClr val="F6F0FC"/>
                </a:solidFill>
                <a:latin typeface="IBM Plex Sans Condensed"/>
              </a:defRPr>
            </a:pPr>
            <a:r>
              <a:t>Useful alerts</a:t>
            </a:r>
          </a:p>
        </p:txBody>
      </p:sp>
      <p:sp>
        <p:nvSpPr>
          <p:cNvPr id="24" name="TextBox 23"/>
          <p:cNvSpPr txBox="1"/>
          <p:nvPr/>
        </p:nvSpPr>
        <p:spPr>
          <a:xfrm>
            <a:off x="8257031" y="3155188"/>
            <a:ext cx="3246120" cy="1380998"/>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Merge related candidate</a:t>
            </a:r>
          </a:p>
          <a:p>
            <a:pPr>
              <a:lnSpc>
                <a:spcPts val="2074"/>
              </a:lnSpc>
              <a:spcBef>
                <a:spcPts val="0"/>
              </a:spcBef>
              <a:spcAft>
                <a:spcPts val="0"/>
              </a:spcAft>
              <a:defRPr sz="1700" b="0">
                <a:solidFill>
                  <a:srgbClr val="BAA9CB"/>
                </a:solidFill>
                <a:latin typeface="IBM Plex Sans"/>
              </a:defRPr>
            </a:pPr>
            <a:r>
              <a:t>windows</a:t>
            </a:r>
          </a:p>
          <a:p>
            <a:pPr>
              <a:lnSpc>
                <a:spcPts val="2074"/>
              </a:lnSpc>
              <a:spcBef>
                <a:spcPts val="0"/>
              </a:spcBef>
              <a:spcAft>
                <a:spcPts val="0"/>
              </a:spcAft>
              <a:defRPr sz="1700" b="0">
                <a:solidFill>
                  <a:srgbClr val="BAA9CB"/>
                </a:solidFill>
                <a:latin typeface="IBM Plex Sans"/>
              </a:defRPr>
            </a:pPr>
            <a:r>
              <a:t>Preserve evidence references</a:t>
            </a:r>
          </a:p>
          <a:p>
            <a:pPr>
              <a:lnSpc>
                <a:spcPts val="2074"/>
              </a:lnSpc>
              <a:spcBef>
                <a:spcPts val="0"/>
              </a:spcBef>
              <a:spcAft>
                <a:spcPts val="0"/>
              </a:spcAft>
              <a:defRPr sz="1700" b="0">
                <a:solidFill>
                  <a:srgbClr val="BAA9CB"/>
                </a:solidFill>
                <a:latin typeface="IBM Plex Sans"/>
              </a:defRPr>
            </a:pPr>
            <a:r>
              <a:t>Human review and closure</a:t>
            </a:r>
          </a:p>
          <a:p>
            <a:pPr>
              <a:lnSpc>
                <a:spcPts val="2074"/>
              </a:lnSpc>
              <a:spcBef>
                <a:spcPts val="0"/>
              </a:spcBef>
              <a:spcAft>
                <a:spcPts val="0"/>
              </a:spcAft>
              <a:defRPr sz="1700" b="0">
                <a:solidFill>
                  <a:srgbClr val="BAA9CB"/>
                </a:solidFill>
                <a:latin typeface="IBM Plex Sans"/>
              </a:defRPr>
            </a:pPr>
            <a:r>
              <a:t>Agreed escalation integrations</a:t>
            </a:r>
          </a:p>
        </p:txBody>
      </p:sp>
      <p:sp>
        <p:nvSpPr>
          <p:cNvPr id="25" name="TextBox 24"/>
          <p:cNvSpPr txBox="1"/>
          <p:nvPr/>
        </p:nvSpPr>
        <p:spPr>
          <a:xfrm>
            <a:off x="713232" y="5404104"/>
            <a:ext cx="293522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CFADF0"/>
                </a:solidFill>
                <a:latin typeface="IBM Plex Mono"/>
              </a:defRPr>
            </a:pPr>
            <a:r>
              <a:t>SHADOW MODE FIRST</a:t>
            </a:r>
          </a:p>
        </p:txBody>
      </p:sp>
      <p:sp>
        <p:nvSpPr>
          <p:cNvPr id="26" name="TextBox 25"/>
          <p:cNvSpPr txBox="1"/>
          <p:nvPr/>
        </p:nvSpPr>
        <p:spPr>
          <a:xfrm>
            <a:off x="3685032" y="5330952"/>
            <a:ext cx="7708392" cy="652779"/>
          </a:xfrm>
          <a:prstGeom prst="rect">
            <a:avLst/>
          </a:prstGeom>
          <a:noFill/>
        </p:spPr>
        <p:txBody>
          <a:bodyPr wrap="none" lIns="0" rIns="0" tIns="0" bIns="0">
            <a:spAutoFit/>
          </a:bodyPr>
          <a:lstStyle/>
          <a:p>
            <a:pPr>
              <a:lnSpc>
                <a:spcPts val="2318"/>
              </a:lnSpc>
              <a:spcBef>
                <a:spcPts val="0"/>
              </a:spcBef>
              <a:spcAft>
                <a:spcPts val="0"/>
              </a:spcAft>
              <a:defRPr sz="1900" b="0">
                <a:solidFill>
                  <a:srgbClr val="F6F0FC"/>
                </a:solidFill>
                <a:latin typeface="IBM Plex Sans"/>
              </a:defRPr>
            </a:pPr>
            <a:r>
              <a:t>Observe decisions and workload before automated operational</a:t>
            </a:r>
          </a:p>
          <a:p>
            <a:pPr>
              <a:lnSpc>
                <a:spcPts val="2318"/>
              </a:lnSpc>
              <a:spcBef>
                <a:spcPts val="0"/>
              </a:spcBef>
              <a:spcAft>
                <a:spcPts val="0"/>
              </a:spcAft>
              <a:defRPr sz="1900" b="0">
                <a:solidFill>
                  <a:srgbClr val="F6F0FC"/>
                </a:solidFill>
                <a:latin typeface="IBM Plex Sans"/>
              </a:defRPr>
            </a:pPr>
            <a:r>
              <a:t>escalation.</a:t>
            </a:r>
          </a:p>
        </p:txBody>
      </p:sp>
      <p:sp>
        <p:nvSpPr>
          <p:cNvPr id="27" name="Rectangle 26"/>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Deploy a support tool with traceable evidence; increase automation as field confidence grows.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15 / EXECUTIVE DECISIONS</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Fund the next evidence milestone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The proposed next increment is a controlled validation pilot with named owners and a reviewed dataset.</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PROPOSAL / scope, resources, target values and schedule to be agreed by Ubeconn AS</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16</a:t>
            </a:r>
          </a:p>
        </p:txBody>
      </p:sp>
      <p:sp>
        <p:nvSpPr>
          <p:cNvPr id="10" name="Rectangle 9"/>
          <p:cNvSpPr/>
          <p:nvPr/>
        </p:nvSpPr>
        <p:spPr>
          <a:xfrm>
            <a:off x="502920" y="2075688"/>
            <a:ext cx="3602736" cy="24231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2075688"/>
            <a:ext cx="360273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2258568"/>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DECISION 1</a:t>
            </a:r>
          </a:p>
        </p:txBody>
      </p:sp>
      <p:sp>
        <p:nvSpPr>
          <p:cNvPr id="13" name="TextBox 12"/>
          <p:cNvSpPr txBox="1"/>
          <p:nvPr/>
        </p:nvSpPr>
        <p:spPr>
          <a:xfrm>
            <a:off x="685800" y="2596896"/>
            <a:ext cx="3236976" cy="931671"/>
          </a:xfrm>
          <a:prstGeom prst="rect">
            <a:avLst/>
          </a:prstGeom>
          <a:noFill/>
        </p:spPr>
        <p:txBody>
          <a:bodyPr wrap="none" lIns="0" rIns="0" tIns="0" bIns="0">
            <a:spAutoFit/>
          </a:bodyPr>
          <a:lstStyle/>
          <a:p>
            <a:pPr>
              <a:lnSpc>
                <a:spcPts val="3415"/>
              </a:lnSpc>
              <a:spcBef>
                <a:spcPts val="0"/>
              </a:spcBef>
              <a:spcAft>
                <a:spcPts val="0"/>
              </a:spcAft>
              <a:defRPr sz="2800" b="1">
                <a:solidFill>
                  <a:srgbClr val="F6F0FC"/>
                </a:solidFill>
                <a:latin typeface="IBM Plex Sans Condensed"/>
              </a:defRPr>
            </a:pPr>
            <a:r>
              <a:t>Choose the pilot</a:t>
            </a:r>
          </a:p>
          <a:p>
            <a:pPr>
              <a:lnSpc>
                <a:spcPts val="3415"/>
              </a:lnSpc>
              <a:spcBef>
                <a:spcPts val="0"/>
              </a:spcBef>
              <a:spcAft>
                <a:spcPts val="0"/>
              </a:spcAft>
              <a:defRPr sz="2800" b="1">
                <a:solidFill>
                  <a:srgbClr val="F6F0FC"/>
                </a:solidFill>
                <a:latin typeface="IBM Plex Sans Condensed"/>
              </a:defRPr>
            </a:pPr>
            <a:r>
              <a:t>scope</a:t>
            </a:r>
          </a:p>
        </p:txBody>
      </p:sp>
      <p:sp>
        <p:nvSpPr>
          <p:cNvPr id="14" name="TextBox 13"/>
          <p:cNvSpPr txBox="1"/>
          <p:nvPr/>
        </p:nvSpPr>
        <p:spPr>
          <a:xfrm>
            <a:off x="685800" y="3629152"/>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Representative routes, field</a:t>
            </a:r>
          </a:p>
          <a:p>
            <a:pPr>
              <a:lnSpc>
                <a:spcPts val="2074"/>
              </a:lnSpc>
              <a:spcBef>
                <a:spcPts val="0"/>
              </a:spcBef>
              <a:spcAft>
                <a:spcPts val="0"/>
              </a:spcAft>
              <a:defRPr sz="1700" b="0">
                <a:solidFill>
                  <a:srgbClr val="BAA9CB"/>
                </a:solidFill>
                <a:latin typeface="IBM Plex Sans"/>
              </a:defRPr>
            </a:pPr>
            <a:r>
              <a:t>access and independently</a:t>
            </a:r>
          </a:p>
          <a:p>
            <a:pPr>
              <a:lnSpc>
                <a:spcPts val="2074"/>
              </a:lnSpc>
              <a:spcBef>
                <a:spcPts val="0"/>
              </a:spcBef>
              <a:spcAft>
                <a:spcPts val="0"/>
              </a:spcAft>
              <a:defRPr sz="1700" b="0">
                <a:solidFill>
                  <a:srgbClr val="BAA9CB"/>
                </a:solidFill>
                <a:latin typeface="IBM Plex Sans"/>
              </a:defRPr>
            </a:pPr>
            <a:r>
              <a:t>observable conditions.</a:t>
            </a:r>
          </a:p>
        </p:txBody>
      </p:sp>
      <p:sp>
        <p:nvSpPr>
          <p:cNvPr id="15" name="Rectangle 14"/>
          <p:cNvSpPr/>
          <p:nvPr/>
        </p:nvSpPr>
        <p:spPr>
          <a:xfrm>
            <a:off x="4288536" y="2075688"/>
            <a:ext cx="3602736" cy="24231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88536" y="2075688"/>
            <a:ext cx="3602736"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1416" y="2258568"/>
            <a:ext cx="3236976"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DECISION 2</a:t>
            </a:r>
          </a:p>
        </p:txBody>
      </p:sp>
      <p:sp>
        <p:nvSpPr>
          <p:cNvPr id="18" name="TextBox 17"/>
          <p:cNvSpPr txBox="1"/>
          <p:nvPr/>
        </p:nvSpPr>
        <p:spPr>
          <a:xfrm>
            <a:off x="4471416" y="2596896"/>
            <a:ext cx="3236976" cy="931671"/>
          </a:xfrm>
          <a:prstGeom prst="rect">
            <a:avLst/>
          </a:prstGeom>
          <a:noFill/>
        </p:spPr>
        <p:txBody>
          <a:bodyPr wrap="none" lIns="0" rIns="0" tIns="0" bIns="0">
            <a:spAutoFit/>
          </a:bodyPr>
          <a:lstStyle/>
          <a:p>
            <a:pPr>
              <a:lnSpc>
                <a:spcPts val="3415"/>
              </a:lnSpc>
              <a:spcBef>
                <a:spcPts val="0"/>
              </a:spcBef>
              <a:spcAft>
                <a:spcPts val="0"/>
              </a:spcAft>
              <a:defRPr sz="2800" b="1">
                <a:solidFill>
                  <a:srgbClr val="F6F0FC"/>
                </a:solidFill>
                <a:latin typeface="IBM Plex Sans Condensed"/>
              </a:defRPr>
            </a:pPr>
            <a:r>
              <a:t>Assign the evidence</a:t>
            </a:r>
          </a:p>
          <a:p>
            <a:pPr>
              <a:lnSpc>
                <a:spcPts val="3415"/>
              </a:lnSpc>
              <a:spcBef>
                <a:spcPts val="0"/>
              </a:spcBef>
              <a:spcAft>
                <a:spcPts val="0"/>
              </a:spcAft>
              <a:defRPr sz="2800" b="1">
                <a:solidFill>
                  <a:srgbClr val="F6F0FC"/>
                </a:solidFill>
                <a:latin typeface="IBM Plex Sans Condensed"/>
              </a:defRPr>
            </a:pPr>
            <a:r>
              <a:t>owners</a:t>
            </a:r>
          </a:p>
        </p:txBody>
      </p:sp>
      <p:sp>
        <p:nvSpPr>
          <p:cNvPr id="19" name="TextBox 18"/>
          <p:cNvSpPr txBox="1"/>
          <p:nvPr/>
        </p:nvSpPr>
        <p:spPr>
          <a:xfrm>
            <a:off x="4471416" y="3629152"/>
            <a:ext cx="3236976"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Acquisition and mapping, expert</a:t>
            </a:r>
          </a:p>
          <a:p>
            <a:pPr>
              <a:lnSpc>
                <a:spcPts val="2074"/>
              </a:lnSpc>
              <a:spcBef>
                <a:spcPts val="0"/>
              </a:spcBef>
              <a:spcAft>
                <a:spcPts val="0"/>
              </a:spcAft>
              <a:defRPr sz="1700" b="0">
                <a:solidFill>
                  <a:srgbClr val="BAA9CB"/>
                </a:solidFill>
                <a:latin typeface="IBM Plex Sans"/>
              </a:defRPr>
            </a:pPr>
            <a:r>
              <a:t>labeling, analytics and operator</a:t>
            </a:r>
          </a:p>
          <a:p>
            <a:pPr>
              <a:lnSpc>
                <a:spcPts val="2074"/>
              </a:lnSpc>
              <a:spcBef>
                <a:spcPts val="0"/>
              </a:spcBef>
              <a:spcAft>
                <a:spcPts val="0"/>
              </a:spcAft>
              <a:defRPr sz="1700" b="0">
                <a:solidFill>
                  <a:srgbClr val="BAA9CB"/>
                </a:solidFill>
                <a:latin typeface="IBM Plex Sans"/>
              </a:defRPr>
            </a:pPr>
            <a:r>
              <a:t>review.</a:t>
            </a:r>
          </a:p>
        </p:txBody>
      </p:sp>
      <p:sp>
        <p:nvSpPr>
          <p:cNvPr id="20" name="Rectangle 19"/>
          <p:cNvSpPr/>
          <p:nvPr/>
        </p:nvSpPr>
        <p:spPr>
          <a:xfrm>
            <a:off x="8074152" y="2075688"/>
            <a:ext cx="3611880" cy="242316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74152" y="2075688"/>
            <a:ext cx="3611880" cy="32004"/>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57031" y="2258568"/>
            <a:ext cx="324612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DECISION 3</a:t>
            </a:r>
          </a:p>
        </p:txBody>
      </p:sp>
      <p:sp>
        <p:nvSpPr>
          <p:cNvPr id="23" name="TextBox 22"/>
          <p:cNvSpPr txBox="1"/>
          <p:nvPr/>
        </p:nvSpPr>
        <p:spPr>
          <a:xfrm>
            <a:off x="8257031" y="2596896"/>
            <a:ext cx="3246120" cy="931671"/>
          </a:xfrm>
          <a:prstGeom prst="rect">
            <a:avLst/>
          </a:prstGeom>
          <a:noFill/>
        </p:spPr>
        <p:txBody>
          <a:bodyPr wrap="none" lIns="0" rIns="0" tIns="0" bIns="0">
            <a:spAutoFit/>
          </a:bodyPr>
          <a:lstStyle/>
          <a:p>
            <a:pPr>
              <a:lnSpc>
                <a:spcPts val="3415"/>
              </a:lnSpc>
              <a:spcBef>
                <a:spcPts val="0"/>
              </a:spcBef>
              <a:spcAft>
                <a:spcPts val="0"/>
              </a:spcAft>
              <a:defRPr sz="2800" b="1">
                <a:solidFill>
                  <a:srgbClr val="F6F0FC"/>
                </a:solidFill>
                <a:latin typeface="IBM Plex Sans Condensed"/>
              </a:defRPr>
            </a:pPr>
            <a:r>
              <a:t>Agree the</a:t>
            </a:r>
          </a:p>
          <a:p>
            <a:pPr>
              <a:lnSpc>
                <a:spcPts val="3415"/>
              </a:lnSpc>
              <a:spcBef>
                <a:spcPts val="0"/>
              </a:spcBef>
              <a:spcAft>
                <a:spcPts val="0"/>
              </a:spcAft>
              <a:defRPr sz="2800" b="1">
                <a:solidFill>
                  <a:srgbClr val="F6F0FC"/>
                </a:solidFill>
                <a:latin typeface="IBM Plex Sans Condensed"/>
              </a:defRPr>
            </a:pPr>
            <a:r>
              <a:t>acceptance gate</a:t>
            </a:r>
          </a:p>
        </p:txBody>
      </p:sp>
      <p:sp>
        <p:nvSpPr>
          <p:cNvPr id="24" name="TextBox 23"/>
          <p:cNvSpPr txBox="1"/>
          <p:nvPr/>
        </p:nvSpPr>
        <p:spPr>
          <a:xfrm>
            <a:off x="8257031" y="3629152"/>
            <a:ext cx="3246120" cy="854201"/>
          </a:xfrm>
          <a:prstGeom prst="rect">
            <a:avLst/>
          </a:prstGeom>
          <a:noFill/>
        </p:spPr>
        <p:txBody>
          <a:bodyPr wrap="none" lIns="0" rIns="0" tIns="0" bIns="0">
            <a:spAutoFit/>
          </a:bodyPr>
          <a:lstStyle/>
          <a:p>
            <a:pPr>
              <a:lnSpc>
                <a:spcPts val="2074"/>
              </a:lnSpc>
              <a:spcBef>
                <a:spcPts val="0"/>
              </a:spcBef>
              <a:spcAft>
                <a:spcPts val="0"/>
              </a:spcAft>
              <a:defRPr sz="1700" b="0">
                <a:solidFill>
                  <a:srgbClr val="BAA9CB"/>
                </a:solidFill>
                <a:latin typeface="IBM Plex Sans"/>
              </a:defRPr>
            </a:pPr>
            <a:r>
              <a:t>Detection quality, alert workload,</a:t>
            </a:r>
          </a:p>
          <a:p>
            <a:pPr>
              <a:lnSpc>
                <a:spcPts val="2074"/>
              </a:lnSpc>
              <a:spcBef>
                <a:spcPts val="0"/>
              </a:spcBef>
              <a:spcAft>
                <a:spcPts val="0"/>
              </a:spcAft>
              <a:defRPr sz="1700" b="0">
                <a:solidFill>
                  <a:srgbClr val="BAA9CB"/>
                </a:solidFill>
                <a:latin typeface="IBM Plex Sans"/>
              </a:defRPr>
            </a:pPr>
            <a:r>
              <a:t>traceability and deployment</a:t>
            </a:r>
          </a:p>
          <a:p>
            <a:pPr>
              <a:lnSpc>
                <a:spcPts val="2074"/>
              </a:lnSpc>
              <a:spcBef>
                <a:spcPts val="0"/>
              </a:spcBef>
              <a:spcAft>
                <a:spcPts val="0"/>
              </a:spcAft>
              <a:defRPr sz="1700" b="0">
                <a:solidFill>
                  <a:srgbClr val="BAA9CB"/>
                </a:solidFill>
                <a:latin typeface="IBM Plex Sans"/>
              </a:defRPr>
            </a:pPr>
            <a:r>
              <a:t>readiness.</a:t>
            </a:r>
          </a:p>
        </p:txBody>
      </p:sp>
      <p:sp>
        <p:nvSpPr>
          <p:cNvPr id="25" name="TextBox 24"/>
          <p:cNvSpPr txBox="1"/>
          <p:nvPr/>
        </p:nvSpPr>
        <p:spPr>
          <a:xfrm>
            <a:off x="704088" y="4892040"/>
            <a:ext cx="2788920"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NEXT DELIVERABLE</a:t>
            </a:r>
          </a:p>
        </p:txBody>
      </p:sp>
      <p:sp>
        <p:nvSpPr>
          <p:cNvPr id="26" name="TextBox 25"/>
          <p:cNvSpPr txBox="1"/>
          <p:nvPr/>
        </p:nvSpPr>
        <p:spPr>
          <a:xfrm>
            <a:off x="3621024" y="4773168"/>
            <a:ext cx="7717536" cy="900683"/>
          </a:xfrm>
          <a:prstGeom prst="rect">
            <a:avLst/>
          </a:prstGeom>
          <a:noFill/>
        </p:spPr>
        <p:txBody>
          <a:bodyPr wrap="none" lIns="0" rIns="0" tIns="0" bIns="0">
            <a:spAutoFit/>
          </a:bodyPr>
          <a:lstStyle/>
          <a:p>
            <a:pPr>
              <a:lnSpc>
                <a:spcPts val="3294"/>
              </a:lnSpc>
              <a:spcBef>
                <a:spcPts val="0"/>
              </a:spcBef>
              <a:spcAft>
                <a:spcPts val="0"/>
              </a:spcAft>
              <a:defRPr sz="2700" b="1">
                <a:solidFill>
                  <a:srgbClr val="F6F0FC"/>
                </a:solidFill>
                <a:latin typeface="IBM Plex Sans Condensed"/>
              </a:defRPr>
            </a:pPr>
            <a:r>
              <a:t>Verified dataset + held-out evaluation + pilot go /</a:t>
            </a:r>
          </a:p>
          <a:p>
            <a:pPr>
              <a:lnSpc>
                <a:spcPts val="3294"/>
              </a:lnSpc>
              <a:spcBef>
                <a:spcPts val="0"/>
              </a:spcBef>
              <a:spcAft>
                <a:spcPts val="0"/>
              </a:spcAft>
              <a:defRPr sz="2700" b="1">
                <a:solidFill>
                  <a:srgbClr val="F6F0FC"/>
                </a:solidFill>
                <a:latin typeface="IBM Plex Sans Condensed"/>
              </a:defRPr>
            </a:pPr>
            <a:r>
              <a:t>no-go</a:t>
            </a:r>
          </a:p>
        </p:txBody>
      </p:sp>
      <p:sp>
        <p:nvSpPr>
          <p:cNvPr id="27" name="Rectangle 26"/>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Ubeconn’s next step: convert a working technical foundation into defensible operational evidence.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APPENDIX A / EVIDENCE REGISTER</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Sources and scope behind the presentation</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Project-local evidence only. No external market, cost-saving or detection-accuracy claims are made.</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COMPILED / 16 SEP 2026 · repository working tree and recorded project evidence</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17</a:t>
            </a:r>
          </a:p>
        </p:txBody>
      </p:sp>
      <p:sp>
        <p:nvSpPr>
          <p:cNvPr id="10" name="TextBox 9"/>
          <p:cNvSpPr txBox="1"/>
          <p:nvPr/>
        </p:nvSpPr>
        <p:spPr>
          <a:xfrm>
            <a:off x="704088" y="2075688"/>
            <a:ext cx="3108960"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Condensed"/>
              </a:defRPr>
            </a:pPr>
            <a:r>
              <a:t>Platform and deployment</a:t>
            </a:r>
          </a:p>
        </p:txBody>
      </p:sp>
      <p:sp>
        <p:nvSpPr>
          <p:cNvPr id="11" name="TextBox 10"/>
          <p:cNvSpPr txBox="1"/>
          <p:nvPr/>
        </p:nvSpPr>
        <p:spPr>
          <a:xfrm>
            <a:off x="3968496" y="2112264"/>
            <a:ext cx="7461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Mono"/>
              </a:defRPr>
            </a:pPr>
            <a:r>
              <a:t>docs/map-app.md; src/Mapui/{api,signals,metrics,live}.py</a:t>
            </a:r>
          </a:p>
        </p:txBody>
      </p:sp>
      <p:sp>
        <p:nvSpPr>
          <p:cNvPr id="12" name="TextBox 11"/>
          <p:cNvSpPr txBox="1"/>
          <p:nvPr/>
        </p:nvSpPr>
        <p:spPr>
          <a:xfrm>
            <a:off x="704088" y="2587752"/>
            <a:ext cx="3108960"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Condensed"/>
              </a:defRPr>
            </a:pPr>
            <a:r>
              <a:t>Asset inventory and mapping</a:t>
            </a:r>
          </a:p>
        </p:txBody>
      </p:sp>
      <p:sp>
        <p:nvSpPr>
          <p:cNvPr id="13" name="TextBox 12"/>
          <p:cNvSpPr txBox="1"/>
          <p:nvPr/>
        </p:nvSpPr>
        <p:spPr>
          <a:xfrm>
            <a:off x="3968496" y="2624328"/>
            <a:ext cx="7461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Mono"/>
              </a:defRPr>
            </a:pPr>
            <a:r>
              <a:t>docs/masts.md; docs/channel-mapping.md; results/masts/*.csv</a:t>
            </a:r>
          </a:p>
        </p:txBody>
      </p:sp>
      <p:sp>
        <p:nvSpPr>
          <p:cNvPr id="14" name="TextBox 13"/>
          <p:cNvSpPr txBox="1"/>
          <p:nvPr/>
        </p:nvSpPr>
        <p:spPr>
          <a:xfrm>
            <a:off x="704088" y="3099816"/>
            <a:ext cx="3108960"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Condensed"/>
              </a:defRPr>
            </a:pPr>
            <a:r>
              <a:t>Database snapshot</a:t>
            </a:r>
          </a:p>
        </p:txBody>
      </p:sp>
      <p:sp>
        <p:nvSpPr>
          <p:cNvPr id="15" name="TextBox 14"/>
          <p:cNvSpPr txBox="1"/>
          <p:nvPr/>
        </p:nvSpPr>
        <p:spPr>
          <a:xfrm>
            <a:off x="3968496" y="3136392"/>
            <a:ext cx="7461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Mono"/>
              </a:defRPr>
            </a:pPr>
            <a:r>
              <a:t>AGENTS.md; .local/verification.json (16 September 2026)</a:t>
            </a:r>
          </a:p>
        </p:txBody>
      </p:sp>
      <p:sp>
        <p:nvSpPr>
          <p:cNvPr id="16" name="TextBox 15"/>
          <p:cNvSpPr txBox="1"/>
          <p:nvPr/>
        </p:nvSpPr>
        <p:spPr>
          <a:xfrm>
            <a:off x="704088" y="3611880"/>
            <a:ext cx="3108960"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Condensed"/>
              </a:defRPr>
            </a:pPr>
            <a:r>
              <a:t>Discovery pilot</a:t>
            </a:r>
          </a:p>
        </p:txBody>
      </p:sp>
      <p:sp>
        <p:nvSpPr>
          <p:cNvPr id="17" name="TextBox 16"/>
          <p:cNvSpPr txBox="1"/>
          <p:nvPr/>
        </p:nvSpPr>
        <p:spPr>
          <a:xfrm>
            <a:off x="3968496" y="3648456"/>
            <a:ext cx="7461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Mono"/>
              </a:defRPr>
            </a:pPr>
            <a:r>
              <a:t>docs/event-discovery.md; results/das-discovery-pilot-20260916/</a:t>
            </a:r>
          </a:p>
        </p:txBody>
      </p:sp>
      <p:sp>
        <p:nvSpPr>
          <p:cNvPr id="18" name="TextBox 17"/>
          <p:cNvSpPr txBox="1"/>
          <p:nvPr/>
        </p:nvSpPr>
        <p:spPr>
          <a:xfrm>
            <a:off x="704088" y="4123944"/>
            <a:ext cx="3108960"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Condensed"/>
              </a:defRPr>
            </a:pPr>
            <a:r>
              <a:t>Supervised baseline</a:t>
            </a:r>
          </a:p>
        </p:txBody>
      </p:sp>
      <p:sp>
        <p:nvSpPr>
          <p:cNvPr id="19" name="TextBox 18"/>
          <p:cNvSpPr txBox="1"/>
          <p:nvPr/>
        </p:nvSpPr>
        <p:spPr>
          <a:xfrm>
            <a:off x="3968496" y="4160520"/>
            <a:ext cx="7461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Mono"/>
              </a:defRPr>
            </a:pPr>
            <a:r>
              <a:t>docs/event-ml.md; src/Capture/event_ml.py</a:t>
            </a:r>
          </a:p>
        </p:txBody>
      </p:sp>
      <p:sp>
        <p:nvSpPr>
          <p:cNvPr id="20" name="TextBox 19"/>
          <p:cNvSpPr txBox="1"/>
          <p:nvPr/>
        </p:nvSpPr>
        <p:spPr>
          <a:xfrm>
            <a:off x="704088" y="4636008"/>
            <a:ext cx="3108960" cy="327405"/>
          </a:xfrm>
          <a:prstGeom prst="rect">
            <a:avLst/>
          </a:prstGeom>
          <a:noFill/>
        </p:spPr>
        <p:txBody>
          <a:bodyPr wrap="none" lIns="0" rIns="0" tIns="0" bIns="0">
            <a:spAutoFit/>
          </a:bodyPr>
          <a:lstStyle/>
          <a:p>
            <a:pPr>
              <a:lnSpc>
                <a:spcPts val="2074"/>
              </a:lnSpc>
              <a:spcBef>
                <a:spcPts val="0"/>
              </a:spcBef>
              <a:spcAft>
                <a:spcPts val="0"/>
              </a:spcAft>
              <a:defRPr sz="1700" b="1">
                <a:solidFill>
                  <a:srgbClr val="F6F0FC"/>
                </a:solidFill>
                <a:latin typeface="IBM Plex Sans Condensed"/>
              </a:defRPr>
            </a:pPr>
            <a:r>
              <a:t>Application image</a:t>
            </a:r>
          </a:p>
        </p:txBody>
      </p:sp>
      <p:sp>
        <p:nvSpPr>
          <p:cNvPr id="21" name="TextBox 20"/>
          <p:cNvSpPr txBox="1"/>
          <p:nvPr/>
        </p:nvSpPr>
        <p:spPr>
          <a:xfrm>
            <a:off x="3968496" y="4672584"/>
            <a:ext cx="7461504" cy="249935"/>
          </a:xfrm>
          <a:prstGeom prst="rect">
            <a:avLst/>
          </a:prstGeom>
          <a:noFill/>
        </p:spPr>
        <p:txBody>
          <a:bodyPr wrap="none" lIns="0" rIns="0" tIns="0" bIns="0">
            <a:spAutoFit/>
          </a:bodyPr>
          <a:lstStyle/>
          <a:p>
            <a:pPr>
              <a:lnSpc>
                <a:spcPts val="1464"/>
              </a:lnSpc>
              <a:spcBef>
                <a:spcPts val="0"/>
              </a:spcBef>
              <a:spcAft>
                <a:spcPts val="0"/>
              </a:spcAft>
              <a:defRPr sz="1200" b="0">
                <a:solidFill>
                  <a:srgbClr val="BAA9CB"/>
                </a:solidFill>
                <a:latin typeface="IBM Plex Mono"/>
              </a:defRPr>
            </a:pPr>
            <a:r>
              <a:t>Original .local/screenshots/overview.png; map attribution retained</a:t>
            </a:r>
          </a:p>
        </p:txBody>
      </p:sp>
      <p:sp>
        <p:nvSpPr>
          <p:cNvPr id="22" name="TextBox 21"/>
          <p:cNvSpPr txBox="1"/>
          <p:nvPr/>
        </p:nvSpPr>
        <p:spPr>
          <a:xfrm>
            <a:off x="704088" y="5404104"/>
            <a:ext cx="2980944"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READING THE STATUS</a:t>
            </a:r>
          </a:p>
        </p:txBody>
      </p:sp>
      <p:sp>
        <p:nvSpPr>
          <p:cNvPr id="23" name="TextBox 22"/>
          <p:cNvSpPr txBox="1"/>
          <p:nvPr/>
        </p:nvSpPr>
        <p:spPr>
          <a:xfrm>
            <a:off x="3968496" y="5340096"/>
            <a:ext cx="7424927" cy="559816"/>
          </a:xfrm>
          <a:prstGeom prst="rect">
            <a:avLst/>
          </a:prstGeom>
          <a:noFill/>
        </p:spPr>
        <p:txBody>
          <a:bodyPr wrap="none" lIns="0" rIns="0" tIns="0" bIns="0">
            <a:spAutoFit/>
          </a:bodyPr>
          <a:lstStyle/>
          <a:p>
            <a:pPr>
              <a:lnSpc>
                <a:spcPts val="1952"/>
              </a:lnSpc>
              <a:spcBef>
                <a:spcPts val="0"/>
              </a:spcBef>
              <a:spcAft>
                <a:spcPts val="0"/>
              </a:spcAft>
              <a:defRPr sz="1600" b="1">
                <a:solidFill>
                  <a:srgbClr val="F6F0FC"/>
                </a:solidFill>
                <a:latin typeface="IBM Plex Sans"/>
              </a:defRPr>
            </a:pPr>
            <a:r>
              <a:t>Implemented / field validated</a:t>
            </a:r>
          </a:p>
          <a:p>
            <a:pPr>
              <a:lnSpc>
                <a:spcPts val="1952"/>
              </a:lnSpc>
              <a:spcBef>
                <a:spcPts val="0"/>
              </a:spcBef>
              <a:spcAft>
                <a:spcPts val="0"/>
              </a:spcAft>
              <a:defRPr sz="1600" b="1">
                <a:solidFill>
                  <a:srgbClr val="F6F0FC"/>
                </a:solidFill>
                <a:latin typeface="IBM Plex Sans"/>
              </a:defRPr>
            </a:pPr>
            <a:r>
              <a:t>Inferred / confirmed Proposed / committed</a:t>
            </a:r>
          </a:p>
        </p:txBody>
      </p:sp>
      <p:sp>
        <p:nvSpPr>
          <p:cNvPr id="24" name="Rectangle 23"/>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All numerical project claims refer to the documented snapshot or recorded pilot run.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D1429"/>
        </a:solidFill>
        <a:effectLst/>
      </p:bgPr>
    </p:bg>
    <p:spTree>
      <p:nvGrpSpPr>
        <p:cNvPr id="1" name=""/>
        <p:cNvGrpSpPr/>
        <p:nvPr/>
      </p:nvGrpSpPr>
      <p:grpSpPr/>
      <p:sp>
        <p:nvSpPr>
          <p:cNvPr id="2" name="TextBox 1"/>
          <p:cNvSpPr txBox="1"/>
          <p:nvPr/>
        </p:nvSpPr>
        <p:spPr>
          <a:xfrm>
            <a:off x="502920" y="274320"/>
            <a:ext cx="9509760"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CFADF0"/>
                </a:solidFill>
                <a:latin typeface="IBM Plex Mono"/>
              </a:defRPr>
            </a:pPr>
            <a:r>
              <a:t>APPENDIX B / UBECONN VISUAL IDENTITY</a:t>
            </a:r>
          </a:p>
        </p:txBody>
      </p:sp>
      <p:sp>
        <p:nvSpPr>
          <p:cNvPr id="3" name="TextBox 2"/>
          <p:cNvSpPr txBox="1"/>
          <p:nvPr/>
        </p:nvSpPr>
        <p:spPr>
          <a:xfrm>
            <a:off x="10442448" y="228600"/>
            <a:ext cx="1280160" cy="420370"/>
          </a:xfrm>
          <a:prstGeom prst="rect">
            <a:avLst/>
          </a:prstGeom>
          <a:noFill/>
        </p:spPr>
        <p:txBody>
          <a:bodyPr wrap="none" lIns="0" rIns="0" tIns="0" bIns="0">
            <a:spAutoFit/>
          </a:bodyPr>
          <a:lstStyle/>
          <a:p>
            <a:pPr>
              <a:lnSpc>
                <a:spcPts val="2806"/>
              </a:lnSpc>
              <a:spcBef>
                <a:spcPts val="0"/>
              </a:spcBef>
              <a:spcAft>
                <a:spcPts val="0"/>
              </a:spcAft>
              <a:defRPr sz="2300" b="1">
                <a:solidFill>
                  <a:srgbClr val="FFFFFF"/>
                </a:solidFill>
                <a:latin typeface="IBM Plex Sans"/>
              </a:defRPr>
            </a:pPr>
            <a:r>
              <a:t>ubeconn</a:t>
            </a:r>
          </a:p>
        </p:txBody>
      </p:sp>
      <p:sp>
        <p:nvSpPr>
          <p:cNvPr id="4" name="TextBox 3"/>
          <p:cNvSpPr txBox="1"/>
          <p:nvPr/>
        </p:nvSpPr>
        <p:spPr>
          <a:xfrm>
            <a:off x="502920" y="758952"/>
            <a:ext cx="11064240" cy="575310"/>
          </a:xfrm>
          <a:prstGeom prst="rect">
            <a:avLst/>
          </a:prstGeom>
          <a:noFill/>
        </p:spPr>
        <p:txBody>
          <a:bodyPr wrap="none" lIns="0" rIns="0" tIns="0" bIns="0">
            <a:spAutoFit/>
          </a:bodyPr>
          <a:lstStyle/>
          <a:p>
            <a:pPr>
              <a:lnSpc>
                <a:spcPts val="4026"/>
              </a:lnSpc>
              <a:spcBef>
                <a:spcPts val="0"/>
              </a:spcBef>
              <a:spcAft>
                <a:spcPts val="0"/>
              </a:spcAft>
              <a:defRPr sz="3300" b="1">
                <a:solidFill>
                  <a:srgbClr val="F6F0FC"/>
                </a:solidFill>
                <a:latin typeface="IBM Plex Sans Condensed"/>
              </a:defRPr>
            </a:pPr>
            <a:r>
              <a:t>A simple identity, grounded in ube purple</a:t>
            </a:r>
          </a:p>
        </p:txBody>
      </p:sp>
      <p:sp>
        <p:nvSpPr>
          <p:cNvPr id="5" name="TextBox 4"/>
          <p:cNvSpPr txBox="1"/>
          <p:nvPr/>
        </p:nvSpPr>
        <p:spPr>
          <a:xfrm>
            <a:off x="530352" y="1353312"/>
            <a:ext cx="1097280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House-report hierarchy and IBM Plex typography, adapted to Ubeconn’s colour profile.</a:t>
            </a:r>
          </a:p>
        </p:txBody>
      </p:sp>
      <p:cxnSp>
        <p:nvCxnSpPr>
          <p:cNvPr id="6" name="Connector 5"/>
          <p:cNvCxnSpPr/>
          <p:nvPr/>
        </p:nvCxnSpPr>
        <p:spPr>
          <a:xfrm>
            <a:off x="502920" y="1810512"/>
            <a:ext cx="11183112" cy="0"/>
          </a:xfrm>
          <a:prstGeom prst="line">
            <a:avLst/>
          </a:prstGeom>
          <a:ln w="13970">
            <a:solidFill>
              <a:srgbClr val="CFADF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6419088"/>
            <a:ext cx="11183112" cy="0"/>
          </a:xfrm>
          <a:prstGeom prst="line">
            <a:avLst/>
          </a:prstGeom>
          <a:ln w="12700">
            <a:solidFill>
              <a:srgbClr val="49345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21207" y="6528816"/>
            <a:ext cx="10012680" cy="187960"/>
          </a:xfrm>
          <a:prstGeom prst="rect">
            <a:avLst/>
          </a:prstGeom>
          <a:noFill/>
        </p:spPr>
        <p:txBody>
          <a:bodyPr wrap="none" lIns="0" rIns="0" tIns="0" bIns="0">
            <a:spAutoFit/>
          </a:bodyPr>
          <a:lstStyle/>
          <a:p>
            <a:pPr>
              <a:lnSpc>
                <a:spcPts val="976"/>
              </a:lnSpc>
              <a:spcBef>
                <a:spcPts val="0"/>
              </a:spcBef>
              <a:spcAft>
                <a:spcPts val="0"/>
              </a:spcAft>
              <a:defRPr sz="800" b="0">
                <a:solidFill>
                  <a:srgbClr val="BAA9CB"/>
                </a:solidFill>
                <a:latin typeface="IBM Plex Mono"/>
              </a:defRPr>
            </a:pPr>
            <a:r>
              <a:t>BRAND ASSETS / white vector wordmark + transparent PNG + IBM Plex fonts (OFL)</a:t>
            </a:r>
          </a:p>
        </p:txBody>
      </p:sp>
      <p:sp>
        <p:nvSpPr>
          <p:cNvPr id="9" name="TextBox 8"/>
          <p:cNvSpPr txBox="1"/>
          <p:nvPr/>
        </p:nvSpPr>
        <p:spPr>
          <a:xfrm>
            <a:off x="10671048" y="6519672"/>
            <a:ext cx="1005840" cy="203454"/>
          </a:xfrm>
          <a:prstGeom prst="rect">
            <a:avLst/>
          </a:prstGeom>
          <a:noFill/>
        </p:spPr>
        <p:txBody>
          <a:bodyPr wrap="none" lIns="0" rIns="0" tIns="0" bIns="0">
            <a:spAutoFit/>
          </a:bodyPr>
          <a:lstStyle/>
          <a:p>
            <a:pPr>
              <a:lnSpc>
                <a:spcPts val="1098"/>
              </a:lnSpc>
              <a:spcBef>
                <a:spcPts val="0"/>
              </a:spcBef>
              <a:spcAft>
                <a:spcPts val="0"/>
              </a:spcAft>
              <a:defRPr sz="900" b="0">
                <a:solidFill>
                  <a:srgbClr val="CFADF0"/>
                </a:solidFill>
                <a:latin typeface="IBM Plex Mono"/>
              </a:defRPr>
            </a:pPr>
            <a:r>
              <a:t>UBE / 18</a:t>
            </a:r>
          </a:p>
        </p:txBody>
      </p:sp>
      <p:sp>
        <p:nvSpPr>
          <p:cNvPr id="10" name="Rectangle 9"/>
          <p:cNvSpPr/>
          <p:nvPr/>
        </p:nvSpPr>
        <p:spPr>
          <a:xfrm>
            <a:off x="502920" y="2057400"/>
            <a:ext cx="4590288" cy="3429000"/>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6" y="2852928"/>
            <a:ext cx="3794760" cy="1117600"/>
          </a:xfrm>
          <a:prstGeom prst="rect">
            <a:avLst/>
          </a:prstGeom>
          <a:noFill/>
        </p:spPr>
        <p:txBody>
          <a:bodyPr wrap="none" lIns="0" rIns="0" tIns="0" bIns="0">
            <a:spAutoFit/>
          </a:bodyPr>
          <a:lstStyle/>
          <a:p>
            <a:pPr>
              <a:lnSpc>
                <a:spcPts val="8296"/>
              </a:lnSpc>
              <a:spcBef>
                <a:spcPts val="0"/>
              </a:spcBef>
              <a:spcAft>
                <a:spcPts val="0"/>
              </a:spcAft>
              <a:defRPr sz="6800" b="1">
                <a:solidFill>
                  <a:srgbClr val="FFFFFF"/>
                </a:solidFill>
                <a:latin typeface="IBM Plex Sans"/>
              </a:defRPr>
            </a:pPr>
            <a:r>
              <a:t>ubeconn</a:t>
            </a:r>
          </a:p>
        </p:txBody>
      </p:sp>
      <p:sp>
        <p:nvSpPr>
          <p:cNvPr id="12" name="TextBox 11"/>
          <p:cNvSpPr txBox="1"/>
          <p:nvPr/>
        </p:nvSpPr>
        <p:spPr>
          <a:xfrm>
            <a:off x="932688" y="4343400"/>
            <a:ext cx="3813048" cy="234442"/>
          </a:xfrm>
          <a:prstGeom prst="rect">
            <a:avLst/>
          </a:prstGeom>
          <a:noFill/>
        </p:spPr>
        <p:txBody>
          <a:bodyPr wrap="none" lIns="0" rIns="0" tIns="0" bIns="0">
            <a:spAutoFit/>
          </a:bodyPr>
          <a:lstStyle/>
          <a:p>
            <a:pPr>
              <a:lnSpc>
                <a:spcPts val="1342"/>
              </a:lnSpc>
              <a:spcBef>
                <a:spcPts val="0"/>
              </a:spcBef>
              <a:spcAft>
                <a:spcPts val="0"/>
              </a:spcAft>
              <a:defRPr sz="1100" b="0">
                <a:solidFill>
                  <a:srgbClr val="CFADF0"/>
                </a:solidFill>
                <a:latin typeface="IBM Plex Mono"/>
              </a:defRPr>
            </a:pPr>
            <a:r>
              <a:t>PLAIN WHITE WORDMARK</a:t>
            </a:r>
          </a:p>
        </p:txBody>
      </p:sp>
      <p:sp>
        <p:nvSpPr>
          <p:cNvPr id="13" name="Rectangle 12"/>
          <p:cNvSpPr/>
          <p:nvPr/>
        </p:nvSpPr>
        <p:spPr>
          <a:xfrm>
            <a:off x="5431536" y="2057400"/>
            <a:ext cx="1417320" cy="1252728"/>
          </a:xfrm>
          <a:prstGeom prst="rect">
            <a:avLst/>
          </a:prstGeom>
          <a:solidFill>
            <a:srgbClr val="1D14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31536" y="3520440"/>
            <a:ext cx="1435608" cy="296418"/>
          </a:xfrm>
          <a:prstGeom prst="rect">
            <a:avLst/>
          </a:prstGeom>
          <a:noFill/>
        </p:spPr>
        <p:txBody>
          <a:bodyPr wrap="none" lIns="0" rIns="0" tIns="0" bIns="0">
            <a:spAutoFit/>
          </a:bodyPr>
          <a:lstStyle/>
          <a:p>
            <a:pPr>
              <a:lnSpc>
                <a:spcPts val="1830"/>
              </a:lnSpc>
              <a:spcBef>
                <a:spcPts val="0"/>
              </a:spcBef>
              <a:spcAft>
                <a:spcPts val="0"/>
              </a:spcAft>
              <a:defRPr sz="1500" b="1">
                <a:solidFill>
                  <a:srgbClr val="F6F0FC"/>
                </a:solidFill>
                <a:latin typeface="IBM Plex Sans"/>
              </a:defRPr>
            </a:pPr>
            <a:r>
              <a:t>Deep plum</a:t>
            </a:r>
          </a:p>
        </p:txBody>
      </p:sp>
      <p:sp>
        <p:nvSpPr>
          <p:cNvPr id="15" name="TextBox 14"/>
          <p:cNvSpPr txBox="1"/>
          <p:nvPr/>
        </p:nvSpPr>
        <p:spPr>
          <a:xfrm>
            <a:off x="5431536" y="3867912"/>
            <a:ext cx="1435608"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#1D1429</a:t>
            </a:r>
          </a:p>
        </p:txBody>
      </p:sp>
      <p:sp>
        <p:nvSpPr>
          <p:cNvPr id="16" name="Rectangle 15"/>
          <p:cNvSpPr/>
          <p:nvPr/>
        </p:nvSpPr>
        <p:spPr>
          <a:xfrm>
            <a:off x="7004304" y="2057400"/>
            <a:ext cx="1417320" cy="1252728"/>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04304" y="3520440"/>
            <a:ext cx="1435608" cy="296418"/>
          </a:xfrm>
          <a:prstGeom prst="rect">
            <a:avLst/>
          </a:prstGeom>
          <a:noFill/>
        </p:spPr>
        <p:txBody>
          <a:bodyPr wrap="none" lIns="0" rIns="0" tIns="0" bIns="0">
            <a:spAutoFit/>
          </a:bodyPr>
          <a:lstStyle/>
          <a:p>
            <a:pPr>
              <a:lnSpc>
                <a:spcPts val="1830"/>
              </a:lnSpc>
              <a:spcBef>
                <a:spcPts val="0"/>
              </a:spcBef>
              <a:spcAft>
                <a:spcPts val="0"/>
              </a:spcAft>
              <a:defRPr sz="1500" b="1">
                <a:solidFill>
                  <a:srgbClr val="F6F0FC"/>
                </a:solidFill>
                <a:latin typeface="IBM Plex Sans"/>
              </a:defRPr>
            </a:pPr>
            <a:r>
              <a:t>Ube</a:t>
            </a:r>
          </a:p>
        </p:txBody>
      </p:sp>
      <p:sp>
        <p:nvSpPr>
          <p:cNvPr id="18" name="TextBox 17"/>
          <p:cNvSpPr txBox="1"/>
          <p:nvPr/>
        </p:nvSpPr>
        <p:spPr>
          <a:xfrm>
            <a:off x="7004304" y="3867912"/>
            <a:ext cx="1435608"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#9D6BD0</a:t>
            </a:r>
          </a:p>
        </p:txBody>
      </p:sp>
      <p:sp>
        <p:nvSpPr>
          <p:cNvPr id="19" name="Rectangle 18"/>
          <p:cNvSpPr/>
          <p:nvPr/>
        </p:nvSpPr>
        <p:spPr>
          <a:xfrm>
            <a:off x="8577072" y="2057400"/>
            <a:ext cx="1417320" cy="1252728"/>
          </a:xfrm>
          <a:prstGeom prst="rect">
            <a:avLst/>
          </a:prstGeom>
          <a:solidFill>
            <a:srgbClr val="CFAD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7072" y="3520440"/>
            <a:ext cx="1435608" cy="296418"/>
          </a:xfrm>
          <a:prstGeom prst="rect">
            <a:avLst/>
          </a:prstGeom>
          <a:noFill/>
        </p:spPr>
        <p:txBody>
          <a:bodyPr wrap="none" lIns="0" rIns="0" tIns="0" bIns="0">
            <a:spAutoFit/>
          </a:bodyPr>
          <a:lstStyle/>
          <a:p>
            <a:pPr>
              <a:lnSpc>
                <a:spcPts val="1830"/>
              </a:lnSpc>
              <a:spcBef>
                <a:spcPts val="0"/>
              </a:spcBef>
              <a:spcAft>
                <a:spcPts val="0"/>
              </a:spcAft>
              <a:defRPr sz="1500" b="1">
                <a:solidFill>
                  <a:srgbClr val="F6F0FC"/>
                </a:solidFill>
                <a:latin typeface="IBM Plex Sans"/>
              </a:defRPr>
            </a:pPr>
            <a:r>
              <a:t>Lavender</a:t>
            </a:r>
          </a:p>
        </p:txBody>
      </p:sp>
      <p:sp>
        <p:nvSpPr>
          <p:cNvPr id="21" name="TextBox 20"/>
          <p:cNvSpPr txBox="1"/>
          <p:nvPr/>
        </p:nvSpPr>
        <p:spPr>
          <a:xfrm>
            <a:off x="8577072" y="3867912"/>
            <a:ext cx="1435608"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#CFADF0</a:t>
            </a:r>
          </a:p>
        </p:txBody>
      </p:sp>
      <p:sp>
        <p:nvSpPr>
          <p:cNvPr id="22" name="Rectangle 21"/>
          <p:cNvSpPr/>
          <p:nvPr/>
        </p:nvSpPr>
        <p:spPr>
          <a:xfrm>
            <a:off x="10149840" y="2057400"/>
            <a:ext cx="1417320" cy="1252728"/>
          </a:xfrm>
          <a:prstGeom prst="rect">
            <a:avLst/>
          </a:prstGeom>
          <a:solidFill>
            <a:srgbClr val="F6F0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149840" y="3520440"/>
            <a:ext cx="1435608" cy="296418"/>
          </a:xfrm>
          <a:prstGeom prst="rect">
            <a:avLst/>
          </a:prstGeom>
          <a:noFill/>
        </p:spPr>
        <p:txBody>
          <a:bodyPr wrap="none" lIns="0" rIns="0" tIns="0" bIns="0">
            <a:spAutoFit/>
          </a:bodyPr>
          <a:lstStyle/>
          <a:p>
            <a:pPr>
              <a:lnSpc>
                <a:spcPts val="1830"/>
              </a:lnSpc>
              <a:spcBef>
                <a:spcPts val="0"/>
              </a:spcBef>
              <a:spcAft>
                <a:spcPts val="0"/>
              </a:spcAft>
              <a:defRPr sz="1500" b="1">
                <a:solidFill>
                  <a:srgbClr val="F6F0FC"/>
                </a:solidFill>
                <a:latin typeface="IBM Plex Sans"/>
              </a:defRPr>
            </a:pPr>
            <a:r>
              <a:t>Soft white</a:t>
            </a:r>
          </a:p>
        </p:txBody>
      </p:sp>
      <p:sp>
        <p:nvSpPr>
          <p:cNvPr id="24" name="TextBox 23"/>
          <p:cNvSpPr txBox="1"/>
          <p:nvPr/>
        </p:nvSpPr>
        <p:spPr>
          <a:xfrm>
            <a:off x="10149840" y="3867912"/>
            <a:ext cx="1435608" cy="218948"/>
          </a:xfrm>
          <a:prstGeom prst="rect">
            <a:avLst/>
          </a:prstGeom>
          <a:noFill/>
        </p:spPr>
        <p:txBody>
          <a:bodyPr wrap="none" lIns="0" rIns="0" tIns="0" bIns="0">
            <a:spAutoFit/>
          </a:bodyPr>
          <a:lstStyle/>
          <a:p>
            <a:pPr>
              <a:lnSpc>
                <a:spcPts val="1220"/>
              </a:lnSpc>
              <a:spcBef>
                <a:spcPts val="0"/>
              </a:spcBef>
              <a:spcAft>
                <a:spcPts val="0"/>
              </a:spcAft>
              <a:defRPr sz="1000" b="0">
                <a:solidFill>
                  <a:srgbClr val="BAA9CB"/>
                </a:solidFill>
                <a:latin typeface="IBM Plex Mono"/>
              </a:defRPr>
            </a:pPr>
            <a:r>
              <a:t>#F6F0FC</a:t>
            </a:r>
          </a:p>
        </p:txBody>
      </p:sp>
      <p:sp>
        <p:nvSpPr>
          <p:cNvPr id="25" name="TextBox 24"/>
          <p:cNvSpPr txBox="1"/>
          <p:nvPr/>
        </p:nvSpPr>
        <p:spPr>
          <a:xfrm>
            <a:off x="5431536" y="4498848"/>
            <a:ext cx="6108192" cy="482346"/>
          </a:xfrm>
          <a:prstGeom prst="rect">
            <a:avLst/>
          </a:prstGeom>
          <a:noFill/>
        </p:spPr>
        <p:txBody>
          <a:bodyPr wrap="none" lIns="0" rIns="0" tIns="0" bIns="0">
            <a:spAutoFit/>
          </a:bodyPr>
          <a:lstStyle/>
          <a:p>
            <a:pPr>
              <a:lnSpc>
                <a:spcPts val="3294"/>
              </a:lnSpc>
              <a:spcBef>
                <a:spcPts val="0"/>
              </a:spcBef>
              <a:spcAft>
                <a:spcPts val="0"/>
              </a:spcAft>
              <a:defRPr sz="2700" b="1">
                <a:solidFill>
                  <a:srgbClr val="F6F0FC"/>
                </a:solidFill>
                <a:latin typeface="IBM Plex Sans Condensed"/>
              </a:defRPr>
            </a:pPr>
            <a:r>
              <a:t>IBM Plex Sans Condensed</a:t>
            </a:r>
          </a:p>
        </p:txBody>
      </p:sp>
      <p:sp>
        <p:nvSpPr>
          <p:cNvPr id="26" name="TextBox 25"/>
          <p:cNvSpPr txBox="1"/>
          <p:nvPr/>
        </p:nvSpPr>
        <p:spPr>
          <a:xfrm>
            <a:off x="5449824" y="5093208"/>
            <a:ext cx="6126480" cy="280923"/>
          </a:xfrm>
          <a:prstGeom prst="rect">
            <a:avLst/>
          </a:prstGeom>
          <a:noFill/>
        </p:spPr>
        <p:txBody>
          <a:bodyPr wrap="none" lIns="0" rIns="0" tIns="0" bIns="0">
            <a:spAutoFit/>
          </a:bodyPr>
          <a:lstStyle/>
          <a:p>
            <a:pPr>
              <a:lnSpc>
                <a:spcPts val="1707"/>
              </a:lnSpc>
              <a:spcBef>
                <a:spcPts val="0"/>
              </a:spcBef>
              <a:spcAft>
                <a:spcPts val="0"/>
              </a:spcAft>
              <a:defRPr sz="1400" b="0">
                <a:solidFill>
                  <a:srgbClr val="BAA9CB"/>
                </a:solidFill>
                <a:latin typeface="IBM Plex Sans"/>
              </a:defRPr>
            </a:pPr>
            <a:r>
              <a:t>IBM Plex Sans / Body IBM Plex Mono / Labels</a:t>
            </a:r>
          </a:p>
        </p:txBody>
      </p:sp>
      <p:sp>
        <p:nvSpPr>
          <p:cNvPr id="27" name="Rectangle 26"/>
          <p:cNvSpPr/>
          <p:nvPr/>
        </p:nvSpPr>
        <p:spPr>
          <a:xfrm>
            <a:off x="502920" y="5907024"/>
            <a:ext cx="11183112" cy="356616"/>
          </a:xfrm>
          <a:prstGeom prst="rect">
            <a:avLst/>
          </a:prstGeom>
          <a:solidFill>
            <a:srgbClr val="2B1E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5907024"/>
            <a:ext cx="32004" cy="356616"/>
          </a:xfrm>
          <a:prstGeom prst="rect">
            <a:avLst/>
          </a:prstGeom>
          <a:solidFill>
            <a:srgbClr val="9D6B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961888"/>
            <a:ext cx="10863072" cy="265429"/>
          </a:xfrm>
          <a:prstGeom prst="rect">
            <a:avLst/>
          </a:prstGeom>
          <a:noFill/>
        </p:spPr>
        <p:txBody>
          <a:bodyPr wrap="none" lIns="0" rIns="0" tIns="0" bIns="0">
            <a:spAutoFit/>
          </a:bodyPr>
          <a:lstStyle/>
          <a:p>
            <a:pPr>
              <a:lnSpc>
                <a:spcPts val="1586"/>
              </a:lnSpc>
              <a:spcBef>
                <a:spcPts val="0"/>
              </a:spcBef>
              <a:spcAft>
                <a:spcPts val="0"/>
              </a:spcAft>
              <a:defRPr sz="1300" b="1">
                <a:solidFill>
                  <a:srgbClr val="CFADF0"/>
                </a:solidFill>
                <a:latin typeface="IBM Plex Sans"/>
              </a:defRPr>
            </a:pPr>
            <a:r>
              <a:t>Dark backgrounds, generous spacing, restrained colour and clear evidence labels.</a:t>
            </a:r>
          </a:p>
        </p:txBody>
      </p:sp>
    </p:spTree>
  </p:cSld>
  <p:clrMapOvr>
    <a:masterClrMapping/>
  </p:clrMapOvr>
</p:sld>
</file>

<file path=ppt/theme/theme1.xml><?xml version="1.0" encoding="utf-8"?>
<a:theme xmlns:a="http://schemas.openxmlformats.org/drawingml/2006/main" name="Office Theme">
  <a:themeElements>
    <a:clrScheme name="Ubeconn">
      <a:dk1>
        <a:srgbClr val="1D1429"/>
      </a:dk1>
      <a:lt1>
        <a:srgbClr val="F6F0FC"/>
      </a:lt1>
      <a:dk2>
        <a:srgbClr val="2B1E3A"/>
      </a:dk2>
      <a:lt2>
        <a:srgbClr val="FFFFFF"/>
      </a:lt2>
      <a:accent1>
        <a:srgbClr val="9D6BD0"/>
      </a:accent1>
      <a:accent2>
        <a:srgbClr val="CFADF0"/>
      </a:accent2>
      <a:accent3>
        <a:srgbClr val="DFAFD2"/>
      </a:accent3>
      <a:accent4>
        <a:srgbClr val="BAA9CB"/>
      </a:accent4>
      <a:accent5>
        <a:srgbClr val="735096"/>
      </a:accent5>
      <a:accent6>
        <a:srgbClr val="493458"/>
      </a:accent6>
      <a:hlink>
        <a:srgbClr val="CFADF0"/>
      </a:hlink>
      <a:folHlink>
        <a:srgbClr val="DFAFD2"/>
      </a:folHlink>
    </a:clrScheme>
    <a:fontScheme name="Office">
      <a:majorFont>
        <a:latin typeface="IBM Plex Sans Condense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Ubeconn AS | Cable intelligence — executive project review</dc:title>
  <dc:subject>Project progress, technical evidence and proposed validation roadmap</dc:subject>
  <dc:creator>Ubeconn AS</dc:creator>
  <cp:keywords>Ubeconn, DAS, cable monitoring, executive review, September 2026</cp:keywords>
  <dc:description>Editable slide content. Source details and caveats are in speaker notes.</dc:description>
  <cp:lastModifiedBy>Steve Canny</cp:lastModifiedBy>
  <cp:revision>1</cp:revision>
  <dcterms:created xsi:type="dcterms:W3CDTF">2013-01-27T09:14:16Z</dcterms:created>
  <dcterms:modified xsi:type="dcterms:W3CDTF">2013-01-27T09:15:58Z</dcterms:modified>
  <cp:category/>
</cp:coreProperties>
</file>